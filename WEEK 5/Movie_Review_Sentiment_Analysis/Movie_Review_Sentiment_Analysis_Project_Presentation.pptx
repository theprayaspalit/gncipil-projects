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8b49af2fe444a0" /><Relationship Type="http://schemas.openxmlformats.org/officeDocument/2006/relationships/extended-properties" Target="/docProps/app.xml" Id="R2f442d01f06a46a9" /><Relationship Type="http://schemas.openxmlformats.org/officeDocument/2006/relationships/officeDocument" Target="/ppt/presentation.xml" Id="Rb533b7f0bbbb46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6b06ca7bc44f04"/>
  </p:sldMasterIdLst>
  <p:notesMasterIdLst>
    <p:notesMasterId xmlns:r="http://schemas.openxmlformats.org/officeDocument/2006/relationships" r:id="R379771d6534d438f"/>
  </p:notesMasterIdLst>
  <p:sldIdLst>
    <p:sldId xmlns:r="http://schemas.openxmlformats.org/officeDocument/2006/relationships" id="256" r:id="R0bb9b9a14fe94585"/>
    <p:sldId xmlns:r="http://schemas.openxmlformats.org/officeDocument/2006/relationships" id="257" r:id="R714979a1a90e4fa8"/>
    <p:sldId xmlns:r="http://schemas.openxmlformats.org/officeDocument/2006/relationships" id="258" r:id="R85cee0020a2945a5"/>
    <p:sldId xmlns:r="http://schemas.openxmlformats.org/officeDocument/2006/relationships" id="259" r:id="Rf30cabb539da45b1"/>
    <p:sldId xmlns:r="http://schemas.openxmlformats.org/officeDocument/2006/relationships" id="260" r:id="R8d93643b9c2c4423"/>
    <p:sldId xmlns:r="http://schemas.openxmlformats.org/officeDocument/2006/relationships" id="261" r:id="Re98bb889f62f42c2"/>
    <p:sldId xmlns:r="http://schemas.openxmlformats.org/officeDocument/2006/relationships" id="262" r:id="R299f64bf64d249b9"/>
    <p:sldId xmlns:r="http://schemas.openxmlformats.org/officeDocument/2006/relationships" id="263" r:id="R80dd8e2a8212483a"/>
    <p:sldId xmlns:r="http://schemas.openxmlformats.org/officeDocument/2006/relationships" id="264" r:id="Re2274a8210d04e05"/>
    <p:sldId xmlns:r="http://schemas.openxmlformats.org/officeDocument/2006/relationships" id="265" r:id="Ra27184d7dc234ac5"/>
    <p:sldId xmlns:r="http://schemas.openxmlformats.org/officeDocument/2006/relationships" id="266" r:id="R6b446ac765cb40a4"/>
    <p:sldId xmlns:r="http://schemas.openxmlformats.org/officeDocument/2006/relationships" id="267" r:id="R32870256b21e46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fec34ed05a4626" /><Relationship Type="http://schemas.openxmlformats.org/officeDocument/2006/relationships/slideMaster" Target="/ppt/slideMasters/slideMaster1.xml" Id="R8e6b06ca7bc44f04" /><Relationship Type="http://schemas.openxmlformats.org/officeDocument/2006/relationships/notesMaster" Target="/ppt/notesMasters/notesMaster1.xml" Id="R379771d6534d438f" /><Relationship Type="http://schemas.openxmlformats.org/officeDocument/2006/relationships/presProps" Target="/ppt/presProps.xml" Id="R8c89e66051614fa5" /><Relationship Type="http://schemas.openxmlformats.org/officeDocument/2006/relationships/tableStyles" Target="/ppt/tableStyles.xml" Id="Ra8cfee8d86674fd5" /><Relationship Type="http://schemas.openxmlformats.org/officeDocument/2006/relationships/slide" Target="/ppt/slides/slide1.xml" Id="R0bb9b9a14fe94585" /><Relationship Type="http://schemas.openxmlformats.org/officeDocument/2006/relationships/slide" Target="/ppt/slides/slide2.xml" Id="R714979a1a90e4fa8" /><Relationship Type="http://schemas.openxmlformats.org/officeDocument/2006/relationships/slide" Target="/ppt/slides/slide3.xml" Id="R85cee0020a2945a5" /><Relationship Type="http://schemas.openxmlformats.org/officeDocument/2006/relationships/slide" Target="/ppt/slides/slide4.xml" Id="Rf30cabb539da45b1" /><Relationship Type="http://schemas.openxmlformats.org/officeDocument/2006/relationships/slide" Target="/ppt/slides/slide5.xml" Id="R8d93643b9c2c4423" /><Relationship Type="http://schemas.openxmlformats.org/officeDocument/2006/relationships/slide" Target="/ppt/slides/slide6.xml" Id="Re98bb889f62f42c2" /><Relationship Type="http://schemas.openxmlformats.org/officeDocument/2006/relationships/slide" Target="/ppt/slides/slide7.xml" Id="R299f64bf64d249b9" /><Relationship Type="http://schemas.openxmlformats.org/officeDocument/2006/relationships/slide" Target="/ppt/slides/slide8.xml" Id="R80dd8e2a8212483a" /><Relationship Type="http://schemas.openxmlformats.org/officeDocument/2006/relationships/slide" Target="/ppt/slides/slide9.xml" Id="Re2274a8210d04e05" /><Relationship Type="http://schemas.openxmlformats.org/officeDocument/2006/relationships/slide" Target="/ppt/slides/slide10.xml" Id="Ra27184d7dc234ac5" /><Relationship Type="http://schemas.openxmlformats.org/officeDocument/2006/relationships/slide" Target="/ppt/slides/slide11.xml" Id="R6b446ac765cb40a4" /><Relationship Type="http://schemas.openxmlformats.org/officeDocument/2006/relationships/slide" Target="/ppt/slides/slide12.xml" Id="R32870256b21e46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f1aca71a9745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35a8a77431427c" /><Relationship Type="http://schemas.openxmlformats.org/officeDocument/2006/relationships/notesMaster" Target="/ppt/notesMasters/notesMaster1.xml" Id="R781884c99b9e44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830636a52041c8" /><Relationship Type="http://schemas.openxmlformats.org/officeDocument/2006/relationships/notesMaster" Target="/ppt/notesMasters/notesMaster1.xml" Id="R3128cfb3b7f246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37e7ae026a42ab" /><Relationship Type="http://schemas.openxmlformats.org/officeDocument/2006/relationships/notesMaster" Target="/ppt/notesMasters/notesMaster1.xml" Id="R8a9937a29ef24e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47a9805f424dca" /><Relationship Type="http://schemas.openxmlformats.org/officeDocument/2006/relationships/notesMaster" Target="/ppt/notesMasters/notesMaster1.xml" Id="R1854140c47cb4d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1ed829b61f4d94" /><Relationship Type="http://schemas.openxmlformats.org/officeDocument/2006/relationships/notesMaster" Target="/ppt/notesMasters/notesMaster1.xml" Id="R3be85f4c72d242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039be82614409d" /><Relationship Type="http://schemas.openxmlformats.org/officeDocument/2006/relationships/notesMaster" Target="/ppt/notesMasters/notesMaster1.xml" Id="R659d65dbe8f444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fd76cda7a74f42" /><Relationship Type="http://schemas.openxmlformats.org/officeDocument/2006/relationships/notesMaster" Target="/ppt/notesMasters/notesMaster1.xml" Id="Rc49ea75603e74b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4af8809e1646f0" /><Relationship Type="http://schemas.openxmlformats.org/officeDocument/2006/relationships/notesMaster" Target="/ppt/notesMasters/notesMaster1.xml" Id="Rcea7322c704f4b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300d4bd703453d" /><Relationship Type="http://schemas.openxmlformats.org/officeDocument/2006/relationships/notesMaster" Target="/ppt/notesMasters/notesMaster1.xml" Id="Re72eefccf7f749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e0136e405d4e4e" /><Relationship Type="http://schemas.openxmlformats.org/officeDocument/2006/relationships/notesMaster" Target="/ppt/notesMasters/notesMaster1.xml" Id="R96a005e4e5b145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886c6648754958" /><Relationship Type="http://schemas.openxmlformats.org/officeDocument/2006/relationships/notesMaster" Target="/ppt/notesMasters/notesMaster1.xml" Id="R196a0a41be594d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d0317202f74ab8" /><Relationship Type="http://schemas.openxmlformats.org/officeDocument/2006/relationships/notesMaster" Target="/ppt/notesMasters/notesMaster1.xml" Id="Re1cca38c2b9542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26311770647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26778eda84941" /><Relationship Type="http://schemas.openxmlformats.org/officeDocument/2006/relationships/slideLayout" Target="/ppt/slideLayouts/slideLayout1.xml" Id="R9543873926434b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43873926434b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ea66ed41b4ada" /><Relationship Type="http://schemas.openxmlformats.org/officeDocument/2006/relationships/notesSlide" Target="/ppt/notesSlides/notesSlide1.xml" Id="Ra355e0f08fe745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555379ba64d19" /><Relationship Type="http://schemas.openxmlformats.org/officeDocument/2006/relationships/notesSlide" Target="/ppt/notesSlides/notesSlide2.xml" Id="R8ba257727ce6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3faeb81364503" /><Relationship Type="http://schemas.openxmlformats.org/officeDocument/2006/relationships/image" Target="/ppt/media/image.png" Id="R3e0bcf031536439c" /><Relationship Type="http://schemas.openxmlformats.org/officeDocument/2006/relationships/notesSlide" Target="/ppt/notesSlides/notesSlide3.xml" Id="R5d56c42bced84d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a06d541dd4245" /><Relationship Type="http://schemas.openxmlformats.org/officeDocument/2006/relationships/image" Target="/ppt/media/image2.png" Id="R6dc51b37a7204fb3" /><Relationship Type="http://schemas.openxmlformats.org/officeDocument/2006/relationships/image" Target="/ppt/media/image3.png" Id="R56c09587bf2e4002" /><Relationship Type="http://schemas.openxmlformats.org/officeDocument/2006/relationships/notesSlide" Target="/ppt/notesSlides/notesSlide4.xml" Id="Re384eb9ccf5540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19881e7b947a3" /><Relationship Type="http://schemas.openxmlformats.org/officeDocument/2006/relationships/image" Target="/ppt/media/image4.png" Id="R02d66774230d40c0" /><Relationship Type="http://schemas.openxmlformats.org/officeDocument/2006/relationships/notesSlide" Target="/ppt/notesSlides/notesSlide5.xml" Id="R831f2211288f4a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b94854e344182" /><Relationship Type="http://schemas.openxmlformats.org/officeDocument/2006/relationships/notesSlide" Target="/ppt/notesSlides/notesSlide6.xml" Id="Rc37c639b18fc4d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83e0cff3c4b89" /><Relationship Type="http://schemas.openxmlformats.org/officeDocument/2006/relationships/notesSlide" Target="/ppt/notesSlides/notesSlide7.xml" Id="R5210431865ff49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398b78514444f" /><Relationship Type="http://schemas.openxmlformats.org/officeDocument/2006/relationships/image" Target="/ppt/media/image5.png" Id="R11fcaa65ee9b41d0" /><Relationship Type="http://schemas.openxmlformats.org/officeDocument/2006/relationships/notesSlide" Target="/ppt/notesSlides/notesSlide8.xml" Id="R4212182458954b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a71d931b84075" /><Relationship Type="http://schemas.openxmlformats.org/officeDocument/2006/relationships/image" Target="/ppt/media/image6.png" Id="R7696f7f4a67a43dd" /><Relationship Type="http://schemas.openxmlformats.org/officeDocument/2006/relationships/image" Target="/ppt/media/image7.png" Id="R5a180a8c8fbd4735" /><Relationship Type="http://schemas.openxmlformats.org/officeDocument/2006/relationships/notesSlide" Target="/ppt/notesSlides/notesSlide9.xml" Id="Rc5cc91f5363444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abf00707e4334" /><Relationship Type="http://schemas.openxmlformats.org/officeDocument/2006/relationships/image" Target="/ppt/media/image8.png" Id="R69a3dacedbf84ac7" /><Relationship Type="http://schemas.openxmlformats.org/officeDocument/2006/relationships/image" Target="/ppt/media/image9.png" Id="R70c66a6dc32e4296" /><Relationship Type="http://schemas.openxmlformats.org/officeDocument/2006/relationships/notesSlide" Target="/ppt/notesSlides/notesSlide10.xml" Id="R4c90db0661ec41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5a40049d94363" /><Relationship Type="http://schemas.openxmlformats.org/officeDocument/2006/relationships/notesSlide" Target="/ppt/notesSlides/notesSlide11.xml" Id="R4fe3779dc3084b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a996c71b94557" /><Relationship Type="http://schemas.openxmlformats.org/officeDocument/2006/relationships/notesSlide" Target="/ppt/notesSlides/notesSlide12.xml" Id="R21232eaa7d464f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FBA6BB6-BB7E-4B05-9C4B-AAC0C520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5D2A"/>
                </a:solidFill>
              </a:defRPr>
            </a:pPr>
            <a:r>
              <a:rPr sz="1050" b="1">
                <a:solidFill>
                  <a:srgbClr val="E85D2A"/>
                </a:solidFill>
              </a:rPr>
              <a:t>WEEK 5 NEURAL NETWORK PROJECT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BD0BC1A-CA29-462D-BA9D-4BFED186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B1B1B"/>
                </a:solidFill>
              </a:defRPr>
            </a:pPr>
            <a:r>
              <a:rPr sz="4200" b="1">
                <a:solidFill>
                  <a:srgbClr val="1B1B1B"/>
                </a:solidFill>
              </a:rPr>
              <a:t>Movie Review Sentiment Analysis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C6CF999-E28B-4351-8422-21D377DE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635F"/>
                </a:solidFill>
              </a:defRPr>
            </a:pPr>
            <a:r>
              <a:rPr sz="1650">
                <a:solidFill>
                  <a:srgbClr val="5D635F"/>
                </a:solidFill>
              </a:rPr>
              <a:t>Classifying real IMDB movie reviews as positive or negative using text tokenization and an ANN in TensorFlow.</a:t>
            </a:r>
          </a:p>
        </p:txBody>
      </p:sp>
      <p:sp>
        <p:nvSpPr>
          <p:cNvPr id="4" name="cover-band">
            <a:extLst xmlns:a="http://schemas.openxmlformats.org/drawingml/2006/main">
              <a:ext uri="{FF2B5EF4-FFF2-40B4-BE49-F238E27FC236}">
                <a16:creationId xmlns:a16="http://schemas.microsoft.com/office/drawing/2014/main" id="{5209C42E-BEA4-45DF-80F1-5D3CD751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5875"/>
            <a:ext cx="12192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0">
            <a:solidFill>
              <a:srgbClr val="ECEDEA"/>
            </a:solidFill>
            <a:prstDash val="solid"/>
          </a:ln>
        </p:spPr>
      </p:sp>
      <p:sp>
        <p:nvSpPr>
          <p:cNvPr id="5" name="cover-topic-label">
            <a:extLst xmlns:a="http://schemas.openxmlformats.org/drawingml/2006/main">
              <a:ext uri="{FF2B5EF4-FFF2-40B4-BE49-F238E27FC236}">
                <a16:creationId xmlns:a16="http://schemas.microsoft.com/office/drawing/2014/main" id="{999C5446-8075-4BE3-A52F-B6B26C6F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35F"/>
                </a:solidFill>
              </a:defRPr>
            </a:pPr>
            <a:r>
              <a:rPr sz="1200">
                <a:solidFill>
                  <a:srgbClr val="5D635F"/>
                </a:solidFill>
              </a:rPr>
              <a:t>Project Topic</a:t>
            </a:r>
          </a:p>
        </p:txBody>
      </p:sp>
      <p:sp>
        <p:nvSpPr>
          <p:cNvPr id="6" name="cover-topic">
            <a:extLst xmlns:a="http://schemas.openxmlformats.org/drawingml/2006/main">
              <a:ext uri="{FF2B5EF4-FFF2-40B4-BE49-F238E27FC236}">
                <a16:creationId xmlns:a16="http://schemas.microsoft.com/office/drawing/2014/main" id="{B55EB1EB-1C53-4314-9A68-3DE4BE06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B1B1B"/>
                </a:solidFill>
              </a:defRPr>
            </a:pPr>
            <a:r>
              <a:rPr sz="1500" b="1">
                <a:solidFill>
                  <a:srgbClr val="1B1B1B"/>
                </a:solidFill>
              </a:rPr>
              <a:t>Movie Review Sentiment Analysis</a:t>
            </a:r>
          </a:p>
        </p:txBody>
      </p:sp>
      <p:sp>
        <p:nvSpPr>
          <p:cNvPr id="7" name="cover-data-label">
            <a:extLst xmlns:a="http://schemas.openxmlformats.org/drawingml/2006/main">
              <a:ext uri="{FF2B5EF4-FFF2-40B4-BE49-F238E27FC236}">
                <a16:creationId xmlns:a16="http://schemas.microsoft.com/office/drawing/2014/main" id="{705784DD-22C6-4D8C-B72B-C843A3B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35F"/>
                </a:solidFill>
              </a:defRPr>
            </a:pPr>
            <a:r>
              <a:rPr sz="1200">
                <a:solidFill>
                  <a:srgbClr val="5D635F"/>
                </a:solidFill>
              </a:rPr>
              <a:t>Dataset</a:t>
            </a:r>
          </a:p>
        </p:txBody>
      </p:sp>
      <p:sp>
        <p:nvSpPr>
          <p:cNvPr id="8" name="cover-data">
            <a:extLst xmlns:a="http://schemas.openxmlformats.org/drawingml/2006/main">
              <a:ext uri="{FF2B5EF4-FFF2-40B4-BE49-F238E27FC236}">
                <a16:creationId xmlns:a16="http://schemas.microsoft.com/office/drawing/2014/main" id="{F1436789-3B5D-48BD-8EC2-9A9DF454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10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B1B1B"/>
                </a:solidFill>
              </a:defRPr>
            </a:pPr>
            <a:r>
              <a:rPr sz="1500" b="1">
                <a:solidFill>
                  <a:srgbClr val="1B1B1B"/>
                </a:solidFill>
              </a:rPr>
              <a:t>Stanford ACL IMDB</a:t>
            </a:r>
          </a:p>
        </p:txBody>
      </p:sp>
      <p:sp>
        <p:nvSpPr>
          <p:cNvPr id="9" name="cover-tool-label">
            <a:extLst xmlns:a="http://schemas.openxmlformats.org/drawingml/2006/main">
              <a:ext uri="{FF2B5EF4-FFF2-40B4-BE49-F238E27FC236}">
                <a16:creationId xmlns:a16="http://schemas.microsoft.com/office/drawing/2014/main" id="{64F57215-E843-4A3E-A613-D919347F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35F"/>
                </a:solidFill>
              </a:defRPr>
            </a:pPr>
            <a:r>
              <a:rPr sz="1200">
                <a:solidFill>
                  <a:srgbClr val="5D635F"/>
                </a:solidFill>
              </a:rPr>
              <a:t>Tool</a:t>
            </a:r>
          </a:p>
        </p:txBody>
      </p:sp>
      <p:sp>
        <p:nvSpPr>
          <p:cNvPr id="10" name="cover-tool">
            <a:extLst xmlns:a="http://schemas.openxmlformats.org/drawingml/2006/main">
              <a:ext uri="{FF2B5EF4-FFF2-40B4-BE49-F238E27FC236}">
                <a16:creationId xmlns:a16="http://schemas.microsoft.com/office/drawing/2014/main" id="{3A1916D8-2D12-47E4-A266-BC96BEDD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10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B1B1B"/>
                </a:solidFill>
              </a:defRPr>
            </a:pPr>
            <a:r>
              <a:rPr sz="1500" b="1">
                <a:solidFill>
                  <a:srgbClr val="1B1B1B"/>
                </a:solidFill>
              </a:rPr>
              <a:t>TensorFlow/Keras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D5FA23D-016A-4878-A799-1A6756CE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A8F8B"/>
                </a:solidFill>
              </a:defRPr>
            </a:pPr>
            <a:r>
              <a:rPr sz="1050">
                <a:solidFill>
                  <a:srgbClr val="8A8F8B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68357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A98CAA6-366B-43F6-8B94-A499ABCD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5D2A"/>
                </a:solidFill>
              </a:defRPr>
            </a:pPr>
            <a:r>
              <a:rPr sz="1050" b="1">
                <a:solidFill>
                  <a:srgbClr val="E85D2A"/>
                </a:solidFill>
              </a:rPr>
              <a:t>MOVIE REVIEW SENTIMENT ANALYSIS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5E615A-6EAD-4DD9-A862-8E919D8C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1B1B"/>
                </a:solidFill>
              </a:defRPr>
            </a:pPr>
            <a:r>
              <a:rPr sz="3150" b="1">
                <a:solidFill>
                  <a:srgbClr val="1B1B1B"/>
                </a:solidFill>
              </a:rPr>
              <a:t>The project predicts sentiment from real review text.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F4E5F5E-4F7B-4221-941A-D3A4E352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4" name="objective">
            <a:extLst xmlns:a="http://schemas.openxmlformats.org/drawingml/2006/main">
              <a:ext uri="{FF2B5EF4-FFF2-40B4-BE49-F238E27FC236}">
                <a16:creationId xmlns:a16="http://schemas.microsoft.com/office/drawing/2014/main" id="{26A78AB2-7FCB-4BAB-B23F-AB01ADA5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Goal: train a beginner-friendly neural network that reads movie-review text and predicts whether the review is positive or negative.</a:t>
            </a:r>
          </a:p>
        </p:txBody>
      </p:sp>
      <p:sp>
        <p:nvSpPr>
          <p:cNvPr id="5" name="bullet-72-365">
            <a:extLst xmlns:a="http://schemas.openxmlformats.org/drawingml/2006/main">
              <a:ext uri="{FF2B5EF4-FFF2-40B4-BE49-F238E27FC236}">
                <a16:creationId xmlns:a16="http://schemas.microsoft.com/office/drawing/2014/main" id="{4FE4FB56-F080-42EA-86A2-02A83882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6" name="bullet-text-72-365">
            <a:extLst xmlns:a="http://schemas.openxmlformats.org/drawingml/2006/main">
              <a:ext uri="{FF2B5EF4-FFF2-40B4-BE49-F238E27FC236}">
                <a16:creationId xmlns:a16="http://schemas.microsoft.com/office/drawing/2014/main" id="{208A495B-7354-4FEE-848A-E3885FF5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Download and load real Stanford ACL IMDB reviews.</a:t>
            </a:r>
          </a:p>
        </p:txBody>
      </p:sp>
      <p:sp>
        <p:nvSpPr>
          <p:cNvPr id="7" name="bullet-72-420">
            <a:extLst xmlns:a="http://schemas.openxmlformats.org/drawingml/2006/main">
              <a:ext uri="{FF2B5EF4-FFF2-40B4-BE49-F238E27FC236}">
                <a16:creationId xmlns:a16="http://schemas.microsoft.com/office/drawing/2014/main" id="{180A64D1-302A-4ED8-BFCB-54953AAC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8" name="bullet-text-72-420">
            <a:extLst xmlns:a="http://schemas.openxmlformats.org/drawingml/2006/main">
              <a:ext uri="{FF2B5EF4-FFF2-40B4-BE49-F238E27FC236}">
                <a16:creationId xmlns:a16="http://schemas.microsoft.com/office/drawing/2014/main" id="{4CC126E8-EE19-43BD-A614-87F259FB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Clean the review text and convert words into tokens.</a:t>
            </a:r>
          </a:p>
        </p:txBody>
      </p:sp>
      <p:sp>
        <p:nvSpPr>
          <p:cNvPr id="9" name="bullet-72-475">
            <a:extLst xmlns:a="http://schemas.openxmlformats.org/drawingml/2006/main">
              <a:ext uri="{FF2B5EF4-FFF2-40B4-BE49-F238E27FC236}">
                <a16:creationId xmlns:a16="http://schemas.microsoft.com/office/drawing/2014/main" id="{B5E4417B-BEF9-482B-8B83-F377EB38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10" name="bullet-text-72-475">
            <a:extLst xmlns:a="http://schemas.openxmlformats.org/drawingml/2006/main">
              <a:ext uri="{FF2B5EF4-FFF2-40B4-BE49-F238E27FC236}">
                <a16:creationId xmlns:a16="http://schemas.microsoft.com/office/drawing/2014/main" id="{27051404-B24E-4C00-A29D-3D1D82D7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43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Train an ANN model and evaluate it on unseen test reviews.</a:t>
            </a:r>
          </a:p>
        </p:txBody>
      </p:sp>
      <p:sp>
        <p:nvSpPr>
          <p:cNvPr id="11" name="bullet-72-530">
            <a:extLst xmlns:a="http://schemas.openxmlformats.org/drawingml/2006/main">
              <a:ext uri="{FF2B5EF4-FFF2-40B4-BE49-F238E27FC236}">
                <a16:creationId xmlns:a16="http://schemas.microsoft.com/office/drawing/2014/main" id="{9DE2F5C0-FF75-4237-A009-CE073534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12" name="bullet-text-72-530">
            <a:extLst xmlns:a="http://schemas.openxmlformats.org/drawingml/2006/main">
              <a:ext uri="{FF2B5EF4-FFF2-40B4-BE49-F238E27FC236}">
                <a16:creationId xmlns:a16="http://schemas.microsoft.com/office/drawing/2014/main" id="{93B8C8B1-368C-468A-8A83-5240943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Use the trained model to predict sentiment for new reviews.</a:t>
            </a:r>
          </a:p>
        </p:txBody>
      </p:sp>
      <p:sp>
        <p:nvSpPr>
          <p:cNvPr id="13" name="metric-box-real reviews used">
            <a:extLst xmlns:a="http://schemas.openxmlformats.org/drawingml/2006/main">
              <a:ext uri="{FF2B5EF4-FFF2-40B4-BE49-F238E27FC236}">
                <a16:creationId xmlns:a16="http://schemas.microsoft.com/office/drawing/2014/main" id="{A8C84C98-EB09-465E-BD0A-3504877D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sp>
        <p:nvSpPr>
          <p:cNvPr id="14" name="metric-accent-real reviews used">
            <a:extLst xmlns:a="http://schemas.openxmlformats.org/drawingml/2006/main">
              <a:ext uri="{FF2B5EF4-FFF2-40B4-BE49-F238E27FC236}">
                <a16:creationId xmlns:a16="http://schemas.microsoft.com/office/drawing/2014/main" id="{AFA98D9C-D5E1-45CA-8672-4EC054B6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F92"/>
          </a:solidFill>
          <a:ln xmlns:a="http://schemas.openxmlformats.org/drawingml/2006/main" w="0">
            <a:solidFill>
              <a:srgbClr val="6BAF92"/>
            </a:solidFill>
            <a:prstDash val="solid"/>
          </a:ln>
        </p:spPr>
      </p:sp>
      <p:sp>
        <p:nvSpPr>
          <p:cNvPr id="15" name="metric-value-real reviews used">
            <a:extLst xmlns:a="http://schemas.openxmlformats.org/drawingml/2006/main">
              <a:ext uri="{FF2B5EF4-FFF2-40B4-BE49-F238E27FC236}">
                <a16:creationId xmlns:a16="http://schemas.microsoft.com/office/drawing/2014/main" id="{8B621604-06D3-4BFE-ABC6-027490CF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B1B1B"/>
                </a:solidFill>
              </a:defRPr>
            </a:pPr>
            <a:r>
              <a:rPr sz="3000" b="1">
                <a:solidFill>
                  <a:srgbClr val="1B1B1B"/>
                </a:solidFill>
              </a:rPr>
              <a:t>4,000</a:t>
            </a:r>
          </a:p>
        </p:txBody>
      </p:sp>
      <p:sp>
        <p:nvSpPr>
          <p:cNvPr id="16" name="metric-label-real reviews used">
            <a:extLst xmlns:a="http://schemas.openxmlformats.org/drawingml/2006/main">
              <a:ext uri="{FF2B5EF4-FFF2-40B4-BE49-F238E27FC236}">
                <a16:creationId xmlns:a16="http://schemas.microsoft.com/office/drawing/2014/main" id="{C267EBCF-4EAB-4A89-B530-45C6830D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95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35F"/>
                </a:solidFill>
              </a:defRPr>
            </a:pPr>
            <a:r>
              <a:rPr sz="1200">
                <a:solidFill>
                  <a:srgbClr val="5D635F"/>
                </a:solidFill>
              </a:rPr>
              <a:t>real reviews used</a:t>
            </a:r>
          </a:p>
        </p:txBody>
      </p:sp>
      <p:sp>
        <p:nvSpPr>
          <p:cNvPr id="17" name="metric-box-train-test split">
            <a:extLst xmlns:a="http://schemas.openxmlformats.org/drawingml/2006/main">
              <a:ext uri="{FF2B5EF4-FFF2-40B4-BE49-F238E27FC236}">
                <a16:creationId xmlns:a16="http://schemas.microsoft.com/office/drawing/2014/main" id="{E7F8BA29-1BAD-4834-AF11-B94E9D0C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sp>
        <p:nvSpPr>
          <p:cNvPr id="18" name="metric-accent-train-test split">
            <a:extLst xmlns:a="http://schemas.openxmlformats.org/drawingml/2006/main">
              <a:ext uri="{FF2B5EF4-FFF2-40B4-BE49-F238E27FC236}">
                <a16:creationId xmlns:a16="http://schemas.microsoft.com/office/drawing/2014/main" id="{B79AC476-8172-45C8-8CFD-5D662326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19" name="metric-value-train-test split">
            <a:extLst xmlns:a="http://schemas.openxmlformats.org/drawingml/2006/main">
              <a:ext uri="{FF2B5EF4-FFF2-40B4-BE49-F238E27FC236}">
                <a16:creationId xmlns:a16="http://schemas.microsoft.com/office/drawing/2014/main" id="{F70E5329-305F-4C3B-B5F3-9CEF34DA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B1B1B"/>
                </a:solidFill>
              </a:defRPr>
            </a:pPr>
            <a:r>
              <a:rPr sz="3000" b="1">
                <a:solidFill>
                  <a:srgbClr val="1B1B1B"/>
                </a:solidFill>
              </a:rPr>
              <a:t>80 / 20</a:t>
            </a:r>
          </a:p>
        </p:txBody>
      </p:sp>
      <p:sp>
        <p:nvSpPr>
          <p:cNvPr id="20" name="metric-label-train-test split">
            <a:extLst xmlns:a="http://schemas.openxmlformats.org/drawingml/2006/main">
              <a:ext uri="{FF2B5EF4-FFF2-40B4-BE49-F238E27FC236}">
                <a16:creationId xmlns:a16="http://schemas.microsoft.com/office/drawing/2014/main" id="{5BE05258-526D-4B18-87DA-3D3D2005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35F"/>
                </a:solidFill>
              </a:defRPr>
            </a:pPr>
            <a:r>
              <a:rPr sz="1200">
                <a:solidFill>
                  <a:srgbClr val="5D635F"/>
                </a:solidFill>
              </a:rPr>
              <a:t>train-test split</a:t>
            </a:r>
          </a:p>
        </p:txBody>
      </p:sp>
      <p:sp>
        <p:nvSpPr>
          <p:cNvPr id="21" name="metric-box-vocabulary size">
            <a:extLst xmlns:a="http://schemas.openxmlformats.org/drawingml/2006/main">
              <a:ext uri="{FF2B5EF4-FFF2-40B4-BE49-F238E27FC236}">
                <a16:creationId xmlns:a16="http://schemas.microsoft.com/office/drawing/2014/main" id="{4B7CFF1A-8396-423B-9069-90154D67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sp>
        <p:nvSpPr>
          <p:cNvPr id="22" name="metric-accent-vocabulary size">
            <a:extLst xmlns:a="http://schemas.openxmlformats.org/drawingml/2006/main">
              <a:ext uri="{FF2B5EF4-FFF2-40B4-BE49-F238E27FC236}">
                <a16:creationId xmlns:a16="http://schemas.microsoft.com/office/drawing/2014/main" id="{C89BA0C2-A24A-415A-B675-17F32145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0">
            <a:solidFill>
              <a:srgbClr val="4C78A8"/>
            </a:solidFill>
            <a:prstDash val="solid"/>
          </a:ln>
        </p:spPr>
      </p:sp>
      <p:sp>
        <p:nvSpPr>
          <p:cNvPr id="23" name="metric-value-vocabulary size">
            <a:extLst xmlns:a="http://schemas.openxmlformats.org/drawingml/2006/main">
              <a:ext uri="{FF2B5EF4-FFF2-40B4-BE49-F238E27FC236}">
                <a16:creationId xmlns:a16="http://schemas.microsoft.com/office/drawing/2014/main" id="{ADD3F42A-C2EE-49AC-B058-462622B0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B1B1B"/>
                </a:solidFill>
              </a:defRPr>
            </a:pPr>
            <a:r>
              <a:rPr sz="3000" b="1">
                <a:solidFill>
                  <a:srgbClr val="1B1B1B"/>
                </a:solidFill>
              </a:rPr>
              <a:t>10,000</a:t>
            </a:r>
          </a:p>
        </p:txBody>
      </p:sp>
      <p:sp>
        <p:nvSpPr>
          <p:cNvPr id="24" name="metric-label-vocabulary size">
            <a:extLst xmlns:a="http://schemas.openxmlformats.org/drawingml/2006/main">
              <a:ext uri="{FF2B5EF4-FFF2-40B4-BE49-F238E27FC236}">
                <a16:creationId xmlns:a16="http://schemas.microsoft.com/office/drawing/2014/main" id="{49AB4557-59BE-420A-A683-4C3F88E2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35F"/>
                </a:solidFill>
              </a:defRPr>
            </a:pPr>
            <a:r>
              <a:rPr sz="1200">
                <a:solidFill>
                  <a:srgbClr val="5D635F"/>
                </a:solidFill>
              </a:rPr>
              <a:t>vocabulary size</a:t>
            </a:r>
          </a:p>
        </p:txBody>
      </p:sp>
      <p:sp>
        <p:nvSpPr>
          <p:cNvPr id="25" name="metric-box-tokens per review">
            <a:extLst xmlns:a="http://schemas.openxmlformats.org/drawingml/2006/main">
              <a:ext uri="{FF2B5EF4-FFF2-40B4-BE49-F238E27FC236}">
                <a16:creationId xmlns:a16="http://schemas.microsoft.com/office/drawing/2014/main" id="{B87F800E-8291-425B-B224-854FDC03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sp>
        <p:nvSpPr>
          <p:cNvPr id="26" name="metric-accent-tokens per review">
            <a:extLst xmlns:a="http://schemas.openxmlformats.org/drawingml/2006/main">
              <a:ext uri="{FF2B5EF4-FFF2-40B4-BE49-F238E27FC236}">
                <a16:creationId xmlns:a16="http://schemas.microsoft.com/office/drawing/2014/main" id="{930866D6-7E4F-49B0-8EE9-F0C8AB60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2D"/>
          </a:solidFill>
          <a:ln xmlns:a="http://schemas.openxmlformats.org/drawingml/2006/main" w="0">
            <a:solidFill>
              <a:srgbClr val="D39A2D"/>
            </a:solidFill>
            <a:prstDash val="solid"/>
          </a:ln>
        </p:spPr>
      </p:sp>
      <p:sp>
        <p:nvSpPr>
          <p:cNvPr id="27" name="metric-value-tokens per review">
            <a:extLst xmlns:a="http://schemas.openxmlformats.org/drawingml/2006/main">
              <a:ext uri="{FF2B5EF4-FFF2-40B4-BE49-F238E27FC236}">
                <a16:creationId xmlns:a16="http://schemas.microsoft.com/office/drawing/2014/main" id="{4FC19BDC-487B-4126-9CD4-3EED13B2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B1B1B"/>
                </a:solidFill>
              </a:defRPr>
            </a:pPr>
            <a:r>
              <a:rPr sz="3000" b="1">
                <a:solidFill>
                  <a:srgbClr val="1B1B1B"/>
                </a:solidFill>
              </a:rPr>
              <a:t>250</a:t>
            </a:r>
          </a:p>
        </p:txBody>
      </p:sp>
      <p:sp>
        <p:nvSpPr>
          <p:cNvPr id="28" name="metric-label-tokens per review">
            <a:extLst xmlns:a="http://schemas.openxmlformats.org/drawingml/2006/main">
              <a:ext uri="{FF2B5EF4-FFF2-40B4-BE49-F238E27FC236}">
                <a16:creationId xmlns:a16="http://schemas.microsoft.com/office/drawing/2014/main" id="{4D20729F-C2E4-44E6-BCC9-B19DD59E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14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35F"/>
                </a:solidFill>
              </a:defRPr>
            </a:pPr>
            <a:r>
              <a:rPr sz="1200">
                <a:solidFill>
                  <a:srgbClr val="5D635F"/>
                </a:solidFill>
              </a:rPr>
              <a:t>tokens per review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0CA65B16-A300-4A81-B1F2-E2FF730C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A8F8B"/>
                </a:solidFill>
              </a:defRPr>
            </a:pPr>
            <a:r>
              <a:rPr sz="1050">
                <a:solidFill>
                  <a:srgbClr val="8A8F8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86127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777A713-FBD1-4722-9BCF-98A59C4C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5D2A"/>
                </a:solidFill>
              </a:defRPr>
            </a:pPr>
            <a:r>
              <a:rPr sz="1050" b="1">
                <a:solidFill>
                  <a:srgbClr val="E85D2A"/>
                </a:solidFill>
              </a:rPr>
              <a:t>MOVIE REVIEW SENTIMENT ANALYSIS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EF484CA-A774-4A1F-90BF-A5A725AA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1B1B"/>
                </a:solidFill>
              </a:defRPr>
            </a:pPr>
            <a:r>
              <a:rPr sz="3150" b="1">
                <a:solidFill>
                  <a:srgbClr val="1B1B1B"/>
                </a:solidFill>
              </a:rPr>
              <a:t>The real dataset was split into balanced train and test sets.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7074301-4B6E-4DF7-9424-402022E9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4" name="dataset-copy">
            <a:extLst xmlns:a="http://schemas.openxmlformats.org/drawingml/2006/main">
              <a:ext uri="{FF2B5EF4-FFF2-40B4-BE49-F238E27FC236}">
                <a16:creationId xmlns:a16="http://schemas.microsoft.com/office/drawing/2014/main" id="{2DC4805E-0D48-4FD7-94A0-DAE6E304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The notebook combines real ACL IMDB review files and creates a stratified 80/20 split. This keeps positive and negative reviews balanced in both sets.</a:t>
            </a:r>
          </a:p>
        </p:txBody>
      </p:sp>
      <p:sp>
        <p:nvSpPr>
          <p:cNvPr id="5" name="metric-box-training reviews">
            <a:extLst xmlns:a="http://schemas.openxmlformats.org/drawingml/2006/main">
              <a:ext uri="{FF2B5EF4-FFF2-40B4-BE49-F238E27FC236}">
                <a16:creationId xmlns:a16="http://schemas.microsoft.com/office/drawing/2014/main" id="{4289B05A-0009-4E12-9B5A-8727C9FC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714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sp>
        <p:nvSpPr>
          <p:cNvPr id="6" name="metric-accent-training reviews">
            <a:extLst xmlns:a="http://schemas.openxmlformats.org/drawingml/2006/main">
              <a:ext uri="{FF2B5EF4-FFF2-40B4-BE49-F238E27FC236}">
                <a16:creationId xmlns:a16="http://schemas.microsoft.com/office/drawing/2014/main" id="{8903E097-A34A-44A1-9528-8C72BBC1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F92"/>
          </a:solidFill>
          <a:ln xmlns:a="http://schemas.openxmlformats.org/drawingml/2006/main" w="0">
            <a:solidFill>
              <a:srgbClr val="6BAF92"/>
            </a:solidFill>
            <a:prstDash val="solid"/>
          </a:ln>
        </p:spPr>
      </p:sp>
      <p:sp>
        <p:nvSpPr>
          <p:cNvPr id="7" name="metric-value-training reviews">
            <a:extLst xmlns:a="http://schemas.openxmlformats.org/drawingml/2006/main">
              <a:ext uri="{FF2B5EF4-FFF2-40B4-BE49-F238E27FC236}">
                <a16:creationId xmlns:a16="http://schemas.microsoft.com/office/drawing/2014/main" id="{A023B8CE-E00F-48E2-97E2-E63D2128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B1B1B"/>
                </a:solidFill>
              </a:defRPr>
            </a:pPr>
            <a:r>
              <a:rPr sz="3000" b="1">
                <a:solidFill>
                  <a:srgbClr val="1B1B1B"/>
                </a:solidFill>
              </a:rPr>
              <a:t>3,200</a:t>
            </a:r>
          </a:p>
        </p:txBody>
      </p:sp>
      <p:sp>
        <p:nvSpPr>
          <p:cNvPr id="8" name="metric-label-training reviews">
            <a:extLst xmlns:a="http://schemas.openxmlformats.org/drawingml/2006/main">
              <a:ext uri="{FF2B5EF4-FFF2-40B4-BE49-F238E27FC236}">
                <a16:creationId xmlns:a16="http://schemas.microsoft.com/office/drawing/2014/main" id="{094A9227-692D-409C-BB65-86D32D12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35F"/>
                </a:solidFill>
              </a:defRPr>
            </a:pPr>
            <a:r>
              <a:rPr sz="1200">
                <a:solidFill>
                  <a:srgbClr val="5D635F"/>
                </a:solidFill>
              </a:rPr>
              <a:t>training reviews</a:t>
            </a:r>
          </a:p>
        </p:txBody>
      </p:sp>
      <p:sp>
        <p:nvSpPr>
          <p:cNvPr id="9" name="metric-box-testing reviews">
            <a:extLst xmlns:a="http://schemas.openxmlformats.org/drawingml/2006/main">
              <a:ext uri="{FF2B5EF4-FFF2-40B4-BE49-F238E27FC236}">
                <a16:creationId xmlns:a16="http://schemas.microsoft.com/office/drawing/2014/main" id="{9F30E63F-08D9-49CA-8B53-5C8FBA06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1714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sp>
        <p:nvSpPr>
          <p:cNvPr id="10" name="metric-accent-testing reviews">
            <a:extLst xmlns:a="http://schemas.openxmlformats.org/drawingml/2006/main">
              <a:ext uri="{FF2B5EF4-FFF2-40B4-BE49-F238E27FC236}">
                <a16:creationId xmlns:a16="http://schemas.microsoft.com/office/drawing/2014/main" id="{6E032275-831B-475B-A0E0-FE54C6C2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0">
            <a:solidFill>
              <a:srgbClr val="4C78A8"/>
            </a:solidFill>
            <a:prstDash val="solid"/>
          </a:ln>
        </p:spPr>
      </p:sp>
      <p:sp>
        <p:nvSpPr>
          <p:cNvPr id="11" name="metric-value-testing reviews">
            <a:extLst xmlns:a="http://schemas.openxmlformats.org/drawingml/2006/main">
              <a:ext uri="{FF2B5EF4-FFF2-40B4-BE49-F238E27FC236}">
                <a16:creationId xmlns:a16="http://schemas.microsoft.com/office/drawing/2014/main" id="{4735C43C-1298-4253-A543-55318AAC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195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B1B1B"/>
                </a:solidFill>
              </a:defRPr>
            </a:pPr>
            <a:r>
              <a:rPr sz="3000" b="1">
                <a:solidFill>
                  <a:srgbClr val="1B1B1B"/>
                </a:solidFill>
              </a:rPr>
              <a:t>800</a:t>
            </a:r>
          </a:p>
        </p:txBody>
      </p:sp>
      <p:sp>
        <p:nvSpPr>
          <p:cNvPr id="12" name="metric-label-testing reviews">
            <a:extLst xmlns:a="http://schemas.openxmlformats.org/drawingml/2006/main">
              <a:ext uri="{FF2B5EF4-FFF2-40B4-BE49-F238E27FC236}">
                <a16:creationId xmlns:a16="http://schemas.microsoft.com/office/drawing/2014/main" id="{68750A55-A691-4923-9575-D04BCB9E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433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35F"/>
                </a:solidFill>
              </a:defRPr>
            </a:pPr>
            <a:r>
              <a:rPr sz="1200">
                <a:solidFill>
                  <a:srgbClr val="5D635F"/>
                </a:solidFill>
              </a:rPr>
              <a:t>testing reviews</a:t>
            </a:r>
          </a:p>
        </p:txBody>
      </p:sp>
      <p:sp>
        <p:nvSpPr>
          <p:cNvPr id="13" name="balance-note">
            <a:extLst xmlns:a="http://schemas.openxmlformats.org/drawingml/2006/main">
              <a:ext uri="{FF2B5EF4-FFF2-40B4-BE49-F238E27FC236}">
                <a16:creationId xmlns:a16="http://schemas.microsoft.com/office/drawing/2014/main" id="{AC759111-A210-461D-BC84-ECDA244C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35F"/>
                </a:solidFill>
              </a:defRPr>
            </a:pPr>
            <a:r>
              <a:rPr sz="1200">
                <a:solidFill>
                  <a:srgbClr val="5D635F"/>
                </a:solidFill>
              </a:rPr>
              <a:t>Train: 1,600 positive and 1,600 negative. Test: 400 positive and 400 negative.</a:t>
            </a:r>
          </a:p>
        </p:txBody>
      </p:sp>
      <p:sp>
        <p:nvSpPr>
          <p:cNvPr id="14" name="frame-80/20 class balance chart">
            <a:extLst xmlns:a="http://schemas.openxmlformats.org/drawingml/2006/main">
              <a:ext uri="{FF2B5EF4-FFF2-40B4-BE49-F238E27FC236}">
                <a16:creationId xmlns:a16="http://schemas.microsoft.com/office/drawing/2014/main" id="{B59B6DF9-BB6E-4C62-9ABB-14FEEC2D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5810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bcf031536439c"/>
          <a:stretch xmlns:a="http://schemas.openxmlformats.org/drawingml/2006/main"/>
        </p:blipFill>
        <p:spPr>
          <a:xfrm xmlns:a="http://schemas.openxmlformats.org/drawingml/2006/main">
            <a:off x="5522556" y="2047875"/>
            <a:ext cx="5528388" cy="3429000"/>
          </a:xfrm>
          <a:prstGeom xmlns:a="http://schemas.openxmlformats.org/drawingml/2006/main" prst="rect">
            <a:avLst/>
          </a:prstGeom>
        </p:spPr>
      </p:pic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E97C145A-E3B6-4C84-9DB4-D5C7620C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A8F8B"/>
                </a:solidFill>
              </a:defRPr>
            </a:pPr>
            <a:r>
              <a:rPr sz="1050">
                <a:solidFill>
                  <a:srgbClr val="8A8F8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94016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BB14459-B149-4959-B477-1DF55F3E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5D2A"/>
                </a:solidFill>
              </a:defRPr>
            </a:pPr>
            <a:r>
              <a:rPr sz="1050" b="1">
                <a:solidFill>
                  <a:srgbClr val="E85D2A"/>
                </a:solidFill>
              </a:rPr>
              <a:t>MOVIE REVIEW SENTIMENT ANALYSIS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DB8EFC-8159-4F89-A90A-B1C215F2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1B1B"/>
                </a:solidFill>
              </a:defRPr>
            </a:pPr>
            <a:r>
              <a:rPr sz="3150" b="1">
                <a:solidFill>
                  <a:srgbClr val="1B1B1B"/>
                </a:solidFill>
              </a:rPr>
              <a:t>Review length varies widely, so the input length is fixed.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EF27BEDE-F569-4742-955F-F638D2F5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4" name="length-copy">
            <a:extLst xmlns:a="http://schemas.openxmlformats.org/drawingml/2006/main">
              <a:ext uri="{FF2B5EF4-FFF2-40B4-BE49-F238E27FC236}">
                <a16:creationId xmlns:a16="http://schemas.microsoft.com/office/drawing/2014/main" id="{FED5F658-D9E3-41ED-9C01-FFA32C38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The histogram and box plot show that most reviews are medium length, while some reviews are much longer. The ANN receives a fixed sequence length of 250 tokens.</a:t>
            </a:r>
          </a:p>
        </p:txBody>
      </p:sp>
      <p:sp>
        <p:nvSpPr>
          <p:cNvPr id="5" name="frame-review word count histogram">
            <a:extLst xmlns:a="http://schemas.openxmlformats.org/drawingml/2006/main">
              <a:ext uri="{FF2B5EF4-FFF2-40B4-BE49-F238E27FC236}">
                <a16:creationId xmlns:a16="http://schemas.microsoft.com/office/drawing/2014/main" id="{23070D3F-2B18-4C7B-8CB1-7781F63D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53340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51b37a7204fb3"/>
          <a:stretch xmlns:a="http://schemas.openxmlformats.org/drawingml/2006/main"/>
        </p:blipFill>
        <p:spPr>
          <a:xfrm xmlns:a="http://schemas.openxmlformats.org/drawingml/2006/main">
            <a:off x="685800" y="2988264"/>
            <a:ext cx="5143500" cy="2548347"/>
          </a:xfrm>
          <a:prstGeom xmlns:a="http://schemas.openxmlformats.org/drawingml/2006/main" prst="rect">
            <a:avLst/>
          </a:prstGeom>
        </p:spPr>
      </p:pic>
      <p:sp>
        <p:nvSpPr>
          <p:cNvPr id="7" name="frame-review length box plot">
            <a:extLst xmlns:a="http://schemas.openxmlformats.org/drawingml/2006/main">
              <a:ext uri="{FF2B5EF4-FFF2-40B4-BE49-F238E27FC236}">
                <a16:creationId xmlns:a16="http://schemas.microsoft.com/office/drawing/2014/main" id="{9EAF3776-E9ED-4301-A1C2-02857B09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3340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09587bf2e4002"/>
          <a:stretch xmlns:a="http://schemas.openxmlformats.org/drawingml/2006/main"/>
        </p:blipFill>
        <p:spPr>
          <a:xfrm xmlns:a="http://schemas.openxmlformats.org/drawingml/2006/main">
            <a:off x="6381750" y="2844937"/>
            <a:ext cx="5143500" cy="2835000"/>
          </a:xfrm>
          <a:prstGeom xmlns:a="http://schemas.openxmlformats.org/drawingml/2006/main" prst="rect">
            <a:avLst/>
          </a:prstGeom>
        </p:spPr>
      </p:pic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0D88319-5E9F-446E-97D9-4C6C6E09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A8F8B"/>
                </a:solidFill>
              </a:defRPr>
            </a:pPr>
            <a:r>
              <a:rPr sz="1050">
                <a:solidFill>
                  <a:srgbClr val="8A8F8B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32147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6F3554E-D78B-48B9-BF7C-AB0D3B61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5D2A"/>
                </a:solidFill>
              </a:defRPr>
            </a:pPr>
            <a:r>
              <a:rPr sz="1050" b="1">
                <a:solidFill>
                  <a:srgbClr val="E85D2A"/>
                </a:solidFill>
              </a:rPr>
              <a:t>MOVIE REVIEW SENTIMENT ANALYSIS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A169B94-892F-495A-A604-17D093B3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1B1B"/>
                </a:solidFill>
              </a:defRPr>
            </a:pPr>
            <a:r>
              <a:rPr sz="3150" b="1">
                <a:solidFill>
                  <a:srgbClr val="1B1B1B"/>
                </a:solidFill>
              </a:rPr>
              <a:t>Meaningful sentiment words show what reviews emphasize.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9C1EBD0-8704-4DE5-A564-E7BE8392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4" name="keyword-copy">
            <a:extLst xmlns:a="http://schemas.openxmlformats.org/drawingml/2006/main">
              <a:ext uri="{FF2B5EF4-FFF2-40B4-BE49-F238E27FC236}">
                <a16:creationId xmlns:a16="http://schemas.microsoft.com/office/drawing/2014/main" id="{72265A44-1D68-4602-ABF1-25789557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Instead of counting words like 'the' and 'a', this chart compares useful sentiment terms such as good, excellent, bad, boring, awful, and worst across positive and negative reviews.</a:t>
            </a:r>
          </a:p>
        </p:txBody>
      </p:sp>
      <p:sp>
        <p:nvSpPr>
          <p:cNvPr id="5" name="frame-meaningful sentiment keyword chart">
            <a:extLst xmlns:a="http://schemas.openxmlformats.org/drawingml/2006/main">
              <a:ext uri="{FF2B5EF4-FFF2-40B4-BE49-F238E27FC236}">
                <a16:creationId xmlns:a16="http://schemas.microsoft.com/office/drawing/2014/main" id="{47CFE36A-C2FA-48DE-ABB7-150300CD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895350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66774230d40c0"/>
          <a:stretch xmlns:a="http://schemas.openxmlformats.org/drawingml/2006/main"/>
        </p:blipFill>
        <p:spPr>
          <a:xfrm xmlns:a="http://schemas.openxmlformats.org/drawingml/2006/main">
            <a:off x="3809206" y="2809875"/>
            <a:ext cx="4573588" cy="3190875"/>
          </a:xfrm>
          <a:prstGeom xmlns:a="http://schemas.openxmlformats.org/drawingml/2006/main" prst="rect">
            <a:avLst/>
          </a:prstGeom>
        </p:spPr>
      </p:pic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A99E501-F367-49DB-8FEF-F938CCE0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A8F8B"/>
                </a:solidFill>
              </a:defRPr>
            </a:pPr>
            <a:r>
              <a:rPr sz="1050">
                <a:solidFill>
                  <a:srgbClr val="8A8F8B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03920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3B0164D-503E-4E6F-8D67-1A5A4022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5D2A"/>
                </a:solidFill>
              </a:defRPr>
            </a:pPr>
            <a:r>
              <a:rPr sz="1050" b="1">
                <a:solidFill>
                  <a:srgbClr val="E85D2A"/>
                </a:solidFill>
              </a:rPr>
              <a:t>MOVIE REVIEW SENTIMENT ANALYSIS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68EAF05-B499-4704-A406-CE3ED6AC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1B1B"/>
                </a:solidFill>
              </a:defRPr>
            </a:pPr>
            <a:r>
              <a:rPr sz="3150" b="1">
                <a:solidFill>
                  <a:srgbClr val="1B1B1B"/>
                </a:solidFill>
              </a:rPr>
              <a:t>Text cleaning and tokenization prepare reviews for the ANN.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3CE1948-08CD-4380-A308-1F658577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4" name="prep-copy">
            <a:extLst xmlns:a="http://schemas.openxmlformats.org/drawingml/2006/main">
              <a:ext uri="{FF2B5EF4-FFF2-40B4-BE49-F238E27FC236}">
                <a16:creationId xmlns:a16="http://schemas.microsoft.com/office/drawing/2014/main" id="{DA515E0F-9A79-41B2-A682-949E180A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The notebook keeps the preprocessing simple and beginner-friendly.</a:t>
            </a:r>
          </a:p>
        </p:txBody>
      </p:sp>
      <p:sp>
        <p:nvSpPr>
          <p:cNvPr id="5" name="bullet-80-285">
            <a:extLst xmlns:a="http://schemas.openxmlformats.org/drawingml/2006/main">
              <a:ext uri="{FF2B5EF4-FFF2-40B4-BE49-F238E27FC236}">
                <a16:creationId xmlns:a16="http://schemas.microsoft.com/office/drawing/2014/main" id="{BDF67AAA-0788-4FAB-8046-516D5648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6" name="bullet-text-80-285">
            <a:extLst xmlns:a="http://schemas.openxmlformats.org/drawingml/2006/main">
              <a:ext uri="{FF2B5EF4-FFF2-40B4-BE49-F238E27FC236}">
                <a16:creationId xmlns:a16="http://schemas.microsoft.com/office/drawing/2014/main" id="{38B2B35C-F3A6-4667-80D8-FA07F40C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Convert text to lowercase.</a:t>
            </a:r>
          </a:p>
        </p:txBody>
      </p:sp>
      <p:sp>
        <p:nvSpPr>
          <p:cNvPr id="7" name="bullet-80-340">
            <a:extLst xmlns:a="http://schemas.openxmlformats.org/drawingml/2006/main">
              <a:ext uri="{FF2B5EF4-FFF2-40B4-BE49-F238E27FC236}">
                <a16:creationId xmlns:a16="http://schemas.microsoft.com/office/drawing/2014/main" id="{34DD06B4-07E8-4AF9-8001-401E737F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8" name="bullet-text-80-340">
            <a:extLst xmlns:a="http://schemas.openxmlformats.org/drawingml/2006/main">
              <a:ext uri="{FF2B5EF4-FFF2-40B4-BE49-F238E27FC236}">
                <a16:creationId xmlns:a16="http://schemas.microsoft.com/office/drawing/2014/main" id="{09C2BA86-FAE4-4C01-94CD-93E13381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Remove HTML line breaks, punctuation, and extra spaces.</a:t>
            </a:r>
          </a:p>
        </p:txBody>
      </p:sp>
      <p:sp>
        <p:nvSpPr>
          <p:cNvPr id="9" name="bullet-80-395">
            <a:extLst xmlns:a="http://schemas.openxmlformats.org/drawingml/2006/main">
              <a:ext uri="{FF2B5EF4-FFF2-40B4-BE49-F238E27FC236}">
                <a16:creationId xmlns:a16="http://schemas.microsoft.com/office/drawing/2014/main" id="{4227144D-1C8C-4BC5-A8CB-398CD273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10" name="bullet-text-80-395">
            <a:extLst xmlns:a="http://schemas.openxmlformats.org/drawingml/2006/main">
              <a:ext uri="{FF2B5EF4-FFF2-40B4-BE49-F238E27FC236}">
                <a16:creationId xmlns:a16="http://schemas.microsoft.com/office/drawing/2014/main" id="{B3BD7F3D-BF20-4E8F-BFC0-354AB8EE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623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Use TextVectorization to convert words into integer token IDs.</a:t>
            </a:r>
          </a:p>
        </p:txBody>
      </p:sp>
      <p:sp>
        <p:nvSpPr>
          <p:cNvPr id="11" name="bullet-80-450">
            <a:extLst xmlns:a="http://schemas.openxmlformats.org/drawingml/2006/main">
              <a:ext uri="{FF2B5EF4-FFF2-40B4-BE49-F238E27FC236}">
                <a16:creationId xmlns:a16="http://schemas.microsoft.com/office/drawing/2014/main" id="{8B524A30-BD67-47EC-A364-AFEB0D40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12" name="bullet-text-80-450">
            <a:extLst xmlns:a="http://schemas.openxmlformats.org/drawingml/2006/main">
              <a:ext uri="{FF2B5EF4-FFF2-40B4-BE49-F238E27FC236}">
                <a16:creationId xmlns:a16="http://schemas.microsoft.com/office/drawing/2014/main" id="{8876DAC9-94F0-4064-8BB0-CCB99D01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Pad or trim every review to 250 tokens.</a:t>
            </a:r>
          </a:p>
        </p:txBody>
      </p:sp>
      <p:sp>
        <p:nvSpPr>
          <p:cNvPr id="13" name="code-panel">
            <a:extLst xmlns:a="http://schemas.openxmlformats.org/drawingml/2006/main">
              <a:ext uri="{FF2B5EF4-FFF2-40B4-BE49-F238E27FC236}">
                <a16:creationId xmlns:a16="http://schemas.microsoft.com/office/drawing/2014/main" id="{A172F6B5-27DD-4002-985F-B7514DFA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24125"/>
            <a:ext cx="404812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14" name="code">
            <a:extLst xmlns:a="http://schemas.openxmlformats.org/drawingml/2006/main">
              <a:ext uri="{FF2B5EF4-FFF2-40B4-BE49-F238E27FC236}">
                <a16:creationId xmlns:a16="http://schemas.microsoft.com/office/drawing/2014/main" id="{A44C22F0-1744-4F84-8728-624EAE11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7500"/>
            <a:ext cx="34766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TextVectorization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max_tokens = 10000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sequence_length = 250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Input text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-&gt; tokens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-&gt; ANN input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3496BE1F-7DE6-41DA-8893-FDCFA0CD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A8F8B"/>
                </a:solidFill>
              </a:defRPr>
            </a:pPr>
            <a:r>
              <a:rPr sz="1050">
                <a:solidFill>
                  <a:srgbClr val="8A8F8B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175194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248C327C-CAE0-4F13-9A62-8A33D317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5D2A"/>
                </a:solidFill>
              </a:defRPr>
            </a:pPr>
            <a:r>
              <a:rPr sz="1050" b="1">
                <a:solidFill>
                  <a:srgbClr val="E85D2A"/>
                </a:solidFill>
              </a:rPr>
              <a:t>MOVIE REVIEW SENTIMENT ANALYSIS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788688-26C5-419A-9334-196D3700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1B1B"/>
                </a:solidFill>
              </a:defRPr>
            </a:pPr>
            <a:r>
              <a:rPr sz="3150" b="1">
                <a:solidFill>
                  <a:srgbClr val="1B1B1B"/>
                </a:solidFill>
              </a:rPr>
              <a:t>The ANN learns patterns from tokenized review text.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D69B8CB-8891-49B3-8286-3FECB7B6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4" name="arch-copy">
            <a:extLst xmlns:a="http://schemas.openxmlformats.org/drawingml/2006/main">
              <a:ext uri="{FF2B5EF4-FFF2-40B4-BE49-F238E27FC236}">
                <a16:creationId xmlns:a16="http://schemas.microsoft.com/office/drawing/2014/main" id="{9E0ADBA0-550A-4CD7-BD23-366B4F7E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The model architecture used in the notebook is shown as the actual layer order.</a:t>
            </a:r>
          </a:p>
        </p:txBody>
      </p:sp>
      <p:sp>
        <p:nvSpPr>
          <p:cNvPr id="5" name="arch-code">
            <a:extLst xmlns:a="http://schemas.openxmlformats.org/drawingml/2006/main">
              <a:ext uri="{FF2B5EF4-FFF2-40B4-BE49-F238E27FC236}">
                <a16:creationId xmlns:a16="http://schemas.microsoft.com/office/drawing/2014/main" id="{405C1E30-8C8F-461C-9143-91B6D3C0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619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6" name="arch-code-text">
            <a:extLst xmlns:a="http://schemas.openxmlformats.org/drawingml/2006/main">
              <a:ext uri="{FF2B5EF4-FFF2-40B4-BE49-F238E27FC236}">
                <a16:creationId xmlns:a16="http://schemas.microsoft.com/office/drawing/2014/main" id="{5F6D1C35-7677-4736-B566-133716B2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Input(shape=(), dtype=tf.string)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TextVectorization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Embedding(10000, 64)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GlobalAveragePooling1D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Dense(64, relu)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Dropout(0.5)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Dense(32, relu)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Dropout(0.3)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Dense(1, sigmoid)</a:t>
            </a:r>
          </a:p>
        </p:txBody>
      </p:sp>
      <p:sp>
        <p:nvSpPr>
          <p:cNvPr id="7" name="bullet-735-300">
            <a:extLst xmlns:a="http://schemas.openxmlformats.org/drawingml/2006/main">
              <a:ext uri="{FF2B5EF4-FFF2-40B4-BE49-F238E27FC236}">
                <a16:creationId xmlns:a16="http://schemas.microsoft.com/office/drawing/2014/main" id="{B3CF2F3B-2BFB-44F8-9FBD-4E0AA68C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8" name="bullet-text-735-300">
            <a:extLst xmlns:a="http://schemas.openxmlformats.org/drawingml/2006/main">
              <a:ext uri="{FF2B5EF4-FFF2-40B4-BE49-F238E27FC236}">
                <a16:creationId xmlns:a16="http://schemas.microsoft.com/office/drawing/2014/main" id="{FE2E197F-2C05-46EF-8B1F-3EAAB19C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8575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Embedding learns word representations.</a:t>
            </a:r>
          </a:p>
        </p:txBody>
      </p:sp>
      <p:sp>
        <p:nvSpPr>
          <p:cNvPr id="9" name="bullet-735-365">
            <a:extLst xmlns:a="http://schemas.openxmlformats.org/drawingml/2006/main">
              <a:ext uri="{FF2B5EF4-FFF2-40B4-BE49-F238E27FC236}">
                <a16:creationId xmlns:a16="http://schemas.microsoft.com/office/drawing/2014/main" id="{2F5030BB-3E67-4FD4-934E-9CF7D679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5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10" name="bullet-text-735-365">
            <a:extLst xmlns:a="http://schemas.openxmlformats.org/drawingml/2006/main">
              <a:ext uri="{FF2B5EF4-FFF2-40B4-BE49-F238E27FC236}">
                <a16:creationId xmlns:a16="http://schemas.microsoft.com/office/drawing/2014/main" id="{811DDA9E-387B-4229-A565-5CF2CDAC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47662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Pooling converts token vectors into one review vector.</a:t>
            </a:r>
          </a:p>
        </p:txBody>
      </p:sp>
      <p:sp>
        <p:nvSpPr>
          <p:cNvPr id="11" name="bullet-735-430">
            <a:extLst xmlns:a="http://schemas.openxmlformats.org/drawingml/2006/main">
              <a:ext uri="{FF2B5EF4-FFF2-40B4-BE49-F238E27FC236}">
                <a16:creationId xmlns:a16="http://schemas.microsoft.com/office/drawing/2014/main" id="{5A7CB1D8-2239-4A52-8385-CD0742D2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12" name="bullet-text-735-430">
            <a:extLst xmlns:a="http://schemas.openxmlformats.org/drawingml/2006/main">
              <a:ext uri="{FF2B5EF4-FFF2-40B4-BE49-F238E27FC236}">
                <a16:creationId xmlns:a16="http://schemas.microsoft.com/office/drawing/2014/main" id="{8F023AFE-A5EF-49BA-B5B3-78805B53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0957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Dense and dropout layers learn sentiment patterns.</a:t>
            </a:r>
          </a:p>
        </p:txBody>
      </p:sp>
      <p:sp>
        <p:nvSpPr>
          <p:cNvPr id="13" name="bullet-735-495">
            <a:extLst xmlns:a="http://schemas.openxmlformats.org/drawingml/2006/main">
              <a:ext uri="{FF2B5EF4-FFF2-40B4-BE49-F238E27FC236}">
                <a16:creationId xmlns:a16="http://schemas.microsoft.com/office/drawing/2014/main" id="{00031A89-85D9-4AEE-82FD-D174CE9D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14" name="bullet-text-735-495">
            <a:extLst xmlns:a="http://schemas.openxmlformats.org/drawingml/2006/main">
              <a:ext uri="{FF2B5EF4-FFF2-40B4-BE49-F238E27FC236}">
                <a16:creationId xmlns:a16="http://schemas.microsoft.com/office/drawing/2014/main" id="{0C223492-EC16-42F3-95FC-6D0AF4D7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1487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Sigmoid outputs a positive probability from 0 to 1.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2055B8BF-C6BC-4354-8F39-8BF1BB37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A8F8B"/>
                </a:solidFill>
              </a:defRPr>
            </a:pPr>
            <a:r>
              <a:rPr sz="1050">
                <a:solidFill>
                  <a:srgbClr val="8A8F8B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45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FC43A4C-B4C7-4F42-B8D3-8CBB54A6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5D2A"/>
                </a:solidFill>
              </a:defRPr>
            </a:pPr>
            <a:r>
              <a:rPr sz="1050" b="1">
                <a:solidFill>
                  <a:srgbClr val="E85D2A"/>
                </a:solidFill>
              </a:rPr>
              <a:t>MOVIE REVIEW SENTIMENT ANALYSIS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9A0E12-2F32-4A3E-A4CC-595665D8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1B1B"/>
                </a:solidFill>
              </a:defRPr>
            </a:pPr>
            <a:r>
              <a:rPr sz="3150" b="1">
                <a:solidFill>
                  <a:srgbClr val="1B1B1B"/>
                </a:solidFill>
              </a:rPr>
              <a:t>Training improved accuracy while reducing loss.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91476DE-1004-4E1A-9BCC-C531D863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4" name="training-copy">
            <a:extLst xmlns:a="http://schemas.openxmlformats.org/drawingml/2006/main">
              <a:ext uri="{FF2B5EF4-FFF2-40B4-BE49-F238E27FC236}">
                <a16:creationId xmlns:a16="http://schemas.microsoft.com/office/drawing/2014/main" id="{0BF386EA-DF39-41C7-A731-F479F0CA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The model trained for 5 epochs with Adam, binary crossentropy, batch size 32, and EarlyStopping.</a:t>
            </a:r>
          </a:p>
        </p:txBody>
      </p:sp>
      <p:sp>
        <p:nvSpPr>
          <p:cNvPr id="5" name="frame-training accuracy and loss curves">
            <a:extLst xmlns:a="http://schemas.openxmlformats.org/drawingml/2006/main">
              <a:ext uri="{FF2B5EF4-FFF2-40B4-BE49-F238E27FC236}">
                <a16:creationId xmlns:a16="http://schemas.microsoft.com/office/drawing/2014/main" id="{866A14E8-857A-4ACC-B843-A2906F33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71750"/>
            <a:ext cx="98107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caa65ee9b41d0"/>
          <a:stretch xmlns:a="http://schemas.openxmlformats.org/drawingml/2006/main"/>
        </p:blipFill>
        <p:spPr>
          <a:xfrm xmlns:a="http://schemas.openxmlformats.org/drawingml/2006/main">
            <a:off x="1522351" y="2667000"/>
            <a:ext cx="9147297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B9CC31F-C072-47C0-A413-0B1000F3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A8F8B"/>
                </a:solidFill>
              </a:defRPr>
            </a:pPr>
            <a:r>
              <a:rPr sz="1050">
                <a:solidFill>
                  <a:srgbClr val="8A8F8B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13003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34AC72D-13D5-43ED-A944-2FBCE446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5D2A"/>
                </a:solidFill>
              </a:defRPr>
            </a:pPr>
            <a:r>
              <a:rPr sz="1050" b="1">
                <a:solidFill>
                  <a:srgbClr val="E85D2A"/>
                </a:solidFill>
              </a:rPr>
              <a:t>MOVIE REVIEW SENTIMENT ANALYSIS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EC20C6-8CA5-454A-B172-D446272A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1B1B"/>
                </a:solidFill>
              </a:defRPr>
            </a:pPr>
            <a:r>
              <a:rPr sz="3150" b="1">
                <a:solidFill>
                  <a:srgbClr val="1B1B1B"/>
                </a:solidFill>
              </a:rPr>
              <a:t>Final test results show a useful baseline model.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337C4F0-F96E-48D5-90FF-15F75390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4" name="results-copy">
            <a:extLst xmlns:a="http://schemas.openxmlformats.org/drawingml/2006/main">
              <a:ext uri="{FF2B5EF4-FFF2-40B4-BE49-F238E27FC236}">
                <a16:creationId xmlns:a16="http://schemas.microsoft.com/office/drawing/2014/main" id="{34249D5A-1F2C-43E5-BDFE-643CDC5A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The model reached 73.6% accuracy on 800 unseen test reviews. It was careful when predicting positive reviews, but it missed some actual positives.</a:t>
            </a:r>
          </a:p>
        </p:txBody>
      </p:sp>
      <p:sp>
        <p:nvSpPr>
          <p:cNvPr id="5" name="frame-final test metrics chart">
            <a:extLst xmlns:a="http://schemas.openxmlformats.org/drawingml/2006/main">
              <a:ext uri="{FF2B5EF4-FFF2-40B4-BE49-F238E27FC236}">
                <a16:creationId xmlns:a16="http://schemas.microsoft.com/office/drawing/2014/main" id="{72BA4587-7282-4C20-B2E9-1B1E22B4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519112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6f7f4a67a43dd"/>
          <a:stretch xmlns:a="http://schemas.openxmlformats.org/drawingml/2006/main"/>
        </p:blipFill>
        <p:spPr>
          <a:xfrm xmlns:a="http://schemas.openxmlformats.org/drawingml/2006/main">
            <a:off x="1035601" y="2809875"/>
            <a:ext cx="4453423" cy="2762250"/>
          </a:xfrm>
          <a:prstGeom xmlns:a="http://schemas.openxmlformats.org/drawingml/2006/main" prst="rect">
            <a:avLst/>
          </a:prstGeom>
        </p:spPr>
      </p:pic>
      <p:sp>
        <p:nvSpPr>
          <p:cNvPr id="7" name="frame-test-set confusion matrix">
            <a:extLst xmlns:a="http://schemas.openxmlformats.org/drawingml/2006/main">
              <a:ext uri="{FF2B5EF4-FFF2-40B4-BE49-F238E27FC236}">
                <a16:creationId xmlns:a16="http://schemas.microsoft.com/office/drawing/2014/main" id="{1678FF0B-30F2-480E-B536-2EDB186C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4000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80a8c8fbd4735"/>
          <a:stretch xmlns:a="http://schemas.openxmlformats.org/drawingml/2006/main"/>
        </p:blipFill>
        <p:spPr>
          <a:xfrm xmlns:a="http://schemas.openxmlformats.org/drawingml/2006/main">
            <a:off x="6869270" y="2809875"/>
            <a:ext cx="3120710" cy="2762250"/>
          </a:xfrm>
          <a:prstGeom xmlns:a="http://schemas.openxmlformats.org/drawingml/2006/main" prst="rect">
            <a:avLst/>
          </a:prstGeom>
        </p:spPr>
      </p:pic>
      <p:sp>
        <p:nvSpPr>
          <p:cNvPr id="9" name="result-note">
            <a:extLst xmlns:a="http://schemas.openxmlformats.org/drawingml/2006/main">
              <a:ext uri="{FF2B5EF4-FFF2-40B4-BE49-F238E27FC236}">
                <a16:creationId xmlns:a16="http://schemas.microsoft.com/office/drawing/2014/main" id="{527416DD-671A-4F2F-A327-9843A9F7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B1B1B"/>
                </a:solidFill>
              </a:defRPr>
            </a:pPr>
            <a:r>
              <a:rPr sz="1500" b="1">
                <a:solidFill>
                  <a:srgbClr val="1B1B1B"/>
                </a:solidFill>
              </a:rPr>
              <a:t>Accuracy 0.736 | Precision 0.899 | Recall 0.533 | F1 0.669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DB6A9893-864A-4963-9067-096EE0BB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A8F8B"/>
                </a:solidFill>
              </a:defRPr>
            </a:pPr>
            <a:r>
              <a:rPr sz="1050">
                <a:solidFill>
                  <a:srgbClr val="8A8F8B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2063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FDE37BC-1B02-4256-81A4-CB077D7D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5D2A"/>
                </a:solidFill>
              </a:defRPr>
            </a:pPr>
            <a:r>
              <a:rPr sz="1050" b="1">
                <a:solidFill>
                  <a:srgbClr val="E85D2A"/>
                </a:solidFill>
              </a:rPr>
              <a:t>MOVIE REVIEW SENTIMENT ANALYSIS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32EEBB-BF9F-4310-99EF-4ED41A13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1B1B"/>
                </a:solidFill>
              </a:defRPr>
            </a:pPr>
            <a:r>
              <a:rPr sz="3150" b="1">
                <a:solidFill>
                  <a:srgbClr val="1B1B1B"/>
                </a:solidFill>
              </a:rPr>
              <a:t>Prediction scores show how confident the model is.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A8EC8A4-B1B1-40A0-9189-35A7D217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4" name="prob-copy">
            <a:extLst xmlns:a="http://schemas.openxmlformats.org/drawingml/2006/main">
              <a:ext uri="{FF2B5EF4-FFF2-40B4-BE49-F238E27FC236}">
                <a16:creationId xmlns:a16="http://schemas.microsoft.com/office/drawing/2014/main" id="{01346F2D-C751-4BAB-B2B6-0E0143ED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The prediction plots show the probability score produced by the trained ANN. A score near 1 means the model leans positive; a score near 0 means it leans negative.</a:t>
            </a:r>
          </a:p>
        </p:txBody>
      </p:sp>
      <p:sp>
        <p:nvSpPr>
          <p:cNvPr id="5" name="frame-predicted positive probability histogram">
            <a:extLst xmlns:a="http://schemas.openxmlformats.org/drawingml/2006/main">
              <a:ext uri="{FF2B5EF4-FFF2-40B4-BE49-F238E27FC236}">
                <a16:creationId xmlns:a16="http://schemas.microsoft.com/office/drawing/2014/main" id="{89967A93-76A3-46E9-99FE-4DA212A5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53340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3dacedbf84ac7"/>
          <a:stretch xmlns:a="http://schemas.openxmlformats.org/drawingml/2006/main"/>
        </p:blipFill>
        <p:spPr>
          <a:xfrm xmlns:a="http://schemas.openxmlformats.org/drawingml/2006/main">
            <a:off x="685800" y="2844937"/>
            <a:ext cx="5143500" cy="2835000"/>
          </a:xfrm>
          <a:prstGeom xmlns:a="http://schemas.openxmlformats.org/drawingml/2006/main" prst="rect">
            <a:avLst/>
          </a:prstGeom>
        </p:spPr>
      </p:pic>
      <p:sp>
        <p:nvSpPr>
          <p:cNvPr id="7" name="frame-model confidence box plot">
            <a:extLst xmlns:a="http://schemas.openxmlformats.org/drawingml/2006/main">
              <a:ext uri="{FF2B5EF4-FFF2-40B4-BE49-F238E27FC236}">
                <a16:creationId xmlns:a16="http://schemas.microsoft.com/office/drawing/2014/main" id="{C14AA054-96D3-454B-8A97-A4F1A97A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3340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66a6dc32e4296"/>
          <a:stretch xmlns:a="http://schemas.openxmlformats.org/drawingml/2006/main"/>
        </p:blipFill>
        <p:spPr>
          <a:xfrm xmlns:a="http://schemas.openxmlformats.org/drawingml/2006/main">
            <a:off x="6611614" y="2809875"/>
            <a:ext cx="4683773" cy="2905125"/>
          </a:xfrm>
          <a:prstGeom xmlns:a="http://schemas.openxmlformats.org/drawingml/2006/main" prst="rect">
            <a:avLst/>
          </a:prstGeom>
        </p:spPr>
      </p:pic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9797B25-2B66-448A-B23D-380AE915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A8F8B"/>
                </a:solidFill>
              </a:defRPr>
            </a:pPr>
            <a:r>
              <a:rPr sz="1050">
                <a:solidFill>
                  <a:srgbClr val="8A8F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4831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2B2BA52-AC1B-4F9C-8785-B28B6866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5D2A"/>
                </a:solidFill>
              </a:defRPr>
            </a:pPr>
            <a:r>
              <a:rPr sz="1050" b="1">
                <a:solidFill>
                  <a:srgbClr val="E85D2A"/>
                </a:solidFill>
              </a:rPr>
              <a:t>MOVIE REVIEW SENTIMENT ANALYSIS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D89D5E-0610-40B9-9E14-334F834E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1B1B"/>
                </a:solidFill>
              </a:defRPr>
            </a:pPr>
            <a:r>
              <a:rPr sz="3150" b="1">
                <a:solidFill>
                  <a:srgbClr val="1B1B1B"/>
                </a:solidFill>
              </a:rPr>
              <a:t>The prediction function returns a probability and a label.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FFF735C-DF42-4783-AE38-CE9255B6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4" name="prediction-copy">
            <a:extLst xmlns:a="http://schemas.openxmlformats.org/drawingml/2006/main">
              <a:ext uri="{FF2B5EF4-FFF2-40B4-BE49-F238E27FC236}">
                <a16:creationId xmlns:a16="http://schemas.microsoft.com/office/drawing/2014/main" id="{DAD19EB4-C8CA-4644-9AF3-86D3A665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After training, the notebook can send any review through the same cleaning, tokenization, and ANN model.</a:t>
            </a:r>
          </a:p>
        </p:txBody>
      </p:sp>
      <p:sp>
        <p:nvSpPr>
          <p:cNvPr id="5" name="prediction-table">
            <a:extLst xmlns:a="http://schemas.openxmlformats.org/drawingml/2006/main">
              <a:ext uri="{FF2B5EF4-FFF2-40B4-BE49-F238E27FC236}">
                <a16:creationId xmlns:a16="http://schemas.microsoft.com/office/drawing/2014/main" id="{508CEEB2-2306-405F-A668-630B44C1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7000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sp>
        <p:nvSpPr>
          <p:cNvPr id="6" name="pred-head-1">
            <a:extLst xmlns:a="http://schemas.openxmlformats.org/drawingml/2006/main">
              <a:ext uri="{FF2B5EF4-FFF2-40B4-BE49-F238E27FC236}">
                <a16:creationId xmlns:a16="http://schemas.microsoft.com/office/drawing/2014/main" id="{585FFFDF-C379-424D-B176-9F075D04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52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1B1B"/>
                </a:solidFill>
              </a:defRPr>
            </a:pPr>
            <a:r>
              <a:rPr sz="1350" b="1">
                <a:solidFill>
                  <a:srgbClr val="1B1B1B"/>
                </a:solidFill>
              </a:rPr>
              <a:t>Example</a:t>
            </a:r>
          </a:p>
        </p:txBody>
      </p:sp>
      <p:sp>
        <p:nvSpPr>
          <p:cNvPr id="7" name="pred-head-2">
            <a:extLst xmlns:a="http://schemas.openxmlformats.org/drawingml/2006/main">
              <a:ext uri="{FF2B5EF4-FFF2-40B4-BE49-F238E27FC236}">
                <a16:creationId xmlns:a16="http://schemas.microsoft.com/office/drawing/2014/main" id="{EA074632-322A-4762-94EF-ADBE96D5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52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1B1B"/>
                </a:solidFill>
              </a:defRPr>
            </a:pPr>
            <a:r>
              <a:rPr sz="1350" b="1">
                <a:solidFill>
                  <a:srgbClr val="1B1B1B"/>
                </a:solidFill>
              </a:rPr>
              <a:t>Positive probability</a:t>
            </a:r>
          </a:p>
        </p:txBody>
      </p:sp>
      <p:sp>
        <p:nvSpPr>
          <p:cNvPr id="8" name="pred-head-3">
            <a:extLst xmlns:a="http://schemas.openxmlformats.org/drawingml/2006/main">
              <a:ext uri="{FF2B5EF4-FFF2-40B4-BE49-F238E27FC236}">
                <a16:creationId xmlns:a16="http://schemas.microsoft.com/office/drawing/2014/main" id="{CE0B9AB0-2AC6-4F4B-85BC-A2C1280F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52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B1B1B"/>
                </a:solidFill>
              </a:defRPr>
            </a:pPr>
            <a:r>
              <a:rPr sz="1350" b="1">
                <a:solidFill>
                  <a:srgbClr val="1B1B1B"/>
                </a:solidFill>
              </a:rPr>
              <a:t>Prediction</a:t>
            </a:r>
          </a:p>
        </p:txBody>
      </p:sp>
      <p:sp>
        <p:nvSpPr>
          <p:cNvPr id="9" name="pred-row-1">
            <a:extLst xmlns:a="http://schemas.openxmlformats.org/drawingml/2006/main">
              <a:ext uri="{FF2B5EF4-FFF2-40B4-BE49-F238E27FC236}">
                <a16:creationId xmlns:a16="http://schemas.microsoft.com/office/drawing/2014/main" id="{38325173-3F28-4530-94E5-616914D6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Positive test review</a:t>
            </a:r>
          </a:p>
        </p:txBody>
      </p:sp>
      <p:sp>
        <p:nvSpPr>
          <p:cNvPr id="10" name="pred-row-2">
            <a:extLst xmlns:a="http://schemas.openxmlformats.org/drawingml/2006/main">
              <a:ext uri="{FF2B5EF4-FFF2-40B4-BE49-F238E27FC236}">
                <a16:creationId xmlns:a16="http://schemas.microsoft.com/office/drawing/2014/main" id="{90C357BE-1F7F-4884-96C2-D93FF5D9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AF92"/>
                </a:solidFill>
              </a:defRPr>
            </a:pPr>
            <a:r>
              <a:rPr sz="1650" b="1">
                <a:solidFill>
                  <a:srgbClr val="6BAF92"/>
                </a:solidFill>
              </a:rPr>
              <a:t>0.991</a:t>
            </a:r>
          </a:p>
        </p:txBody>
      </p:sp>
      <p:sp>
        <p:nvSpPr>
          <p:cNvPr id="11" name="pred-row-3">
            <a:extLst xmlns:a="http://schemas.openxmlformats.org/drawingml/2006/main">
              <a:ext uri="{FF2B5EF4-FFF2-40B4-BE49-F238E27FC236}">
                <a16:creationId xmlns:a16="http://schemas.microsoft.com/office/drawing/2014/main" id="{9316C794-EC16-4DD7-9F87-D29B3512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718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AF92"/>
                </a:solidFill>
              </a:defRPr>
            </a:pPr>
            <a:r>
              <a:rPr sz="1650" b="1">
                <a:solidFill>
                  <a:srgbClr val="6BAF92"/>
                </a:solidFill>
              </a:rPr>
              <a:t>positive</a:t>
            </a:r>
          </a:p>
        </p:txBody>
      </p:sp>
      <p:sp>
        <p:nvSpPr>
          <p:cNvPr id="12" name="bullet-905-298">
            <a:extLst xmlns:a="http://schemas.openxmlformats.org/drawingml/2006/main">
              <a:ext uri="{FF2B5EF4-FFF2-40B4-BE49-F238E27FC236}">
                <a16:creationId xmlns:a16="http://schemas.microsoft.com/office/drawing/2014/main" id="{28DB84C0-8D8F-4903-859A-3315810E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14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13" name="bullet-text-905-298">
            <a:extLst xmlns:a="http://schemas.openxmlformats.org/drawingml/2006/main">
              <a:ext uri="{FF2B5EF4-FFF2-40B4-BE49-F238E27FC236}">
                <a16:creationId xmlns:a16="http://schemas.microsoft.com/office/drawing/2014/main" id="{657673BE-1535-4A89-913D-C2D04873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384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The project uses real data, not a fake dataset.</a:t>
            </a:r>
          </a:p>
        </p:txBody>
      </p:sp>
      <p:sp>
        <p:nvSpPr>
          <p:cNvPr id="14" name="bullet-905-363">
            <a:extLst xmlns:a="http://schemas.openxmlformats.org/drawingml/2006/main">
              <a:ext uri="{FF2B5EF4-FFF2-40B4-BE49-F238E27FC236}">
                <a16:creationId xmlns:a16="http://schemas.microsoft.com/office/drawing/2014/main" id="{810371FF-178E-456F-B885-DB43B142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33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15" name="bullet-text-905-363">
            <a:extLst xmlns:a="http://schemas.openxmlformats.org/drawingml/2006/main">
              <a:ext uri="{FF2B5EF4-FFF2-40B4-BE49-F238E27FC236}">
                <a16:creationId xmlns:a16="http://schemas.microsoft.com/office/drawing/2014/main" id="{1943A0E2-47C1-49C8-9DAC-11B65E2F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4575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The PPT now shows actual notebook visuals and model results.</a:t>
            </a:r>
          </a:p>
        </p:txBody>
      </p:sp>
      <p:sp>
        <p:nvSpPr>
          <p:cNvPr id="16" name="bullet-905-428">
            <a:extLst xmlns:a="http://schemas.openxmlformats.org/drawingml/2006/main">
              <a:ext uri="{FF2B5EF4-FFF2-40B4-BE49-F238E27FC236}">
                <a16:creationId xmlns:a16="http://schemas.microsoft.com/office/drawing/2014/main" id="{152694B3-5740-4352-A257-C86740D7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52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17" name="bullet-text-905-428">
            <a:extLst xmlns:a="http://schemas.openxmlformats.org/drawingml/2006/main">
              <a:ext uri="{FF2B5EF4-FFF2-40B4-BE49-F238E27FC236}">
                <a16:creationId xmlns:a16="http://schemas.microsoft.com/office/drawing/2014/main" id="{90561A7F-D2F7-4A9B-B4A7-FFACAD24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0767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B1B1B"/>
                </a:solidFill>
              </a:defRPr>
            </a:pPr>
            <a:r>
              <a:rPr sz="1425">
                <a:solidFill>
                  <a:srgbClr val="1B1B1B"/>
                </a:solidFill>
              </a:rPr>
              <a:t>Next improvement: train on more data and tune the 0.5 threshold.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01C82FCA-E15C-4666-9797-AC355E1C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A8F8B"/>
                </a:solidFill>
              </a:defRPr>
            </a:pPr>
            <a:r>
              <a:rPr sz="1050">
                <a:solidFill>
                  <a:srgbClr val="8A8F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743592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53CEE47-AE95-42F2-83B2-DC81FEC1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85D2A"/>
                </a:solidFill>
              </a:defRPr>
            </a:pPr>
            <a:r>
              <a:rPr sz="1050" b="1">
                <a:solidFill>
                  <a:srgbClr val="E85D2A"/>
                </a:solidFill>
              </a:rPr>
              <a:t>MOVIE REVIEW SENTIMENT ANALYSIS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126FFA-79AC-4788-8190-51825DC2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1B1B"/>
                </a:solidFill>
              </a:defRPr>
            </a:pPr>
            <a:r>
              <a:rPr sz="3150" b="1">
                <a:solidFill>
                  <a:srgbClr val="1B1B1B"/>
                </a:solidFill>
              </a:rPr>
              <a:t>The project builds a complete sentiment-analysis pipeline.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73CCEEE4-4A3C-4A1E-B049-FCFEBE2D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A"/>
          </a:solidFill>
          <a:ln xmlns:a="http://schemas.openxmlformats.org/drawingml/2006/main" w="0">
            <a:solidFill>
              <a:srgbClr val="E85D2A"/>
            </a:solidFill>
            <a:prstDash val="solid"/>
          </a:ln>
        </p:spPr>
      </p:sp>
      <p:sp>
        <p:nvSpPr>
          <p:cNvPr id="4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9C25365C-1A82-4B9B-B163-295BC74A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B1B1B"/>
                </a:solidFill>
              </a:defRPr>
            </a:pPr>
            <a:r>
              <a:rPr sz="1500">
                <a:solidFill>
                  <a:srgbClr val="1B1B1B"/>
                </a:solidFill>
              </a:rPr>
              <a:t>This project starts with real IMDB review text, prepares it for a neural network, trains an ANN model, evaluates the results, and uses the trained model for prediction.</a:t>
            </a:r>
          </a:p>
        </p:txBody>
      </p:sp>
      <p:sp>
        <p:nvSpPr>
          <p:cNvPr id="5" name="metric-box-test accuracy">
            <a:extLst xmlns:a="http://schemas.openxmlformats.org/drawingml/2006/main">
              <a:ext uri="{FF2B5EF4-FFF2-40B4-BE49-F238E27FC236}">
                <a16:creationId xmlns:a16="http://schemas.microsoft.com/office/drawing/2014/main" id="{720D01F4-2B5E-4AA9-A615-E705380E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1905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sp>
        <p:nvSpPr>
          <p:cNvPr id="6" name="metric-accent-test accuracy">
            <a:extLst xmlns:a="http://schemas.openxmlformats.org/drawingml/2006/main">
              <a:ext uri="{FF2B5EF4-FFF2-40B4-BE49-F238E27FC236}">
                <a16:creationId xmlns:a16="http://schemas.microsoft.com/office/drawing/2014/main" id="{F69C241B-4685-4891-BD99-1AB24B93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F92"/>
          </a:solidFill>
          <a:ln xmlns:a="http://schemas.openxmlformats.org/drawingml/2006/main" w="0">
            <a:solidFill>
              <a:srgbClr val="6BAF92"/>
            </a:solidFill>
            <a:prstDash val="solid"/>
          </a:ln>
        </p:spPr>
      </p:sp>
      <p:sp>
        <p:nvSpPr>
          <p:cNvPr id="7" name="metric-value-test accuracy">
            <a:extLst xmlns:a="http://schemas.openxmlformats.org/drawingml/2006/main">
              <a:ext uri="{FF2B5EF4-FFF2-40B4-BE49-F238E27FC236}">
                <a16:creationId xmlns:a16="http://schemas.microsoft.com/office/drawing/2014/main" id="{89E137F0-54AA-4E39-8797-7BFEB8C9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B1B1B"/>
                </a:solidFill>
              </a:defRPr>
            </a:pPr>
            <a:r>
              <a:rPr sz="3000" b="1">
                <a:solidFill>
                  <a:srgbClr val="1B1B1B"/>
                </a:solidFill>
              </a:rPr>
              <a:t>0.736</a:t>
            </a:r>
          </a:p>
        </p:txBody>
      </p:sp>
      <p:sp>
        <p:nvSpPr>
          <p:cNvPr id="8" name="metric-label-test accuracy">
            <a:extLst xmlns:a="http://schemas.openxmlformats.org/drawingml/2006/main">
              <a:ext uri="{FF2B5EF4-FFF2-40B4-BE49-F238E27FC236}">
                <a16:creationId xmlns:a16="http://schemas.microsoft.com/office/drawing/2014/main" id="{1098C1B5-E848-4432-A3DC-24D6E29B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35F"/>
                </a:solidFill>
              </a:defRPr>
            </a:pPr>
            <a:r>
              <a:rPr sz="1200">
                <a:solidFill>
                  <a:srgbClr val="5D635F"/>
                </a:solidFill>
              </a:rPr>
              <a:t>test accuracy</a:t>
            </a:r>
          </a:p>
        </p:txBody>
      </p:sp>
      <p:sp>
        <p:nvSpPr>
          <p:cNvPr id="9" name="metric-box-precision">
            <a:extLst xmlns:a="http://schemas.openxmlformats.org/drawingml/2006/main">
              <a:ext uri="{FF2B5EF4-FFF2-40B4-BE49-F238E27FC236}">
                <a16:creationId xmlns:a16="http://schemas.microsoft.com/office/drawing/2014/main" id="{B485FC1A-7C08-408C-A07A-2BE2F33F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05125"/>
            <a:ext cx="1905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sp>
        <p:nvSpPr>
          <p:cNvPr id="10" name="metric-accent-precision">
            <a:extLst xmlns:a="http://schemas.openxmlformats.org/drawingml/2006/main">
              <a:ext uri="{FF2B5EF4-FFF2-40B4-BE49-F238E27FC236}">
                <a16:creationId xmlns:a16="http://schemas.microsoft.com/office/drawing/2014/main" id="{B42E410B-1C4D-4438-B18A-2D2586E2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05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8A8"/>
          </a:solidFill>
          <a:ln xmlns:a="http://schemas.openxmlformats.org/drawingml/2006/main" w="0">
            <a:solidFill>
              <a:srgbClr val="4C78A8"/>
            </a:solidFill>
            <a:prstDash val="solid"/>
          </a:ln>
        </p:spPr>
      </p:sp>
      <p:sp>
        <p:nvSpPr>
          <p:cNvPr id="11" name="metric-value-precision">
            <a:extLst xmlns:a="http://schemas.openxmlformats.org/drawingml/2006/main">
              <a:ext uri="{FF2B5EF4-FFF2-40B4-BE49-F238E27FC236}">
                <a16:creationId xmlns:a16="http://schemas.microsoft.com/office/drawing/2014/main" id="{537E70F7-8EDA-4773-BE98-CCF2B5AD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956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B1B1B"/>
                </a:solidFill>
              </a:defRPr>
            </a:pPr>
            <a:r>
              <a:rPr sz="3000" b="1">
                <a:solidFill>
                  <a:srgbClr val="1B1B1B"/>
                </a:solidFill>
              </a:rPr>
              <a:t>0.899</a:t>
            </a:r>
          </a:p>
        </p:txBody>
      </p:sp>
      <p:sp>
        <p:nvSpPr>
          <p:cNvPr id="12" name="metric-label-precision">
            <a:extLst xmlns:a="http://schemas.openxmlformats.org/drawingml/2006/main">
              <a:ext uri="{FF2B5EF4-FFF2-40B4-BE49-F238E27FC236}">
                <a16:creationId xmlns:a16="http://schemas.microsoft.com/office/drawing/2014/main" id="{85ADAE31-F213-4066-900C-89919502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19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35F"/>
                </a:solidFill>
              </a:defRPr>
            </a:pPr>
            <a:r>
              <a:rPr sz="1200">
                <a:solidFill>
                  <a:srgbClr val="5D635F"/>
                </a:solidFill>
              </a:rPr>
              <a:t>precision</a:t>
            </a:r>
          </a:p>
        </p:txBody>
      </p:sp>
      <p:sp>
        <p:nvSpPr>
          <p:cNvPr id="13" name="metric-box-F1 score">
            <a:extLst xmlns:a="http://schemas.openxmlformats.org/drawingml/2006/main">
              <a:ext uri="{FF2B5EF4-FFF2-40B4-BE49-F238E27FC236}">
                <a16:creationId xmlns:a16="http://schemas.microsoft.com/office/drawing/2014/main" id="{53EB98B2-F190-4A39-814A-4CE0EFEE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05125"/>
            <a:ext cx="1905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sp>
        <p:nvSpPr>
          <p:cNvPr id="14" name="metric-accent-F1 score">
            <a:extLst xmlns:a="http://schemas.openxmlformats.org/drawingml/2006/main">
              <a:ext uri="{FF2B5EF4-FFF2-40B4-BE49-F238E27FC236}">
                <a16:creationId xmlns:a16="http://schemas.microsoft.com/office/drawing/2014/main" id="{D0AA6555-6EE7-4BBB-94B9-4FEAF2C2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05125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2D"/>
          </a:solidFill>
          <a:ln xmlns:a="http://schemas.openxmlformats.org/drawingml/2006/main" w="0">
            <a:solidFill>
              <a:srgbClr val="D39A2D"/>
            </a:solidFill>
            <a:prstDash val="solid"/>
          </a:ln>
        </p:spPr>
      </p:sp>
      <p:sp>
        <p:nvSpPr>
          <p:cNvPr id="15" name="metric-value-F1 score">
            <a:extLst xmlns:a="http://schemas.openxmlformats.org/drawingml/2006/main">
              <a:ext uri="{FF2B5EF4-FFF2-40B4-BE49-F238E27FC236}">
                <a16:creationId xmlns:a16="http://schemas.microsoft.com/office/drawing/2014/main" id="{C83A1343-62A4-4F28-B573-FFB7A790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956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B1B1B"/>
                </a:solidFill>
              </a:defRPr>
            </a:pPr>
            <a:r>
              <a:rPr sz="3000" b="1">
                <a:solidFill>
                  <a:srgbClr val="1B1B1B"/>
                </a:solidFill>
              </a:rPr>
              <a:t>0.669</a:t>
            </a:r>
          </a:p>
        </p:txBody>
      </p:sp>
      <p:sp>
        <p:nvSpPr>
          <p:cNvPr id="16" name="metric-label-F1 score">
            <a:extLst xmlns:a="http://schemas.openxmlformats.org/drawingml/2006/main">
              <a:ext uri="{FF2B5EF4-FFF2-40B4-BE49-F238E27FC236}">
                <a16:creationId xmlns:a16="http://schemas.microsoft.com/office/drawing/2014/main" id="{4191D262-A46A-4BA3-8E93-F65CDC06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19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635F"/>
                </a:solidFill>
              </a:defRPr>
            </a:pPr>
            <a:r>
              <a:rPr sz="1200">
                <a:solidFill>
                  <a:srgbClr val="5D635F"/>
                </a:solidFill>
              </a:rPr>
              <a:t>F1 score</a:t>
            </a:r>
          </a:p>
        </p:txBody>
      </p:sp>
      <p:sp>
        <p:nvSpPr>
          <p:cNvPr id="17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84CCFBED-3CD6-4716-A56B-9ADAA529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14625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8D2"/>
            </a:solidFill>
            <a:prstDash val="solid"/>
          </a:ln>
        </p:spPr>
      </p:sp>
      <p:sp>
        <p:nvSpPr>
          <p:cNvPr id="18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7B465561-3E54-4470-B036-FA106CAA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B1B1B"/>
                </a:solidFill>
              </a:defRPr>
            </a:pPr>
            <a:r>
              <a:rPr sz="1950" b="1">
                <a:solidFill>
                  <a:srgbClr val="1B1B1B"/>
                </a:solidFill>
              </a:rPr>
              <a:t>Conclusion</a:t>
            </a:r>
          </a:p>
        </p:txBody>
      </p:sp>
      <p:sp>
        <p:nvSpPr>
          <p:cNvPr id="19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C835A002-860D-449E-A51B-4FC37230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24250"/>
            <a:ext cx="2333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B1B1B"/>
                </a:solidFill>
              </a:defRPr>
            </a:pPr>
            <a:r>
              <a:rPr sz="1350">
                <a:solidFill>
                  <a:srgbClr val="1B1B1B"/>
                </a:solidFill>
              </a:rPr>
              <a:t>The ANN gives a working baseline for positive and negative review classification. The results are useful, and performance can improve further by training on more reviews and testing stronger text models.</a:t>
            </a:r>
          </a:p>
        </p:txBody>
      </p:sp>
      <p:sp>
        <p:nvSpPr>
          <p:cNvPr id="20" name="conclusion-next">
            <a:extLst xmlns:a="http://schemas.openxmlformats.org/drawingml/2006/main">
              <a:ext uri="{FF2B5EF4-FFF2-40B4-BE49-F238E27FC236}">
                <a16:creationId xmlns:a16="http://schemas.microsoft.com/office/drawing/2014/main" id="{91B5E03D-CBD2-4FB3-A103-3DDECB7B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B1B1B"/>
                </a:solidFill>
              </a:defRPr>
            </a:pPr>
            <a:r>
              <a:rPr sz="1500" b="1">
                <a:solidFill>
                  <a:srgbClr val="1B1B1B"/>
                </a:solidFill>
              </a:rPr>
              <a:t>Future scope: full dataset training, better threshold tuning, LSTM/GRU/CNN comparison, or a simple web app.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C811F83D-D625-465A-BBC8-D5633A2D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8A8F8B"/>
                </a:solidFill>
              </a:defRPr>
            </a:pPr>
            <a:r>
              <a:rPr sz="1050">
                <a:solidFill>
                  <a:srgbClr val="8A8F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67558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2026-07-06T10:59:23.7730000Z</dcterms:created>
  <dcterms:modified xsi:type="dcterms:W3CDTF">2026-07-06T10:59:23.7740000Z</dcterms:modified>
</coreProperties>
</file>
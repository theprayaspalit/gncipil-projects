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(real only)</c:v>
                </c:pt>
              </c:strCache>
            </c:strRef>
          </c:tx>
          <c:spPr>
            <a:solidFill>
              <a:srgbClr val="5A647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AUC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0.95699999999999996</c:v>
                </c:pt>
                <c:pt idx="1">
                  <c:v>0.75700000000000001</c:v>
                </c:pt>
                <c:pt idx="2">
                  <c:v>0.84499999999999997</c:v>
                </c:pt>
                <c:pt idx="3">
                  <c:v>0.96699999999999997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6-4789-B622-9A1612346B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Augmented (real+synthetic)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AUC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</c:v>
                </c:pt>
                <c:pt idx="1">
                  <c:v>0.82399999999999995</c:v>
                </c:pt>
                <c:pt idx="2">
                  <c:v>0.82699999999999996</c:v>
                </c:pt>
                <c:pt idx="3">
                  <c:v>0.96899999999999997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26-4789-B622-9A1612346B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04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82296" cy="82296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188720"/>
            <a:ext cx="45720" cy="45720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" cy="54864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640080"/>
            <a:ext cx="73152" cy="73152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1280160"/>
            <a:ext cx="45720" cy="45720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1737360"/>
            <a:ext cx="54864" cy="54864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6035040"/>
            <a:ext cx="64008" cy="64008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394960"/>
            <a:ext cx="45720" cy="45720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0" y="5760720"/>
            <a:ext cx="82296" cy="82296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04320" y="5212080"/>
            <a:ext cx="45720" cy="45720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•  WEEK-6 AI-ML INTERNSHIP  •  FINANCE DOMAIN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Fraud Detection Using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Transactions Generated by Gen AI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test on the real Kaggle dataset — including when the technique does, and doesn't, clearly help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27432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548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Prayas Palit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 Science &amp; AI Intern
</a:t>
            </a: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Provider: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Next Consulting India Pvt. Ltd. (GNCIPL)
</a:t>
            </a: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Kaggle Credit Card Fraud dataset (284,807 transactions)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a needle in a 284,807-transaction haystack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0.173%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fraud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577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fraud-to-legitimate ratio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fraud rows available for training</a:t>
            </a:r>
            <a:endParaRPr lang="en-US" sz="1300" dirty="0"/>
          </a:p>
        </p:txBody>
      </p:sp>
      <p:pic>
        <p:nvPicPr>
          <p:cNvPr id="10" name="Image 0" descr="/home/claude/Synthetic-Fraud-AI-Project/Data/plots/eda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4160520" cy="31181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97680" y="47548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class distribution, log scale (492 fraud / 284,807 total)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732520" y="173736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1D3557"/>
          </a:solidFill>
          <a:ln/>
        </p:spPr>
      </p:sp>
      <p:sp>
        <p:nvSpPr>
          <p:cNvPr id="13" name="Text 10"/>
          <p:cNvSpPr/>
          <p:nvPr/>
        </p:nvSpPr>
        <p:spPr>
          <a:xfrm>
            <a:off x="90068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06840" y="23317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doesn't just test whether Gen-AI augmentation helps — it tests WHEN it helps, honestly.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Fraud Detection Using Synthetic Transactions  |  GNCIPL AI-ML Internship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at every stage — the generator and the classifier both stay blind to test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48840"/>
            <a:ext cx="640080" cy="64008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703320"/>
            <a:ext cx="22951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split into train/test before anything else happens. Test set: 85,443 rows, 148 fraud.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3420" y="21488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5034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39312" y="29718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Generator on Training Fraud Only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75888" y="3703320"/>
            <a:ext cx="22951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Copula learns from the 344 training-split fraud rows — never the 148 held-out 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29500" y="2148840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295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65392" y="29718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Synthetic Fraud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01968" y="3703320"/>
            <a:ext cx="22951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new, statistically realistic fraud transactions — generated, not copied.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0" y="18745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355580" y="21488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103555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91472" y="29718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&amp; Evaluate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528048" y="3703320"/>
            <a:ext cx="229514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(train) + synthetic train the classifier; evaluation always uses the untouched real test set.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Fraud Detection Using Synthetic Transactions  |  GNCIPL AI-ML Internship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 Real Trade-Off, Not a Clean Win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hyperparameters — evaluated on an identical, 100%-real, held-out test set</a:t>
            </a:r>
            <a:endParaRPr lang="en-US" sz="14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2A9D8F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828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+6.8 pp recall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955280" y="260604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10 more of 148 real frauds (112 → 122) — but at a cost, see right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3886200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1D3557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4114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–12.7 pp precision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955280" y="489204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actually dips slightly (−1.8 pts) — this is a trade-off, not a clean win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Fraud Detection Using Synthetic Transactions  |  GNCIPL AI-ML Internship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Fairer Comparison: Matched Thresholds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default thresholds can mislead — a model tuned toward recall will show higher recall by construction</a:t>
            </a:r>
            <a:endParaRPr lang="en-US" sz="1400" dirty="0"/>
          </a:p>
        </p:txBody>
      </p:sp>
      <p:pic>
        <p:nvPicPr>
          <p:cNvPr id="4" name="Image 0" descr="/home/claude/Synthetic-Fraud-AI-Project/Data/plots/eval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160520" cy="3840480"/>
          </a:xfrm>
          <a:prstGeom prst="rect">
            <a:avLst/>
          </a:prstGeom>
        </p:spPr>
      </p:pic>
      <p:pic>
        <p:nvPicPr>
          <p:cNvPr id="5" name="Image 1" descr="/home/claude/Synthetic-Fraud-AI-Project/Data/plots/eval_pr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63040"/>
            <a:ext cx="416052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1160" y="1463040"/>
            <a:ext cx="2377440" cy="3840480"/>
          </a:xfrm>
          <a:prstGeom prst="roundRect">
            <a:avLst>
              <a:gd name="adj" fmla="val 3077"/>
            </a:avLst>
          </a:prstGeom>
          <a:solidFill>
            <a:srgbClr val="FFF7E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4640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5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matched precision/recall: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9464040" y="224028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3557"/>
                </a:solidFill>
              </a:rPr>
              <a:t>Recall @ P=0.957:
</a:t>
            </a:r>
            <a:r>
              <a:rPr lang="en-US" sz="1050" dirty="0">
                <a:solidFill>
                  <a:srgbClr val="1B1F27"/>
                </a:solidFill>
              </a:rPr>
              <a:t>Base 0.757  |  Aug 0.716
</a:t>
            </a:r>
            <a:r>
              <a:rPr lang="en-US" sz="1050" b="1" dirty="0">
                <a:solidFill>
                  <a:srgbClr val="1D3557"/>
                </a:solidFill>
              </a:rPr>
              <a:t>Precision @ R=0.757:
</a:t>
            </a:r>
            <a:r>
              <a:rPr lang="en-US" sz="1050" dirty="0">
                <a:solidFill>
                  <a:srgbClr val="1B1F27"/>
                </a:solidFill>
              </a:rPr>
              <a:t>Base 0.957  |  Aug 0.913
</a:t>
            </a:r>
            <a:r>
              <a:rPr lang="en-US" sz="1050" b="1" dirty="0">
                <a:solidFill>
                  <a:srgbClr val="1D3557"/>
                </a:solidFill>
              </a:rPr>
              <a:t>Average Precision:
</a:t>
            </a:r>
            <a:r>
              <a:rPr lang="en-US" sz="1050" dirty="0">
                <a:solidFill>
                  <a:srgbClr val="1B1F27"/>
                </a:solidFill>
              </a:rPr>
              <a:t>Base 0.822  |  Aug 0.819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finding: at matched operating points, the two models are essentially a wash — marginally favoring the baseline. Augmentation mainly shifted the default threshold's position, not the model's underlying discriminative power.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Fraud Detection Using Synthetic Transactions  |  GNCIPL AI-ML Internship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Insight: Scarcity Changes Everything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technique, same pipeline — tested under two real-data-scarcity conditions</a:t>
            </a:r>
            <a:endParaRPr lang="en-US" sz="1500" dirty="0"/>
          </a:p>
        </p:txBody>
      </p:sp>
      <p:pic>
        <p:nvPicPr>
          <p:cNvPr id="4" name="Image 0" descr="/home/claude/Synthetic-Fraud-AI-Project/Data/plots/scarcit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8503920" cy="3218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281160" y="1508760"/>
            <a:ext cx="2377440" cy="4572000"/>
          </a:xfrm>
          <a:prstGeom prst="roundRect">
            <a:avLst>
              <a:gd name="adj" fmla="val 3077"/>
            </a:avLst>
          </a:prstGeom>
          <a:solidFill>
            <a:srgbClr val="1D3557"/>
          </a:solidFill>
          <a:ln/>
        </p:spPr>
      </p:sp>
      <p:sp>
        <p:nvSpPr>
          <p:cNvPr id="6" name="Text 3"/>
          <p:cNvSpPr/>
          <p:nvPr/>
        </p:nvSpPr>
        <p:spPr>
          <a:xfrm>
            <a:off x="946404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rows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46404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scarcity: recall +44.1 pts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464040" y="2880360"/>
            <a:ext cx="18288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6404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344 rows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464040" y="3474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data: recall +6.8 pts, F1 roughly flat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89204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D3557"/>
                </a:solidFill>
              </a:rPr>
              <a:t>Practical rule of thumb:  </a:t>
            </a:r>
            <a:r>
              <a:rPr lang="en-US" sz="1300" dirty="0">
                <a:solidFill>
                  <a:srgbClr val="1B1F27"/>
                </a:solidFill>
              </a:rPr>
              <a:t>reach for synthetic augmentation aggressively when real examples number in the tens. Once real examples number in the hundreds, validate carefully before trusting it — the benefit may be marginal.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Fraud Detection Using Synthetic Transactions  |  GNCIPL AI-ML Internship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Augmented Model Actually Catches</a:t>
            </a:r>
            <a:endParaRPr lang="en-US" sz="2800" dirty="0"/>
          </a:p>
        </p:txBody>
      </p:sp>
      <p:pic>
        <p:nvPicPr>
          <p:cNvPr id="3" name="Image 0" descr="/home/claude/Synthetic-Fraud-AI-Project/Data/plots/synth_pca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4892040" cy="4233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532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fraud (orange) lands inside the real fraud cluster (red), not scattered noise.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9320" y="1280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 (85,443 real transactions, 148 fraud)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8932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(real only)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194560"/>
          <a:ext cx="2743200" cy="12344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Non-Fraud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0068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(real+synthetic)</a:t>
            </a:r>
            <a:endParaRPr lang="en-US" sz="12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06840" y="2194560"/>
          <a:ext cx="2743200" cy="12344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Non-Fraud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989320" y="397764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FFF7E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217920" y="4114800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1560C"/>
                </a:solidFill>
              </a:rPr>
              <a:t>Reading it: </a:t>
            </a:r>
            <a:r>
              <a:rPr lang="en-US" sz="1200" dirty="0">
                <a:solidFill>
                  <a:srgbClr val="1B1F27"/>
                </a:solidFill>
              </a:rPr>
              <a:t>10 more real frauds caught (122 vs 112), but 20 more false alarms raised out of ~85,000 legitimate transactions. Whether that trade is worth it depends on the business's actual cost of a false positive vs. a missed fraud — tune the threshold accordingly rather than assuming augmentation is a free win.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Fraud Detection Using Synthetic Transactions  |  GNCIPL AI-ML Internship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128016" cy="868680"/>
          </a:xfrm>
          <a:prstGeom prst="roundRect">
            <a:avLst/>
          </a:prstGeom>
          <a:solidFill>
            <a:srgbClr val="1D355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83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WHEN to Use This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early on, with little real fraud history. Re-evaluate — don't assume — as real data accumulates.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81928" y="15544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6248" y="1828800"/>
            <a:ext cx="128016" cy="868680"/>
          </a:xfrm>
          <a:prstGeom prst="round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6830568" y="1783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Upside Where It Counts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30568" y="24231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catches 10 more real frauds per 148 — useful if a missed fraud costs more than a false alarm.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4434840"/>
            <a:ext cx="128016" cy="868680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Compliance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97280" y="50292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generation reduces reliance on additional real, sensitive customer records either way.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81928" y="41605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56248" y="4434840"/>
            <a:ext cx="128016" cy="868680"/>
          </a:xfrm>
          <a:prstGeom prst="round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30568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a Costly False Conclusion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30568" y="50292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Rigorous, leak-free, matched-threshold testing prevented reporting a misleadingly rosy result.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Fraud Detection Using Synthetic Transactions  |  GNCIPL AI-ML Internship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5074920"/>
          </a:xfrm>
          <a:prstGeom prst="roundRect">
            <a:avLst>
              <a:gd name="adj" fmla="val 1441"/>
            </a:avLst>
          </a:prstGeom>
          <a:solidFill>
            <a:srgbClr val="FBEAE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Copula used in place of CTGAN — worth retesting with true CTGAN given how close the moderate-data result was
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depth capped at 16 for training speed on a single-core sandbox
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generative technique tested; marginal-fit outliers were found and corrected (V8)
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Moderate-data scarcity finding is a single dataset/run — not yet confirmed elsewhere
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drops alongside the recall gain at the default threshold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81928" y="1417320"/>
            <a:ext cx="5349240" cy="5074920"/>
          </a:xfrm>
          <a:prstGeom prst="roundRect">
            <a:avLst>
              <a:gd name="adj" fmla="val 1441"/>
            </a:avLst>
          </a:prstGeom>
          <a:solidFill>
            <a:srgbClr val="DCEEEA"/>
          </a:solidFill>
          <a:ln/>
        </p:spPr>
      </p:sp>
      <p:sp>
        <p:nvSpPr>
          <p:cNvPr id="7" name="Text 5"/>
          <p:cNvSpPr/>
          <p:nvPr/>
        </p:nvSpPr>
        <p:spPr>
          <a:xfrm>
            <a:off x="6601968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01968" y="21031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augmentation confidently under severe scarcity (tens of real rows); validate carefully once real examples reach the hundreds
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true CTGAN/TVAE (via sdv) against Gaussian Copula where disk/GPU budget allows
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 to the real cost of a false positive vs. a missed fraud
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fit generative models on the training split only — never on held-out data
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matched-threshold and PR-AUC results, not just default-threshold metrics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Fraud Detection Using Synthetic Transactions  |  GNCIPL AI-ML Internship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64008" cy="64008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731520"/>
            <a:ext cx="54864" cy="54864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943600"/>
            <a:ext cx="45720" cy="45720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5852160"/>
            <a:ext cx="73152" cy="73152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1371600"/>
            <a:ext cx="45720" cy="45720"/>
          </a:xfrm>
          <a:prstGeom prst="ellipse">
            <a:avLst/>
          </a:prstGeom>
          <a:solidFill>
            <a:srgbClr val="F4A261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219456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rigorously on the genuine Kaggle dataset, Gaussian-Copula augmentation gave a modest, mixed result at 344 real fraud examples (+6.8 pts recall, roughly flat F1, essentially unchanged Average Precision) — a real trade-off, not a clean win.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valuable finding: comparing against an earlier severe-scarcity run (80 real rows, +44.1 pts recall) shows this technique's benefit depends heavily on how much real data already exists — concrete, evidence-based guidance on when to actually use it.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95528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55280" y="2359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transactions analyzed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2971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Leak-free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955280" y="3593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pipeline stage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regimes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955280" y="4828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severe vs. moderate scarcity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1110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Prayas Palit</cp:lastModifiedBy>
  <cp:revision>2</cp:revision>
  <dcterms:created xsi:type="dcterms:W3CDTF">2026-07-15T06:09:48Z</dcterms:created>
  <dcterms:modified xsi:type="dcterms:W3CDTF">2026-07-18T17:42:04Z</dcterms:modified>
</cp:coreProperties>
</file>
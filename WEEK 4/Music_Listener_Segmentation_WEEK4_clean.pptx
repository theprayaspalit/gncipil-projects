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78F11D-B2BE-49C2-834B-7A50C7E9D4B7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0">
                <a:solidFill>
                  <a:srgbClr val="111111"/>
                </a:solidFill>
              </a:defRPr>
            </a:pPr>
            <a:r>
              <a:rPr sz="4200" b="0">
                <a:solidFill>
                  <a:srgbClr val="111111"/>
                </a:solidFill>
              </a:rPr>
              <a:t>Music Listener</a:t>
            </a:r>
          </a:p>
          <a:p>
            <a:pPr algn="l">
              <a:defRPr sz="4200" b="0">
                <a:solidFill>
                  <a:srgbClr val="111111"/>
                </a:solidFill>
              </a:defRPr>
            </a:pPr>
            <a:r>
              <a:rPr sz="4200" b="0">
                <a:solidFill>
                  <a:srgbClr val="111111"/>
                </a:solidFill>
              </a:rPr>
              <a:t>Segmentation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8FCC42-6C89-405A-A244-FDD3FAF3A23C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7048500" cy="20617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</a:defRPr>
            </a:pPr>
            <a:r>
              <a:rPr sz="1725" b="0" dirty="0">
                <a:solidFill>
                  <a:srgbClr val="555555"/>
                </a:solidFill>
              </a:rPr>
              <a:t>Week 4 unsupervised learning and model tuning project</a:t>
            </a:r>
            <a:endParaRPr lang="en-IN" sz="1725" b="0" dirty="0">
              <a:solidFill>
                <a:srgbClr val="555555"/>
              </a:solidFill>
            </a:endParaRPr>
          </a:p>
          <a:p>
            <a:pPr algn="l">
              <a:defRPr sz="1725" b="0">
                <a:solidFill>
                  <a:srgbClr val="555555"/>
                </a:solidFill>
              </a:defRPr>
            </a:pPr>
            <a:r>
              <a:rPr lang="en-IN" sz="1725" dirty="0">
                <a:solidFill>
                  <a:srgbClr val="555555"/>
                </a:solidFill>
              </a:rPr>
              <a:t>Name- Prayas Palit</a:t>
            </a:r>
          </a:p>
          <a:p>
            <a:pPr algn="l">
              <a:defRPr sz="1725" b="0">
                <a:solidFill>
                  <a:srgbClr val="555555"/>
                </a:solidFill>
              </a:defRPr>
            </a:pPr>
            <a:r>
              <a:rPr lang="en-IN" sz="1725" b="0" dirty="0">
                <a:solidFill>
                  <a:srgbClr val="555555"/>
                </a:solidFill>
              </a:rPr>
              <a:t>Institute</a:t>
            </a:r>
            <a:r>
              <a:rPr lang="en-IN" sz="1725" dirty="0">
                <a:solidFill>
                  <a:srgbClr val="555555"/>
                </a:solidFill>
              </a:rPr>
              <a:t>- National Institute of Technology, Sikkim</a:t>
            </a:r>
          </a:p>
          <a:p>
            <a:pPr algn="l">
              <a:defRPr sz="1725" b="0">
                <a:solidFill>
                  <a:srgbClr val="555555"/>
                </a:solidFill>
              </a:defRPr>
            </a:pPr>
            <a:r>
              <a:rPr lang="en-IN" sz="1725" b="0" dirty="0">
                <a:solidFill>
                  <a:srgbClr val="555555"/>
                </a:solidFill>
              </a:rPr>
              <a:t>GNPICIL</a:t>
            </a:r>
            <a:endParaRPr sz="1725" b="0" dirty="0">
              <a:solidFill>
                <a:srgbClr val="55555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869A3-A1EB-4EF8-9FBC-5462A8322CC7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19812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62989-7D3A-42BF-BB71-CB9B83263464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Goal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22206-B9B3-4EFD-9E1E-9FC4A3DD70DB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804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Use play counts to create listener taste segments with t-SNE, K-Means, and silhouette evaluation.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6C774C-529A-4F17-81CB-3FC611B71377}"/>
              </a:ext>
            </a:extLst>
          </p:cNvPr>
          <p:cNvSpPr>
            <a:spLocks noGrp="1"/>
          </p:cNvSpPr>
          <p:nvPr/>
        </p:nvSpPr>
        <p:spPr>
          <a:xfrm>
            <a:off x="8782050" y="537210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Final result: 8 taste segments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DD763-2A82-4F4E-81BB-FC9D7D3D947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258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3E7D328-E169-44F1-8A61-FC7073DC6B3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Project topic checklist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0B4D7-B1DE-4500-B390-8CA0F9A1B7AC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slide matches the Music Listener Segmentation topic row.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BFFA9-ADB0-43E3-81F5-87112361CADD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78453F-7F3F-4C90-92D4-B7E110CC4706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3143250" cy="390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DC8214-98D3-42DB-BE45-3CFB7FAB0258}"/>
              </a:ext>
            </a:extLst>
          </p:cNvPr>
          <p:cNvSpPr>
            <a:spLocks noGrp="1"/>
          </p:cNvSpPr>
          <p:nvPr/>
        </p:nvSpPr>
        <p:spPr>
          <a:xfrm>
            <a:off x="876300" y="16859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8CE45-9EE7-4441-BCB7-121275A38D33}"/>
              </a:ext>
            </a:extLst>
          </p:cNvPr>
          <p:cNvSpPr>
            <a:spLocks noGrp="1"/>
          </p:cNvSpPr>
          <p:nvPr/>
        </p:nvSpPr>
        <p:spPr>
          <a:xfrm>
            <a:off x="3933825" y="1619250"/>
            <a:ext cx="7143750" cy="390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2E9772-1718-49F2-BF21-759F7F4FA391}"/>
              </a:ext>
            </a:extLst>
          </p:cNvPr>
          <p:cNvSpPr>
            <a:spLocks noGrp="1"/>
          </p:cNvSpPr>
          <p:nvPr/>
        </p:nvSpPr>
        <p:spPr>
          <a:xfrm>
            <a:off x="4029075" y="168592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Implemented in project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22E81-AF5B-4ACF-A469-5936A61597C9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31432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C3BF38-3DFA-4CB0-9FDC-0FD022999BEB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Project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3B2B40-C6F7-43B6-942D-8FF6A96EE01B}"/>
              </a:ext>
            </a:extLst>
          </p:cNvPr>
          <p:cNvSpPr>
            <a:spLocks noGrp="1"/>
          </p:cNvSpPr>
          <p:nvPr/>
        </p:nvSpPr>
        <p:spPr>
          <a:xfrm>
            <a:off x="3933825" y="2019300"/>
            <a:ext cx="71437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5C37C-3180-4AE9-B7F4-1FBD0A9733B1}"/>
              </a:ext>
            </a:extLst>
          </p:cNvPr>
          <p:cNvSpPr>
            <a:spLocks noGrp="1"/>
          </p:cNvSpPr>
          <p:nvPr/>
        </p:nvSpPr>
        <p:spPr>
          <a:xfrm>
            <a:off x="4029075" y="208597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Music Listener Segmentation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027E8-5A88-441D-B8BC-7C9F07ACA1D1}"/>
              </a:ext>
            </a:extLst>
          </p:cNvPr>
          <p:cNvSpPr>
            <a:spLocks noGrp="1"/>
          </p:cNvSpPr>
          <p:nvPr/>
        </p:nvSpPr>
        <p:spPr>
          <a:xfrm>
            <a:off x="781050" y="2419350"/>
            <a:ext cx="31432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06EF2-F024-4B51-AF47-E5E942B34EA5}"/>
              </a:ext>
            </a:extLst>
          </p:cNvPr>
          <p:cNvSpPr>
            <a:spLocks noGrp="1"/>
          </p:cNvSpPr>
          <p:nvPr/>
        </p:nvSpPr>
        <p:spPr>
          <a:xfrm>
            <a:off x="876300" y="24860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Domain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A7A071-0803-4077-8EEB-B16BA33A08DE}"/>
              </a:ext>
            </a:extLst>
          </p:cNvPr>
          <p:cNvSpPr>
            <a:spLocks noGrp="1"/>
          </p:cNvSpPr>
          <p:nvPr/>
        </p:nvSpPr>
        <p:spPr>
          <a:xfrm>
            <a:off x="3933825" y="2419350"/>
            <a:ext cx="71437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B29F0-F70F-40D6-98BC-4998B15DDF66}"/>
              </a:ext>
            </a:extLst>
          </p:cNvPr>
          <p:cNvSpPr>
            <a:spLocks noGrp="1"/>
          </p:cNvSpPr>
          <p:nvPr/>
        </p:nvSpPr>
        <p:spPr>
          <a:xfrm>
            <a:off x="4029075" y="248602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MusicTech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BE5C7-6921-42B2-BA42-054BE3716835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31432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B26B6E-9B29-435E-8AF8-6558DE838E94}"/>
              </a:ext>
            </a:extLst>
          </p:cNvPr>
          <p:cNvSpPr>
            <a:spLocks noGrp="1"/>
          </p:cNvSpPr>
          <p:nvPr/>
        </p:nvSpPr>
        <p:spPr>
          <a:xfrm>
            <a:off x="876300" y="288607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Data Type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5A48F-47A2-467D-9C72-E6297F9D0F5A}"/>
              </a:ext>
            </a:extLst>
          </p:cNvPr>
          <p:cNvSpPr>
            <a:spLocks noGrp="1"/>
          </p:cNvSpPr>
          <p:nvPr/>
        </p:nvSpPr>
        <p:spPr>
          <a:xfrm>
            <a:off x="3933825" y="2819400"/>
            <a:ext cx="71437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F80874-9D6F-462A-8069-714F789815D5}"/>
              </a:ext>
            </a:extLst>
          </p:cNvPr>
          <p:cNvSpPr>
            <a:spLocks noGrp="1"/>
          </p:cNvSpPr>
          <p:nvPr/>
        </p:nvSpPr>
        <p:spPr>
          <a:xfrm>
            <a:off x="4029075" y="288607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Play counts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B82F86-26B5-420D-955C-190EEB5EBFC1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31432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87A8AF-DE3E-40BA-893B-D21446587F18}"/>
              </a:ext>
            </a:extLst>
          </p:cNvPr>
          <p:cNvSpPr>
            <a:spLocks noGrp="1"/>
          </p:cNvSpPr>
          <p:nvPr/>
        </p:nvSpPr>
        <p:spPr>
          <a:xfrm>
            <a:off x="876300" y="32861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Preprocessing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7E65FD-6444-4DFA-82ED-24003ADC753D}"/>
              </a:ext>
            </a:extLst>
          </p:cNvPr>
          <p:cNvSpPr>
            <a:spLocks noGrp="1"/>
          </p:cNvSpPr>
          <p:nvPr/>
        </p:nvSpPr>
        <p:spPr>
          <a:xfrm>
            <a:off x="3933825" y="3219450"/>
            <a:ext cx="71437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421532-CF7A-4267-B4B9-543752A3B9E1}"/>
              </a:ext>
            </a:extLst>
          </p:cNvPr>
          <p:cNvSpPr>
            <a:spLocks noGrp="1"/>
          </p:cNvSpPr>
          <p:nvPr/>
        </p:nvSpPr>
        <p:spPr>
          <a:xfrm>
            <a:off x="4029075" y="328612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Normalize and rank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2BE8AB-F89F-4700-9D6B-E01388369631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31432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D2344B-2FF3-49DF-AA82-3F7656E4F28B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Dimensionality Reduction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355F2B-C77F-475B-AA22-D3E5629F9106}"/>
              </a:ext>
            </a:extLst>
          </p:cNvPr>
          <p:cNvSpPr>
            <a:spLocks noGrp="1"/>
          </p:cNvSpPr>
          <p:nvPr/>
        </p:nvSpPr>
        <p:spPr>
          <a:xfrm>
            <a:off x="3933825" y="3619500"/>
            <a:ext cx="71437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48F6E1-98F2-4F73-B121-3EBF8F8BC990}"/>
              </a:ext>
            </a:extLst>
          </p:cNvPr>
          <p:cNvSpPr>
            <a:spLocks noGrp="1"/>
          </p:cNvSpPr>
          <p:nvPr/>
        </p:nvSpPr>
        <p:spPr>
          <a:xfrm>
            <a:off x="4029075" y="368617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t-SNE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F2622F-F23F-4110-BB33-C8A7DF81C1A2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31432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3B7414-703C-4992-9312-F88C028316E8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Clustering Method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EB420E-DADB-429E-92FF-1C4318AC1F07}"/>
              </a:ext>
            </a:extLst>
          </p:cNvPr>
          <p:cNvSpPr>
            <a:spLocks noGrp="1"/>
          </p:cNvSpPr>
          <p:nvPr/>
        </p:nvSpPr>
        <p:spPr>
          <a:xfrm>
            <a:off x="3933825" y="4019550"/>
            <a:ext cx="71437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DDDFCA-8184-4F5A-9E72-84DA0FAC2E3B}"/>
              </a:ext>
            </a:extLst>
          </p:cNvPr>
          <p:cNvSpPr>
            <a:spLocks noGrp="1"/>
          </p:cNvSpPr>
          <p:nvPr/>
        </p:nvSpPr>
        <p:spPr>
          <a:xfrm>
            <a:off x="4029075" y="408622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K-Means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844AC-27AB-4EA7-A47C-0A5ED4947D3A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31432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40FE82-1A2A-4070-9EA9-3C10221B61EB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Evaluation Metric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DC3B60-0C1B-482C-A6FA-7BB69862500F}"/>
              </a:ext>
            </a:extLst>
          </p:cNvPr>
          <p:cNvSpPr>
            <a:spLocks noGrp="1"/>
          </p:cNvSpPr>
          <p:nvPr/>
        </p:nvSpPr>
        <p:spPr>
          <a:xfrm>
            <a:off x="3933825" y="4419600"/>
            <a:ext cx="71437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57826-1BED-4C62-BD15-D577FFF08E6A}"/>
              </a:ext>
            </a:extLst>
          </p:cNvPr>
          <p:cNvSpPr>
            <a:spLocks noGrp="1"/>
          </p:cNvSpPr>
          <p:nvPr/>
        </p:nvSpPr>
        <p:spPr>
          <a:xfrm>
            <a:off x="4029075" y="448627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Silhouette score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5E82CA-3577-4CFD-8B76-4A99052B5465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31432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10E3A2-C2F7-40A8-8443-2FD69BB0635A}"/>
              </a:ext>
            </a:extLst>
          </p:cNvPr>
          <p:cNvSpPr>
            <a:spLocks noGrp="1"/>
          </p:cNvSpPr>
          <p:nvPr/>
        </p:nvSpPr>
        <p:spPr>
          <a:xfrm>
            <a:off x="876300" y="48863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Final Output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9BE9DE-5489-4F5E-AC7F-5C604D6FF7AD}"/>
              </a:ext>
            </a:extLst>
          </p:cNvPr>
          <p:cNvSpPr>
            <a:spLocks noGrp="1"/>
          </p:cNvSpPr>
          <p:nvPr/>
        </p:nvSpPr>
        <p:spPr>
          <a:xfrm>
            <a:off x="3933825" y="4819650"/>
            <a:ext cx="7143750" cy="3905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E2E3AD-8B65-4138-B004-B8CA40AEF370}"/>
              </a:ext>
            </a:extLst>
          </p:cNvPr>
          <p:cNvSpPr>
            <a:spLocks noGrp="1"/>
          </p:cNvSpPr>
          <p:nvPr/>
        </p:nvSpPr>
        <p:spPr>
          <a:xfrm>
            <a:off x="4029075" y="488632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Music taste segments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F31176-3EAE-46DE-A586-F6D221A1459D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31432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726AB1-2110-4DF2-A816-2CC169C40A03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Tools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B4210B-19BB-4856-A763-BE1453AA2BDD}"/>
              </a:ext>
            </a:extLst>
          </p:cNvPr>
          <p:cNvSpPr>
            <a:spLocks noGrp="1"/>
          </p:cNvSpPr>
          <p:nvPr/>
        </p:nvSpPr>
        <p:spPr>
          <a:xfrm>
            <a:off x="3933825" y="5219700"/>
            <a:ext cx="7143750" cy="3905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6B82AD-8A54-4CF8-8AFC-C830245CA438}"/>
              </a:ext>
            </a:extLst>
          </p:cNvPr>
          <p:cNvSpPr>
            <a:spLocks noGrp="1"/>
          </p:cNvSpPr>
          <p:nvPr/>
        </p:nvSpPr>
        <p:spPr>
          <a:xfrm>
            <a:off x="4029075" y="5286375"/>
            <a:ext cx="695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Python, pandas, scikit-learn, TSNE, KMeans, seaborn, matplotlib, plotly</a:t>
            </a:r>
          </a:p>
        </p:txBody>
      </p:sp>
    </p:spTree>
    <p:extLst>
      <p:ext uri="{BB962C8B-B14F-4D97-AF65-F5344CB8AC3E}">
        <p14:creationId xmlns:p14="http://schemas.microsoft.com/office/powerpoint/2010/main" val="65649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86BD387-DCD6-4241-87FA-0A71D6A2802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Analysis coverage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81D108-0B7B-41E7-8416-DBBD0C9F26B3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project includes the required data checks, modeling steps, visuals, and outputs.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EEC0B5-4498-4A72-9F0B-D6A8EEC6DC5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12644-03A9-460F-A4DE-B1FF3DDF3FFA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143250" cy="400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85D88-42A3-46B1-9CA0-A09409BC177B}"/>
              </a:ext>
            </a:extLst>
          </p:cNvPr>
          <p:cNvSpPr>
            <a:spLocks noGrp="1"/>
          </p:cNvSpPr>
          <p:nvPr/>
        </p:nvSpPr>
        <p:spPr>
          <a:xfrm>
            <a:off x="781050" y="162877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Analysis 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C32F1-E01F-43A1-BC65-98CD62363976}"/>
              </a:ext>
            </a:extLst>
          </p:cNvPr>
          <p:cNvSpPr>
            <a:spLocks noGrp="1"/>
          </p:cNvSpPr>
          <p:nvPr/>
        </p:nvSpPr>
        <p:spPr>
          <a:xfrm>
            <a:off x="3838575" y="1562100"/>
            <a:ext cx="7524750" cy="400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E712E1-5D90-4EAC-B72B-023E5EDEF0E1}"/>
              </a:ext>
            </a:extLst>
          </p:cNvPr>
          <p:cNvSpPr>
            <a:spLocks noGrp="1"/>
          </p:cNvSpPr>
          <p:nvPr/>
        </p:nvSpPr>
        <p:spPr>
          <a:xfrm>
            <a:off x="3933825" y="1628775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Project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0368F-3F20-4CC8-A485-9038051727A3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31432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30BBF-AC04-4C86-944D-A451C81F3FD4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Summary statistics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FB549-E9B6-49DE-9871-11F705A7D922}"/>
              </a:ext>
            </a:extLst>
          </p:cNvPr>
          <p:cNvSpPr>
            <a:spLocks noGrp="1"/>
          </p:cNvSpPr>
          <p:nvPr/>
        </p:nvSpPr>
        <p:spPr>
          <a:xfrm>
            <a:off x="3838575" y="1971675"/>
            <a:ext cx="75247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57203-80FE-4361-87D8-AF5DF2A5ADA8}"/>
              </a:ext>
            </a:extLst>
          </p:cNvPr>
          <p:cNvSpPr>
            <a:spLocks noGrp="1"/>
          </p:cNvSpPr>
          <p:nvPr/>
        </p:nvSpPr>
        <p:spPr>
          <a:xfrm>
            <a:off x="3933825" y="2038350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Added table in notebook and PPT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5289C-9FE8-4A8B-A922-AFF7E93C975E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1432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61C7F7-5E1F-4BD2-904C-4F0247354BEC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Pair plots and heatmaps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4B9B1-2DCD-408E-B055-EFDCF674B9FD}"/>
              </a:ext>
            </a:extLst>
          </p:cNvPr>
          <p:cNvSpPr>
            <a:spLocks noGrp="1"/>
          </p:cNvSpPr>
          <p:nvPr/>
        </p:nvSpPr>
        <p:spPr>
          <a:xfrm>
            <a:off x="3838575" y="2381250"/>
            <a:ext cx="75247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0EC57E-B4BF-457E-80F1-091F3AF8F1D9}"/>
              </a:ext>
            </a:extLst>
          </p:cNvPr>
          <p:cNvSpPr>
            <a:spLocks noGrp="1"/>
          </p:cNvSpPr>
          <p:nvPr/>
        </p:nvSpPr>
        <p:spPr>
          <a:xfrm>
            <a:off x="3933825" y="2447925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Pair plot plus numeric heatmap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C33EC-AFD0-47BB-8B45-095AE9981A7F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31432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3E8307-849A-4BBB-8964-E89327575B06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Outlier detection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6BEDF7-E942-40DE-9FD8-E0D782CDC3A8}"/>
              </a:ext>
            </a:extLst>
          </p:cNvPr>
          <p:cNvSpPr>
            <a:spLocks noGrp="1"/>
          </p:cNvSpPr>
          <p:nvPr/>
        </p:nvSpPr>
        <p:spPr>
          <a:xfrm>
            <a:off x="3838575" y="2790825"/>
            <a:ext cx="75247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D2A66-628A-4710-BF15-3AC3502FAEFB}"/>
              </a:ext>
            </a:extLst>
          </p:cNvPr>
          <p:cNvSpPr>
            <a:spLocks noGrp="1"/>
          </p:cNvSpPr>
          <p:nvPr/>
        </p:nvSpPr>
        <p:spPr>
          <a:xfrm>
            <a:off x="3933825" y="2857500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Boxplot using log play counts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0EEA55-1A8E-4135-B7B8-57164251371F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31432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3D83FF-F3A3-4794-A41B-A00B9771B053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Dimensionality reduction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E0F218-5E12-4B42-875F-D0C97B04F311}"/>
              </a:ext>
            </a:extLst>
          </p:cNvPr>
          <p:cNvSpPr>
            <a:spLocks noGrp="1"/>
          </p:cNvSpPr>
          <p:nvPr/>
        </p:nvSpPr>
        <p:spPr>
          <a:xfrm>
            <a:off x="3838575" y="3200400"/>
            <a:ext cx="75247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8BEFEA-58B1-4030-9174-E6064D0FDEB7}"/>
              </a:ext>
            </a:extLst>
          </p:cNvPr>
          <p:cNvSpPr>
            <a:spLocks noGrp="1"/>
          </p:cNvSpPr>
          <p:nvPr/>
        </p:nvSpPr>
        <p:spPr>
          <a:xfrm>
            <a:off x="3933825" y="3267075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PCA variance check plus t-SNE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E4ECF-8D2E-42C1-B00F-1E44218DEE04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31432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FC247B-42A4-4C5C-844E-FFCCA8BDB67F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Core clustering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6939BC-0B2D-4273-8D55-441283B0932A}"/>
              </a:ext>
            </a:extLst>
          </p:cNvPr>
          <p:cNvSpPr>
            <a:spLocks noGrp="1"/>
          </p:cNvSpPr>
          <p:nvPr/>
        </p:nvSpPr>
        <p:spPr>
          <a:xfrm>
            <a:off x="3838575" y="3609975"/>
            <a:ext cx="75247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0CDC6A-5D27-4E07-89AD-55F6219B1200}"/>
              </a:ext>
            </a:extLst>
          </p:cNvPr>
          <p:cNvSpPr>
            <a:spLocks noGrp="1"/>
          </p:cNvSpPr>
          <p:nvPr/>
        </p:nvSpPr>
        <p:spPr>
          <a:xfrm>
            <a:off x="3933825" y="3676650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K-Means final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8F889D-1B94-4A62-A6E9-A819808A6B94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31432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566493-F0BF-4B40-BD2D-342E599BC7BA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Model tuning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F31816-A63E-4BB3-907E-74A15461AE7D}"/>
              </a:ext>
            </a:extLst>
          </p:cNvPr>
          <p:cNvSpPr>
            <a:spLocks noGrp="1"/>
          </p:cNvSpPr>
          <p:nvPr/>
        </p:nvSpPr>
        <p:spPr>
          <a:xfrm>
            <a:off x="3838575" y="4019550"/>
            <a:ext cx="75247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F353CE-2EAA-4E6E-89A9-DB560C6EB015}"/>
              </a:ext>
            </a:extLst>
          </p:cNvPr>
          <p:cNvSpPr>
            <a:spLocks noGrp="1"/>
          </p:cNvSpPr>
          <p:nvPr/>
        </p:nvSpPr>
        <p:spPr>
          <a:xfrm>
            <a:off x="3933825" y="4086225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Elbow, silhouette, GridSearchCV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B08287-0BE2-42A0-AB42-A5AA1E199197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31432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9B67C-D0CE-49D1-A506-85ADB2326D7A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Extra evaluation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49CB97-9600-40CB-A23E-028E3DCFDDA5}"/>
              </a:ext>
            </a:extLst>
          </p:cNvPr>
          <p:cNvSpPr>
            <a:spLocks noGrp="1"/>
          </p:cNvSpPr>
          <p:nvPr/>
        </p:nvSpPr>
        <p:spPr>
          <a:xfrm>
            <a:off x="3838575" y="4429125"/>
            <a:ext cx="75247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92CE46-AB2E-4BEB-A314-A7A3AC5F70C6}"/>
              </a:ext>
            </a:extLst>
          </p:cNvPr>
          <p:cNvSpPr>
            <a:spLocks noGrp="1"/>
          </p:cNvSpPr>
          <p:nvPr/>
        </p:nvSpPr>
        <p:spPr>
          <a:xfrm>
            <a:off x="3933825" y="4495800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Davies-Bouldin score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21E228-910E-49ED-8B14-529F07C44AB5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1432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9649F2-3700-478E-BD0A-3A55D5F8A104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Visualization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5CCBC2-C894-4FA8-840A-82C7B32BEDFB}"/>
              </a:ext>
            </a:extLst>
          </p:cNvPr>
          <p:cNvSpPr>
            <a:spLocks noGrp="1"/>
          </p:cNvSpPr>
          <p:nvPr/>
        </p:nvSpPr>
        <p:spPr>
          <a:xfrm>
            <a:off x="3838575" y="4838700"/>
            <a:ext cx="7524750" cy="4000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6E68AC-D57C-48B6-95AD-E608F6024074}"/>
              </a:ext>
            </a:extLst>
          </p:cNvPr>
          <p:cNvSpPr>
            <a:spLocks noGrp="1"/>
          </p:cNvSpPr>
          <p:nvPr/>
        </p:nvSpPr>
        <p:spPr>
          <a:xfrm>
            <a:off x="3933825" y="4905375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t-SNE clusters, centroids, dendrogram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84555D-4A9D-4F58-BDF1-8D9A547E5B09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31432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237A3F-6B8B-4787-B652-419FCA3EF7C0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Insights/reporting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E719D0-6847-4672-A14C-B54752D13A5E}"/>
              </a:ext>
            </a:extLst>
          </p:cNvPr>
          <p:cNvSpPr>
            <a:spLocks noGrp="1"/>
          </p:cNvSpPr>
          <p:nvPr/>
        </p:nvSpPr>
        <p:spPr>
          <a:xfrm>
            <a:off x="3838575" y="5248275"/>
            <a:ext cx="7524750" cy="4000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FFFB36-52F8-4922-8167-63501BA18B0F}"/>
              </a:ext>
            </a:extLst>
          </p:cNvPr>
          <p:cNvSpPr>
            <a:spLocks noGrp="1"/>
          </p:cNvSpPr>
          <p:nvPr/>
        </p:nvSpPr>
        <p:spPr>
          <a:xfrm>
            <a:off x="3933825" y="5314950"/>
            <a:ext cx="733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Segment labels, CSV outputs, PPT report</a:t>
            </a:r>
          </a:p>
        </p:txBody>
      </p:sp>
    </p:spTree>
    <p:extLst>
      <p:ext uri="{BB962C8B-B14F-4D97-AF65-F5344CB8AC3E}">
        <p14:creationId xmlns:p14="http://schemas.microsoft.com/office/powerpoint/2010/main" val="143786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6C441E1-5648-44CD-9488-069533C7F3E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869A5-3C86-4DA5-A8D1-ADFD09567C10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work moves from problem understanding to reporting in a clear sequence.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1221D-6130-4712-9812-B7E6A6FF5AAE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C4B2A2-AE5A-4537-9155-31B3389A318E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205C1-5C5D-45FA-B52E-964BCB3C56EB}"/>
              </a:ext>
            </a:extLst>
          </p:cNvPr>
          <p:cNvSpPr>
            <a:spLocks noGrp="1"/>
          </p:cNvSpPr>
          <p:nvPr/>
        </p:nvSpPr>
        <p:spPr>
          <a:xfrm>
            <a:off x="914400" y="18192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84BE9-8B76-422D-BB3B-F98F970C467D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AF132-13CF-45CC-A4A0-45A8A4CFF36D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Group listeners by music taste.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42D09-C5FD-43D8-8100-89B48B0B8E06}"/>
              </a:ext>
            </a:extLst>
          </p:cNvPr>
          <p:cNvSpPr>
            <a:spLocks noGrp="1"/>
          </p:cNvSpPr>
          <p:nvPr/>
        </p:nvSpPr>
        <p:spPr>
          <a:xfrm>
            <a:off x="4429125" y="16954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A1394-5005-433B-9765-3417CF24F2E9}"/>
              </a:ext>
            </a:extLst>
          </p:cNvPr>
          <p:cNvSpPr>
            <a:spLocks noGrp="1"/>
          </p:cNvSpPr>
          <p:nvPr/>
        </p:nvSpPr>
        <p:spPr>
          <a:xfrm>
            <a:off x="4600575" y="18192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CF6083-6AFC-4F1C-BF48-EC16A8F26BA5}"/>
              </a:ext>
            </a:extLst>
          </p:cNvPr>
          <p:cNvSpPr>
            <a:spLocks noGrp="1"/>
          </p:cNvSpPr>
          <p:nvPr/>
        </p:nvSpPr>
        <p:spPr>
          <a:xfrm>
            <a:off x="4600575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BE2412-C56B-410F-BD83-E9A1D2A6A155}"/>
              </a:ext>
            </a:extLst>
          </p:cNvPr>
          <p:cNvSpPr>
            <a:spLocks noGrp="1"/>
          </p:cNvSpPr>
          <p:nvPr/>
        </p:nvSpPr>
        <p:spPr>
          <a:xfrm>
            <a:off x="4600575" y="23241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Last.fm user-artist play counts.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F3C56-A6FB-42B6-ADD5-2D302CBC57AC}"/>
              </a:ext>
            </a:extLst>
          </p:cNvPr>
          <p:cNvSpPr>
            <a:spLocks noGrp="1"/>
          </p:cNvSpPr>
          <p:nvPr/>
        </p:nvSpPr>
        <p:spPr>
          <a:xfrm>
            <a:off x="8115300" y="16954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C3B139-9846-4FFE-B102-FF39D28C5739}"/>
              </a:ext>
            </a:extLst>
          </p:cNvPr>
          <p:cNvSpPr>
            <a:spLocks noGrp="1"/>
          </p:cNvSpPr>
          <p:nvPr/>
        </p:nvSpPr>
        <p:spPr>
          <a:xfrm>
            <a:off x="8286750" y="18192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75F62-1F39-45E7-92B2-DEA243A469F4}"/>
              </a:ext>
            </a:extLst>
          </p:cNvPr>
          <p:cNvSpPr>
            <a:spLocks noGrp="1"/>
          </p:cNvSpPr>
          <p:nvPr/>
        </p:nvSpPr>
        <p:spPr>
          <a:xfrm>
            <a:off x="828675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EDA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41950C-0CDF-4D80-B1EB-66348D7C74FA}"/>
              </a:ext>
            </a:extLst>
          </p:cNvPr>
          <p:cNvSpPr>
            <a:spLocks noGrp="1"/>
          </p:cNvSpPr>
          <p:nvPr/>
        </p:nvSpPr>
        <p:spPr>
          <a:xfrm>
            <a:off x="8286750" y="23241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Stats, pair plot, heatmap, outliers.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202F17-6831-4A04-8C29-21211D6E4BB0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FC94A8-1FBA-45D0-B1D6-1CF95428926F}"/>
              </a:ext>
            </a:extLst>
          </p:cNvPr>
          <p:cNvSpPr>
            <a:spLocks noGrp="1"/>
          </p:cNvSpPr>
          <p:nvPr/>
        </p:nvSpPr>
        <p:spPr>
          <a:xfrm>
            <a:off x="914400" y="32289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56B4B8-7560-4F94-845F-A4FA23E262DC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Clustering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14811F-2A98-4E49-BC8A-BB2E94A9BBCF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t-SNE plus K-Means.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5255C7-2339-459A-AF01-279D72D735F0}"/>
              </a:ext>
            </a:extLst>
          </p:cNvPr>
          <p:cNvSpPr>
            <a:spLocks noGrp="1"/>
          </p:cNvSpPr>
          <p:nvPr/>
        </p:nvSpPr>
        <p:spPr>
          <a:xfrm>
            <a:off x="4429125" y="31051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EF5B43-C377-47D6-AB29-205FF8C31947}"/>
              </a:ext>
            </a:extLst>
          </p:cNvPr>
          <p:cNvSpPr>
            <a:spLocks noGrp="1"/>
          </p:cNvSpPr>
          <p:nvPr/>
        </p:nvSpPr>
        <p:spPr>
          <a:xfrm>
            <a:off x="4600575" y="32289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42303-AE15-4E44-86BB-8A60A0F81A92}"/>
              </a:ext>
            </a:extLst>
          </p:cNvPr>
          <p:cNvSpPr>
            <a:spLocks noGrp="1"/>
          </p:cNvSpPr>
          <p:nvPr/>
        </p:nvSpPr>
        <p:spPr>
          <a:xfrm>
            <a:off x="4600575" y="3467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Tuning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298804-2C3B-4390-BF3F-24CB3A022200}"/>
              </a:ext>
            </a:extLst>
          </p:cNvPr>
          <p:cNvSpPr>
            <a:spLocks noGrp="1"/>
          </p:cNvSpPr>
          <p:nvPr/>
        </p:nvSpPr>
        <p:spPr>
          <a:xfrm>
            <a:off x="4600575" y="37338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Elbow, silhouette, GridSearchCV.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0238C3-83E9-43AB-BA5D-E131B4F4C5CF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8763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368272-2CCF-41DF-AD94-82159A4AC82B}"/>
              </a:ext>
            </a:extLst>
          </p:cNvPr>
          <p:cNvSpPr>
            <a:spLocks noGrp="1"/>
          </p:cNvSpPr>
          <p:nvPr/>
        </p:nvSpPr>
        <p:spPr>
          <a:xfrm>
            <a:off x="8286750" y="32289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011F5-6948-46F8-BF1B-B11398AFB70D}"/>
              </a:ext>
            </a:extLst>
          </p:cNvPr>
          <p:cNvSpPr>
            <a:spLocks noGrp="1"/>
          </p:cNvSpPr>
          <p:nvPr/>
        </p:nvSpPr>
        <p:spPr>
          <a:xfrm>
            <a:off x="8286750" y="3467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Visuals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3CA3EE-0FE9-49A9-8C8B-F0F201D381D5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Clusters, centroids, dendrogram.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AC82E-E91C-4BA4-A2AE-5BCE69E77E3E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0706100" cy="70485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0833BC-1459-4C6C-BB7C-D286C6AA90F6}"/>
              </a:ext>
            </a:extLst>
          </p:cNvPr>
          <p:cNvSpPr>
            <a:spLocks noGrp="1"/>
          </p:cNvSpPr>
          <p:nvPr/>
        </p:nvSpPr>
        <p:spPr>
          <a:xfrm>
            <a:off x="1028700" y="51720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Dataset: 1381 listeners, 12 selected top artists.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62E437-0456-490C-AA8B-42481BBBB5E2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942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Best params: n_clusters = 8, init = random; silhouette = 0.525; Davies-Bouldin = 0.657.</a:t>
            </a:r>
          </a:p>
        </p:txBody>
      </p:sp>
    </p:spTree>
    <p:extLst>
      <p:ext uri="{BB962C8B-B14F-4D97-AF65-F5344CB8AC3E}">
        <p14:creationId xmlns:p14="http://schemas.microsoft.com/office/powerpoint/2010/main" val="68163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8F9FF73D-EF87-4441-93EE-F926D1B8E20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Summary statistics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3D34D-B6AF-4824-A0F5-7F7436146FEB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step helps understand spread before clustering.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02D04-8F74-4485-9E8C-4D3EDE97B026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25CE4D-513F-4C97-BBE9-2DF9703C511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4286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012C7-379A-44BA-8CCF-5262EA0EEFD7}"/>
              </a:ext>
            </a:extLst>
          </p:cNvPr>
          <p:cNvSpPr>
            <a:spLocks noGrp="1"/>
          </p:cNvSpPr>
          <p:nvPr/>
        </p:nvSpPr>
        <p:spPr>
          <a:xfrm>
            <a:off x="781050" y="16859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Artist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DA49A-ED05-409E-81B3-36510B9F38F6}"/>
              </a:ext>
            </a:extLst>
          </p:cNvPr>
          <p:cNvSpPr>
            <a:spLocks noGrp="1"/>
          </p:cNvSpPr>
          <p:nvPr/>
        </p:nvSpPr>
        <p:spPr>
          <a:xfrm>
            <a:off x="4029075" y="1619250"/>
            <a:ext cx="1619250" cy="4286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554513-F470-4053-9D12-4333FEB2C7D0}"/>
              </a:ext>
            </a:extLst>
          </p:cNvPr>
          <p:cNvSpPr>
            <a:spLocks noGrp="1"/>
          </p:cNvSpPr>
          <p:nvPr/>
        </p:nvSpPr>
        <p:spPr>
          <a:xfrm>
            <a:off x="4124325" y="1685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CCE693-8198-45A2-9164-4C38A0AF2E81}"/>
              </a:ext>
            </a:extLst>
          </p:cNvPr>
          <p:cNvSpPr>
            <a:spLocks noGrp="1"/>
          </p:cNvSpPr>
          <p:nvPr/>
        </p:nvSpPr>
        <p:spPr>
          <a:xfrm>
            <a:off x="5657850" y="1619250"/>
            <a:ext cx="1619250" cy="4286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1A1C68-4197-4BC3-BE27-B644ABC015AC}"/>
              </a:ext>
            </a:extLst>
          </p:cNvPr>
          <p:cNvSpPr>
            <a:spLocks noGrp="1"/>
          </p:cNvSpPr>
          <p:nvPr/>
        </p:nvSpPr>
        <p:spPr>
          <a:xfrm>
            <a:off x="5753100" y="1685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F41EF-FD0A-41C4-A738-688D9452C67A}"/>
              </a:ext>
            </a:extLst>
          </p:cNvPr>
          <p:cNvSpPr>
            <a:spLocks noGrp="1"/>
          </p:cNvSpPr>
          <p:nvPr/>
        </p:nvSpPr>
        <p:spPr>
          <a:xfrm>
            <a:off x="7286625" y="1619250"/>
            <a:ext cx="1619250" cy="4286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92AC5B-C98C-4F08-96AF-151FCC5BC6A3}"/>
              </a:ext>
            </a:extLst>
          </p:cNvPr>
          <p:cNvSpPr>
            <a:spLocks noGrp="1"/>
          </p:cNvSpPr>
          <p:nvPr/>
        </p:nvSpPr>
        <p:spPr>
          <a:xfrm>
            <a:off x="7381875" y="1685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Median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6CC27-039A-40FD-A85C-8E5F09EF6A78}"/>
              </a:ext>
            </a:extLst>
          </p:cNvPr>
          <p:cNvSpPr>
            <a:spLocks noGrp="1"/>
          </p:cNvSpPr>
          <p:nvPr/>
        </p:nvSpPr>
        <p:spPr>
          <a:xfrm>
            <a:off x="8915400" y="1619250"/>
            <a:ext cx="1619250" cy="4286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CB182D-48FC-4D6D-B209-3A1B86710843}"/>
              </a:ext>
            </a:extLst>
          </p:cNvPr>
          <p:cNvSpPr>
            <a:spLocks noGrp="1"/>
          </p:cNvSpPr>
          <p:nvPr/>
        </p:nvSpPr>
        <p:spPr>
          <a:xfrm>
            <a:off x="9010650" y="1685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F44AB8-4D8F-45B5-B29D-7050E3E82FC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33337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DC4B9-D41F-4D6C-9203-F64DB08CAA49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Britney Spears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591638-7C67-4DCB-A8A8-AA285B8418D5}"/>
              </a:ext>
            </a:extLst>
          </p:cNvPr>
          <p:cNvSpPr>
            <a:spLocks noGrp="1"/>
          </p:cNvSpPr>
          <p:nvPr/>
        </p:nvSpPr>
        <p:spPr>
          <a:xfrm>
            <a:off x="4029075" y="20574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EF7DF2-EC4A-4402-945E-44F3E3503944}"/>
              </a:ext>
            </a:extLst>
          </p:cNvPr>
          <p:cNvSpPr>
            <a:spLocks noGrp="1"/>
          </p:cNvSpPr>
          <p:nvPr/>
        </p:nvSpPr>
        <p:spPr>
          <a:xfrm>
            <a:off x="4124325" y="21240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1732.9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F9CC0B-114D-4981-9E3C-242E57CE2B7D}"/>
              </a:ext>
            </a:extLst>
          </p:cNvPr>
          <p:cNvSpPr>
            <a:spLocks noGrp="1"/>
          </p:cNvSpPr>
          <p:nvPr/>
        </p:nvSpPr>
        <p:spPr>
          <a:xfrm>
            <a:off x="5657850" y="20574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AF805-CEAF-4337-8F3B-AED8CFF1423D}"/>
              </a:ext>
            </a:extLst>
          </p:cNvPr>
          <p:cNvSpPr>
            <a:spLocks noGrp="1"/>
          </p:cNvSpPr>
          <p:nvPr/>
        </p:nvSpPr>
        <p:spPr>
          <a:xfrm>
            <a:off x="5753100" y="21240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7819.3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D6502D-1D28-439A-84A8-B13D4A69F577}"/>
              </a:ext>
            </a:extLst>
          </p:cNvPr>
          <p:cNvSpPr>
            <a:spLocks noGrp="1"/>
          </p:cNvSpPr>
          <p:nvPr/>
        </p:nvSpPr>
        <p:spPr>
          <a:xfrm>
            <a:off x="7286625" y="20574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C798D-8761-4191-9E6F-354CBED3A6E5}"/>
              </a:ext>
            </a:extLst>
          </p:cNvPr>
          <p:cNvSpPr>
            <a:spLocks noGrp="1"/>
          </p:cNvSpPr>
          <p:nvPr/>
        </p:nvSpPr>
        <p:spPr>
          <a:xfrm>
            <a:off x="7381875" y="21240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16AB2D-8BBF-4361-9171-7C8ED687AE29}"/>
              </a:ext>
            </a:extLst>
          </p:cNvPr>
          <p:cNvSpPr>
            <a:spLocks noGrp="1"/>
          </p:cNvSpPr>
          <p:nvPr/>
        </p:nvSpPr>
        <p:spPr>
          <a:xfrm>
            <a:off x="8915400" y="20574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5DC2D-726A-4220-A5C9-88E10DD3C685}"/>
              </a:ext>
            </a:extLst>
          </p:cNvPr>
          <p:cNvSpPr>
            <a:spLocks noGrp="1"/>
          </p:cNvSpPr>
          <p:nvPr/>
        </p:nvSpPr>
        <p:spPr>
          <a:xfrm>
            <a:off x="9010650" y="21240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131733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C22A39-3843-40C7-9E17-0B8640A3E243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3337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BCD8B9-7C25-4E23-9009-01EA52C3E6D5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Depeche Mode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8CD59B-F9F2-4CE1-879C-3AA83C1F1360}"/>
              </a:ext>
            </a:extLst>
          </p:cNvPr>
          <p:cNvSpPr>
            <a:spLocks noGrp="1"/>
          </p:cNvSpPr>
          <p:nvPr/>
        </p:nvSpPr>
        <p:spPr>
          <a:xfrm>
            <a:off x="4029075" y="24955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4383BC-38D2-4307-8C8A-9489E9D57A75}"/>
              </a:ext>
            </a:extLst>
          </p:cNvPr>
          <p:cNvSpPr>
            <a:spLocks noGrp="1"/>
          </p:cNvSpPr>
          <p:nvPr/>
        </p:nvSpPr>
        <p:spPr>
          <a:xfrm>
            <a:off x="4124325" y="25622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942.3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846ADE-4A08-456F-8716-E1712B1C0B2B}"/>
              </a:ext>
            </a:extLst>
          </p:cNvPr>
          <p:cNvSpPr>
            <a:spLocks noGrp="1"/>
          </p:cNvSpPr>
          <p:nvPr/>
        </p:nvSpPr>
        <p:spPr>
          <a:xfrm>
            <a:off x="5657850" y="24955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AD493E-44CD-491A-8D42-2772020054B7}"/>
              </a:ext>
            </a:extLst>
          </p:cNvPr>
          <p:cNvSpPr>
            <a:spLocks noGrp="1"/>
          </p:cNvSpPr>
          <p:nvPr/>
        </p:nvSpPr>
        <p:spPr>
          <a:xfrm>
            <a:off x="5753100" y="25622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10850.6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137D34-43EC-45F5-8478-FBF1367CDB51}"/>
              </a:ext>
            </a:extLst>
          </p:cNvPr>
          <p:cNvSpPr>
            <a:spLocks noGrp="1"/>
          </p:cNvSpPr>
          <p:nvPr/>
        </p:nvSpPr>
        <p:spPr>
          <a:xfrm>
            <a:off x="7286625" y="24955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421282-C251-4E52-A73B-55067F8D3713}"/>
              </a:ext>
            </a:extLst>
          </p:cNvPr>
          <p:cNvSpPr>
            <a:spLocks noGrp="1"/>
          </p:cNvSpPr>
          <p:nvPr/>
        </p:nvSpPr>
        <p:spPr>
          <a:xfrm>
            <a:off x="7381875" y="25622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ABDE8E-5B93-4F8F-B8C9-A95302829E57}"/>
              </a:ext>
            </a:extLst>
          </p:cNvPr>
          <p:cNvSpPr>
            <a:spLocks noGrp="1"/>
          </p:cNvSpPr>
          <p:nvPr/>
        </p:nvSpPr>
        <p:spPr>
          <a:xfrm>
            <a:off x="8915400" y="24955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92C612-2663-4A78-8BD8-4FFEF45C244D}"/>
              </a:ext>
            </a:extLst>
          </p:cNvPr>
          <p:cNvSpPr>
            <a:spLocks noGrp="1"/>
          </p:cNvSpPr>
          <p:nvPr/>
        </p:nvSpPr>
        <p:spPr>
          <a:xfrm>
            <a:off x="9010650" y="25622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352698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1DBC34-368C-4ABE-860A-F79BFEF696B7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33337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15E802-F593-4DC0-8F42-E5A54BC73106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Lady Gaga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088ADD-46AB-471E-83E4-691C49519472}"/>
              </a:ext>
            </a:extLst>
          </p:cNvPr>
          <p:cNvSpPr>
            <a:spLocks noGrp="1"/>
          </p:cNvSpPr>
          <p:nvPr/>
        </p:nvSpPr>
        <p:spPr>
          <a:xfrm>
            <a:off x="4029075" y="29337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FB6870-2109-4359-B982-38532A6CCE90}"/>
              </a:ext>
            </a:extLst>
          </p:cNvPr>
          <p:cNvSpPr>
            <a:spLocks noGrp="1"/>
          </p:cNvSpPr>
          <p:nvPr/>
        </p:nvSpPr>
        <p:spPr>
          <a:xfrm>
            <a:off x="4124325" y="3000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935.1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A7E088-DC9C-4041-8AC2-E43CCC9C9A9A}"/>
              </a:ext>
            </a:extLst>
          </p:cNvPr>
          <p:cNvSpPr>
            <a:spLocks noGrp="1"/>
          </p:cNvSpPr>
          <p:nvPr/>
        </p:nvSpPr>
        <p:spPr>
          <a:xfrm>
            <a:off x="5657850" y="29337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8C324B-FBDC-4804-96D9-67B096333A5D}"/>
              </a:ext>
            </a:extLst>
          </p:cNvPr>
          <p:cNvSpPr>
            <a:spLocks noGrp="1"/>
          </p:cNvSpPr>
          <p:nvPr/>
        </p:nvSpPr>
        <p:spPr>
          <a:xfrm>
            <a:off x="5753100" y="3000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4467.6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77A6CD-6209-4A9A-960B-91343FB6BDA0}"/>
              </a:ext>
            </a:extLst>
          </p:cNvPr>
          <p:cNvSpPr>
            <a:spLocks noGrp="1"/>
          </p:cNvSpPr>
          <p:nvPr/>
        </p:nvSpPr>
        <p:spPr>
          <a:xfrm>
            <a:off x="7286625" y="29337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CBE555-DBC5-4212-9BEB-43525B621932}"/>
              </a:ext>
            </a:extLst>
          </p:cNvPr>
          <p:cNvSpPr>
            <a:spLocks noGrp="1"/>
          </p:cNvSpPr>
          <p:nvPr/>
        </p:nvSpPr>
        <p:spPr>
          <a:xfrm>
            <a:off x="7381875" y="3000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24094B-327B-4BBB-942D-B94B6060E34A}"/>
              </a:ext>
            </a:extLst>
          </p:cNvPr>
          <p:cNvSpPr>
            <a:spLocks noGrp="1"/>
          </p:cNvSpPr>
          <p:nvPr/>
        </p:nvSpPr>
        <p:spPr>
          <a:xfrm>
            <a:off x="8915400" y="29337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1FEF3C-A050-465C-AB57-72E6C4B3743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114672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9C69CA-20A8-4EBC-BEDD-80774092E39B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3337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2A381E-B351-4B36-831F-07F677E33088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Christina Aguilera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620651-6B08-4081-9725-6F7F0ABEAB16}"/>
              </a:ext>
            </a:extLst>
          </p:cNvPr>
          <p:cNvSpPr>
            <a:spLocks noGrp="1"/>
          </p:cNvSpPr>
          <p:nvPr/>
        </p:nvSpPr>
        <p:spPr>
          <a:xfrm>
            <a:off x="4029075" y="33718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468E81-8D3C-4103-961B-671F3ADD8CF4}"/>
              </a:ext>
            </a:extLst>
          </p:cNvPr>
          <p:cNvSpPr>
            <a:spLocks noGrp="1"/>
          </p:cNvSpPr>
          <p:nvPr/>
        </p:nvSpPr>
        <p:spPr>
          <a:xfrm>
            <a:off x="4124325" y="34385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766.4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BC8A57-43D4-4E6E-8B8D-E88D10BF4C14}"/>
              </a:ext>
            </a:extLst>
          </p:cNvPr>
          <p:cNvSpPr>
            <a:spLocks noGrp="1"/>
          </p:cNvSpPr>
          <p:nvPr/>
        </p:nvSpPr>
        <p:spPr>
          <a:xfrm>
            <a:off x="5657850" y="33718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52B811-901F-4AB0-9752-76ABAD9D9BC7}"/>
              </a:ext>
            </a:extLst>
          </p:cNvPr>
          <p:cNvSpPr>
            <a:spLocks noGrp="1"/>
          </p:cNvSpPr>
          <p:nvPr/>
        </p:nvSpPr>
        <p:spPr>
          <a:xfrm>
            <a:off x="5753100" y="34385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5645.1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83DA9B-9F7D-427E-AF65-B456AD37A939}"/>
              </a:ext>
            </a:extLst>
          </p:cNvPr>
          <p:cNvSpPr>
            <a:spLocks noGrp="1"/>
          </p:cNvSpPr>
          <p:nvPr/>
        </p:nvSpPr>
        <p:spPr>
          <a:xfrm>
            <a:off x="7286625" y="33718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F054C4-1435-49AF-880B-D53E12E5616F}"/>
              </a:ext>
            </a:extLst>
          </p:cNvPr>
          <p:cNvSpPr>
            <a:spLocks noGrp="1"/>
          </p:cNvSpPr>
          <p:nvPr/>
        </p:nvSpPr>
        <p:spPr>
          <a:xfrm>
            <a:off x="7381875" y="34385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9CEF88-84F8-4EE5-887A-687CD6FE3905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D39B7F-28C2-458E-9459-21C4E79B0254}"/>
              </a:ext>
            </a:extLst>
          </p:cNvPr>
          <p:cNvSpPr>
            <a:spLocks noGrp="1"/>
          </p:cNvSpPr>
          <p:nvPr/>
        </p:nvSpPr>
        <p:spPr>
          <a:xfrm>
            <a:off x="9010650" y="34385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176133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DFFE8EC-64F6-45A2-BDFC-E4E9692387BF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3337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66E0042-084E-4BBF-ADE2-6E5746A25C7C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Paramore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505C57-DC32-4C6F-A966-D6B82DD1A57A}"/>
              </a:ext>
            </a:extLst>
          </p:cNvPr>
          <p:cNvSpPr>
            <a:spLocks noGrp="1"/>
          </p:cNvSpPr>
          <p:nvPr/>
        </p:nvSpPr>
        <p:spPr>
          <a:xfrm>
            <a:off x="4029075" y="38100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DD3253-D901-4913-AB8B-B05C908F32EA}"/>
              </a:ext>
            </a:extLst>
          </p:cNvPr>
          <p:cNvSpPr>
            <a:spLocks noGrp="1"/>
          </p:cNvSpPr>
          <p:nvPr/>
        </p:nvSpPr>
        <p:spPr>
          <a:xfrm>
            <a:off x="4124325" y="3876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697.6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C8477C-CE70-434E-9373-BCDE995D5179}"/>
              </a:ext>
            </a:extLst>
          </p:cNvPr>
          <p:cNvSpPr>
            <a:spLocks noGrp="1"/>
          </p:cNvSpPr>
          <p:nvPr/>
        </p:nvSpPr>
        <p:spPr>
          <a:xfrm>
            <a:off x="5657850" y="38100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6EDA58-836D-48E3-921F-6A18818E6640}"/>
              </a:ext>
            </a:extLst>
          </p:cNvPr>
          <p:cNvSpPr>
            <a:spLocks noGrp="1"/>
          </p:cNvSpPr>
          <p:nvPr/>
        </p:nvSpPr>
        <p:spPr>
          <a:xfrm>
            <a:off x="5753100" y="3876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7138.3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45C882-B408-41F3-B808-8135238ED7F3}"/>
              </a:ext>
            </a:extLst>
          </p:cNvPr>
          <p:cNvSpPr>
            <a:spLocks noGrp="1"/>
          </p:cNvSpPr>
          <p:nvPr/>
        </p:nvSpPr>
        <p:spPr>
          <a:xfrm>
            <a:off x="7286625" y="38100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4726E7-BF22-4290-B9B9-2E298CE4D99E}"/>
              </a:ext>
            </a:extLst>
          </p:cNvPr>
          <p:cNvSpPr>
            <a:spLocks noGrp="1"/>
          </p:cNvSpPr>
          <p:nvPr/>
        </p:nvSpPr>
        <p:spPr>
          <a:xfrm>
            <a:off x="7381875" y="3876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30785A3-80E2-4BB1-8FC5-25E6E6FC669B}"/>
              </a:ext>
            </a:extLst>
          </p:cNvPr>
          <p:cNvSpPr>
            <a:spLocks noGrp="1"/>
          </p:cNvSpPr>
          <p:nvPr/>
        </p:nvSpPr>
        <p:spPr>
          <a:xfrm>
            <a:off x="8915400" y="38100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465755-40CC-43CB-AC7E-A4204CE12D3C}"/>
              </a:ext>
            </a:extLst>
          </p:cNvPr>
          <p:cNvSpPr>
            <a:spLocks noGrp="1"/>
          </p:cNvSpPr>
          <p:nvPr/>
        </p:nvSpPr>
        <p:spPr>
          <a:xfrm>
            <a:off x="9010650" y="3876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227829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E0E7F9-EECD-4E67-A2C4-236DF9270A8A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33337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73FCB8A-8CA5-460F-9921-379A0D9FA653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Madonna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F7935A-1F9F-4525-B0A4-743E612B5E3E}"/>
              </a:ext>
            </a:extLst>
          </p:cNvPr>
          <p:cNvSpPr>
            <a:spLocks noGrp="1"/>
          </p:cNvSpPr>
          <p:nvPr/>
        </p:nvSpPr>
        <p:spPr>
          <a:xfrm>
            <a:off x="4029075" y="42481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EAC37F-8AD0-4D45-BE48-63D31ABAEA08}"/>
              </a:ext>
            </a:extLst>
          </p:cNvPr>
          <p:cNvSpPr>
            <a:spLocks noGrp="1"/>
          </p:cNvSpPr>
          <p:nvPr/>
        </p:nvSpPr>
        <p:spPr>
          <a:xfrm>
            <a:off x="4124325" y="43148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667.1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0D1B61D-4329-4040-805B-898FF518931A}"/>
              </a:ext>
            </a:extLst>
          </p:cNvPr>
          <p:cNvSpPr>
            <a:spLocks noGrp="1"/>
          </p:cNvSpPr>
          <p:nvPr/>
        </p:nvSpPr>
        <p:spPr>
          <a:xfrm>
            <a:off x="5657850" y="42481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8974A4D-1FF0-4555-B0A3-F570A88342E8}"/>
              </a:ext>
            </a:extLst>
          </p:cNvPr>
          <p:cNvSpPr>
            <a:spLocks noGrp="1"/>
          </p:cNvSpPr>
          <p:nvPr/>
        </p:nvSpPr>
        <p:spPr>
          <a:xfrm>
            <a:off x="5753100" y="43148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3013.5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06DA55D-64EC-4BA8-A6E0-3AF9102DC940}"/>
              </a:ext>
            </a:extLst>
          </p:cNvPr>
          <p:cNvSpPr>
            <a:spLocks noGrp="1"/>
          </p:cNvSpPr>
          <p:nvPr/>
        </p:nvSpPr>
        <p:spPr>
          <a:xfrm>
            <a:off x="7286625" y="42481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A4B8DCA-EF72-4172-940F-56770EB89C1B}"/>
              </a:ext>
            </a:extLst>
          </p:cNvPr>
          <p:cNvSpPr>
            <a:spLocks noGrp="1"/>
          </p:cNvSpPr>
          <p:nvPr/>
        </p:nvSpPr>
        <p:spPr>
          <a:xfrm>
            <a:off x="7381875" y="43148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F00F1A-57DC-4DFE-8A76-3B521E06D93F}"/>
              </a:ext>
            </a:extLst>
          </p:cNvPr>
          <p:cNvSpPr>
            <a:spLocks noGrp="1"/>
          </p:cNvSpPr>
          <p:nvPr/>
        </p:nvSpPr>
        <p:spPr>
          <a:xfrm>
            <a:off x="8915400" y="42481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4858EB1-351B-4B6C-BB4A-ADF87B80DD78}"/>
              </a:ext>
            </a:extLst>
          </p:cNvPr>
          <p:cNvSpPr>
            <a:spLocks noGrp="1"/>
          </p:cNvSpPr>
          <p:nvPr/>
        </p:nvSpPr>
        <p:spPr>
          <a:xfrm>
            <a:off x="9010650" y="43148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41216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5C2F0AE-C81C-4985-AB16-BFACB37F8925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33337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0AE419-82E2-41A7-BCDF-3E7D0732EFE6}"/>
              </a:ext>
            </a:extLst>
          </p:cNvPr>
          <p:cNvSpPr>
            <a:spLocks noGrp="1"/>
          </p:cNvSpPr>
          <p:nvPr/>
        </p:nvSpPr>
        <p:spPr>
          <a:xfrm>
            <a:off x="781050" y="47529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Rihanna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C96EFD-BEF2-47C3-8088-FC47A49A926C}"/>
              </a:ext>
            </a:extLst>
          </p:cNvPr>
          <p:cNvSpPr>
            <a:spLocks noGrp="1"/>
          </p:cNvSpPr>
          <p:nvPr/>
        </p:nvSpPr>
        <p:spPr>
          <a:xfrm>
            <a:off x="4029075" y="46863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F999393-989B-4681-9087-776C7D3B3CFF}"/>
              </a:ext>
            </a:extLst>
          </p:cNvPr>
          <p:cNvSpPr>
            <a:spLocks noGrp="1"/>
          </p:cNvSpPr>
          <p:nvPr/>
        </p:nvSpPr>
        <p:spPr>
          <a:xfrm>
            <a:off x="4124325" y="47529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655.6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6AC3A96-28CD-431A-B411-32976E4B2794}"/>
              </a:ext>
            </a:extLst>
          </p:cNvPr>
          <p:cNvSpPr>
            <a:spLocks noGrp="1"/>
          </p:cNvSpPr>
          <p:nvPr/>
        </p:nvSpPr>
        <p:spPr>
          <a:xfrm>
            <a:off x="5657850" y="46863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7BC69F-6326-4545-9E55-C1BF69C09801}"/>
              </a:ext>
            </a:extLst>
          </p:cNvPr>
          <p:cNvSpPr>
            <a:spLocks noGrp="1"/>
          </p:cNvSpPr>
          <p:nvPr/>
        </p:nvSpPr>
        <p:spPr>
          <a:xfrm>
            <a:off x="5753100" y="47529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3083.6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D69B032-DBAF-414C-8677-3D6E33721D1B}"/>
              </a:ext>
            </a:extLst>
          </p:cNvPr>
          <p:cNvSpPr>
            <a:spLocks noGrp="1"/>
          </p:cNvSpPr>
          <p:nvPr/>
        </p:nvSpPr>
        <p:spPr>
          <a:xfrm>
            <a:off x="7286625" y="46863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1A97DC4-4324-419F-A270-5D0E826C46F4}"/>
              </a:ext>
            </a:extLst>
          </p:cNvPr>
          <p:cNvSpPr>
            <a:spLocks noGrp="1"/>
          </p:cNvSpPr>
          <p:nvPr/>
        </p:nvSpPr>
        <p:spPr>
          <a:xfrm>
            <a:off x="7381875" y="47529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45BE96F-8383-4AB4-AE3A-0EF526CD8AA0}"/>
              </a:ext>
            </a:extLst>
          </p:cNvPr>
          <p:cNvSpPr>
            <a:spLocks noGrp="1"/>
          </p:cNvSpPr>
          <p:nvPr/>
        </p:nvSpPr>
        <p:spPr>
          <a:xfrm>
            <a:off x="8915400" y="4686300"/>
            <a:ext cx="1619250" cy="428625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A678E7F-619F-468F-8393-C75496298EC5}"/>
              </a:ext>
            </a:extLst>
          </p:cNvPr>
          <p:cNvSpPr>
            <a:spLocks noGrp="1"/>
          </p:cNvSpPr>
          <p:nvPr/>
        </p:nvSpPr>
        <p:spPr>
          <a:xfrm>
            <a:off x="9010650" y="47529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43864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F9BBCE-CC5D-4FA1-98F0-F6C10D07DCDF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33337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5689143-B72F-4478-860E-B9655C808964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Shakira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54BDF8B-4E5D-4A4A-B9F2-0D965060E8BD}"/>
              </a:ext>
            </a:extLst>
          </p:cNvPr>
          <p:cNvSpPr>
            <a:spLocks noGrp="1"/>
          </p:cNvSpPr>
          <p:nvPr/>
        </p:nvSpPr>
        <p:spPr>
          <a:xfrm>
            <a:off x="4029075" y="51244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C9F72D2-362B-4DC6-BBFC-C3AE51D9E761}"/>
              </a:ext>
            </a:extLst>
          </p:cNvPr>
          <p:cNvSpPr>
            <a:spLocks noGrp="1"/>
          </p:cNvSpPr>
          <p:nvPr/>
        </p:nvSpPr>
        <p:spPr>
          <a:xfrm>
            <a:off x="4124325" y="5191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498.6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9DE3EF4-7E11-4EA4-8F34-8EA64E2ABDAB}"/>
              </a:ext>
            </a:extLst>
          </p:cNvPr>
          <p:cNvSpPr>
            <a:spLocks noGrp="1"/>
          </p:cNvSpPr>
          <p:nvPr/>
        </p:nvSpPr>
        <p:spPr>
          <a:xfrm>
            <a:off x="5657850" y="51244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28B6F99-7E0F-4D01-BC59-FD839AD0C569}"/>
              </a:ext>
            </a:extLst>
          </p:cNvPr>
          <p:cNvSpPr>
            <a:spLocks noGrp="1"/>
          </p:cNvSpPr>
          <p:nvPr/>
        </p:nvSpPr>
        <p:spPr>
          <a:xfrm>
            <a:off x="5753100" y="5191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6751.5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797C2B0-FD1A-44E0-821E-69293E03314D}"/>
              </a:ext>
            </a:extLst>
          </p:cNvPr>
          <p:cNvSpPr>
            <a:spLocks noGrp="1"/>
          </p:cNvSpPr>
          <p:nvPr/>
        </p:nvSpPr>
        <p:spPr>
          <a:xfrm>
            <a:off x="7286625" y="51244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B94257B-75CF-4A35-8E11-E835E37D1A3C}"/>
              </a:ext>
            </a:extLst>
          </p:cNvPr>
          <p:cNvSpPr>
            <a:spLocks noGrp="1"/>
          </p:cNvSpPr>
          <p:nvPr/>
        </p:nvSpPr>
        <p:spPr>
          <a:xfrm>
            <a:off x="7381875" y="5191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3DDD402-52EB-48CC-9022-9CFEBEA54FE6}"/>
              </a:ext>
            </a:extLst>
          </p:cNvPr>
          <p:cNvSpPr>
            <a:spLocks noGrp="1"/>
          </p:cNvSpPr>
          <p:nvPr/>
        </p:nvSpPr>
        <p:spPr>
          <a:xfrm>
            <a:off x="8915400" y="5124450"/>
            <a:ext cx="1619250" cy="428625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7B1855B-22EC-4649-AC0C-DEB85E2AC764}"/>
              </a:ext>
            </a:extLst>
          </p:cNvPr>
          <p:cNvSpPr>
            <a:spLocks noGrp="1"/>
          </p:cNvSpPr>
          <p:nvPr/>
        </p:nvSpPr>
        <p:spPr>
          <a:xfrm>
            <a:off x="9010650" y="5191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172496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083A145-8BEE-4A1B-B3B9-463723F0EF24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933450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2F03F3-FDCB-4507-BBB7-F50D1F274A33}"/>
              </a:ext>
            </a:extLst>
          </p:cNvPr>
          <p:cNvSpPr>
            <a:spLocks noGrp="1"/>
          </p:cNvSpPr>
          <p:nvPr/>
        </p:nvSpPr>
        <p:spPr>
          <a:xfrm>
            <a:off x="914400" y="58674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Interpretation: high max values show that some listeners play a few artists much more than others, so normalization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196154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F45CB1-10DA-412C-B0A3-10ECFD9C986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1: Total play counts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DF2EC-01CB-42A6-B7FE-BC5DA3E83583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D4CD08-272F-47D1-9259-F847EDF89EA2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085109"/>
            <a:ext cx="6667500" cy="30306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79D871-C4C0-4A55-9864-A747E5363CE9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3C280-2B1F-49F3-8489-6B97E1DEED05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3F1606-8E50-4B4A-8B93-D2187F466DE5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ranks the selected artists by total play count.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DAA0F-D8D3-4D0E-ACB4-C0C1EE294D29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BC22E-29AD-468D-A301-2F60AAC02EA3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A42CF-E392-4A75-915D-7DB0CF9D652A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This explains why these artists were used as clustering features.</a:t>
            </a:r>
          </a:p>
        </p:txBody>
      </p:sp>
    </p:spTree>
    <p:extLst>
      <p:ext uri="{BB962C8B-B14F-4D97-AF65-F5344CB8AC3E}">
        <p14:creationId xmlns:p14="http://schemas.microsoft.com/office/powerpoint/2010/main" val="199118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A891E8-1E73-43AB-9B60-094087B449E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2: Pair plot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BA5B2A-68DB-4A26-80E8-97AC09FACABD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205D1-4287-4E8C-AB4C-ABD6701C3AD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7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6669" y="1333500"/>
            <a:ext cx="4596163" cy="476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F7ECA0-154F-42C0-9AC9-3EFADBD0C85E}"/>
              </a:ext>
            </a:extLst>
          </p:cNvPr>
          <p:cNvSpPr>
            <a:spLocks noGrp="1"/>
          </p:cNvSpPr>
          <p:nvPr/>
        </p:nvSpPr>
        <p:spPr>
          <a:xfrm>
            <a:off x="729615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0E055-48AD-494C-9FE3-7E1A74A6295E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B123D-4FC6-4614-A01A-5C0F19566898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compares the first four log-normalized artist play-count features against each other.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3FCE7-B54E-43C6-A388-A3BA7A4FC29E}"/>
              </a:ext>
            </a:extLst>
          </p:cNvPr>
          <p:cNvSpPr>
            <a:spLocks noGrp="1"/>
          </p:cNvSpPr>
          <p:nvPr/>
        </p:nvSpPr>
        <p:spPr>
          <a:xfrm>
            <a:off x="729615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C78B8-1BC5-4CE7-88FE-9A2C2CF40F95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E60767-DE31-478E-86A0-45D203F64DBE}"/>
              </a:ext>
            </a:extLst>
          </p:cNvPr>
          <p:cNvSpPr>
            <a:spLocks noGrp="1"/>
          </p:cNvSpPr>
          <p:nvPr/>
        </p:nvSpPr>
        <p:spPr>
          <a:xfrm>
            <a:off x="752475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Pair plots help inspect feature distributions and relationships before clustering.</a:t>
            </a:r>
          </a:p>
        </p:txBody>
      </p:sp>
    </p:spTree>
    <p:extLst>
      <p:ext uri="{BB962C8B-B14F-4D97-AF65-F5344CB8AC3E}">
        <p14:creationId xmlns:p14="http://schemas.microsoft.com/office/powerpoint/2010/main" val="1337979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5D8E02-CA3A-4DA5-9273-F8647C10F3B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3: Numeric heatmap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EFFAA-490C-4AB9-86DC-779C46718CD0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81B397-0CC0-47CD-BA52-E68845A8C9EB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8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64519" y="1466850"/>
            <a:ext cx="4881563" cy="3905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9246A8-B468-4649-91C6-227BB47E4B07}"/>
              </a:ext>
            </a:extLst>
          </p:cNvPr>
          <p:cNvSpPr>
            <a:spLocks noGrp="1"/>
          </p:cNvSpPr>
          <p:nvPr/>
        </p:nvSpPr>
        <p:spPr>
          <a:xfrm>
            <a:off x="8324850" y="175260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B5C24-8C40-4637-9B14-4E749AE26DF5}"/>
              </a:ext>
            </a:extLst>
          </p:cNvPr>
          <p:cNvSpPr>
            <a:spLocks noGrp="1"/>
          </p:cNvSpPr>
          <p:nvPr/>
        </p:nvSpPr>
        <p:spPr>
          <a:xfrm>
            <a:off x="8553450" y="1962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7636F-C2C9-49A6-89F6-04F8CAB07EEB}"/>
              </a:ext>
            </a:extLst>
          </p:cNvPr>
          <p:cNvSpPr>
            <a:spLocks noGrp="1"/>
          </p:cNvSpPr>
          <p:nvPr/>
        </p:nvSpPr>
        <p:spPr>
          <a:xfrm>
            <a:off x="8553450" y="234315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shows correlation values inside the heatmap cells.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89F7B4-0C11-4B15-9F35-BF37CE1E58F1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99D6D-C919-4E81-9C1D-CCD13F1F1782}"/>
              </a:ext>
            </a:extLst>
          </p:cNvPr>
          <p:cNvSpPr>
            <a:spLocks noGrp="1"/>
          </p:cNvSpPr>
          <p:nvPr/>
        </p:nvSpPr>
        <p:spPr>
          <a:xfrm>
            <a:off x="8553450" y="3771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EEE10-A012-4D69-9D79-8A70D41AFE3E}"/>
              </a:ext>
            </a:extLst>
          </p:cNvPr>
          <p:cNvSpPr>
            <a:spLocks noGrp="1"/>
          </p:cNvSpPr>
          <p:nvPr/>
        </p:nvSpPr>
        <p:spPr>
          <a:xfrm>
            <a:off x="8553450" y="41529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numbers make the relationship strength clear instead of relying only on color.</a:t>
            </a:r>
          </a:p>
        </p:txBody>
      </p:sp>
    </p:spTree>
    <p:extLst>
      <p:ext uri="{BB962C8B-B14F-4D97-AF65-F5344CB8AC3E}">
        <p14:creationId xmlns:p14="http://schemas.microsoft.com/office/powerpoint/2010/main" val="45075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736D14-C8B4-48DB-9AA2-37C821BB6EB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4: Outlier boxplot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06ECFF-98BC-4FC9-9A08-B075E5CFC855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8D941-54A8-44FA-AF4F-CACB8C507F2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9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211388"/>
            <a:ext cx="6667500" cy="2778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2418F9-6ACD-4C21-AE48-FD75760FC4A1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BF33D-2BC9-4FA8-A7BB-15F8ACA3FBF0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29031-F086-4CB6-A8A0-5AE052006751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shows spread and possible outliers after log normalization.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2B3E3-5E8D-4F63-919E-BE99480EDC04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0266A-DAA1-4064-B990-A90894EA6C1D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79E12D-3A56-43D1-A971-7D4CDD6E7D59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This checks whether very high play counts could dominate clustering.</a:t>
            </a:r>
          </a:p>
        </p:txBody>
      </p:sp>
    </p:spTree>
    <p:extLst>
      <p:ext uri="{BB962C8B-B14F-4D97-AF65-F5344CB8AC3E}">
        <p14:creationId xmlns:p14="http://schemas.microsoft.com/office/powerpoint/2010/main" val="116009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687027-BF1A-4920-A0B1-F5E05C52D06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5: PCA variance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D452E-3874-4EEA-9A02-51CF081540F9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B0D53-0F85-4CB8-90BA-4652539D9C91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16856"/>
            <a:ext cx="6667500" cy="41671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F11D77-93C5-4007-8F0D-8BA121F12773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AC8C-0076-482D-AA3F-68BE256654B5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70957-61AE-4C4A-A673-B0FD7A0BB9FF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shows how much variance is retained as components increase.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75E78-352F-4ACA-A212-EF83CFFA7364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BF0EF-0712-4F0F-813C-3327F9679D28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03722-FD8E-45A1-B7B0-1ACF7422A81A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PCA helps check whether many features can be represented with fewer components.</a:t>
            </a:r>
          </a:p>
        </p:txBody>
      </p:sp>
    </p:spTree>
    <p:extLst>
      <p:ext uri="{BB962C8B-B14F-4D97-AF65-F5344CB8AC3E}">
        <p14:creationId xmlns:p14="http://schemas.microsoft.com/office/powerpoint/2010/main" val="126875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A548C-6179-4A09-9F5E-4422A3C9F3A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6: t-SNE projection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141135-50B3-42A7-A242-867733EE70F7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67E0F-A45B-4A8B-AD43-A366FE040B83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11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2200" y="1504950"/>
            <a:ext cx="5588000" cy="4191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9A5677-D552-4CE1-A1A2-A33E5CAA3F89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3B7BE-75C3-4B02-A3D6-3C34872BBAC9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A4D42D-B199-4194-8CA1-DFA5CD586D6A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maps 12 artist features into 2D.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4AC4F-AFBD-4713-959B-7CF4E2711A14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76B20-361A-4767-9FCF-A76D0A36F7CA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BDB78-1EE6-48A1-87B6-70FF5E8955B2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This makes hidden listener patterns visible before K-Means.</a:t>
            </a:r>
          </a:p>
        </p:txBody>
      </p:sp>
    </p:spTree>
    <p:extLst>
      <p:ext uri="{BB962C8B-B14F-4D97-AF65-F5344CB8AC3E}">
        <p14:creationId xmlns:p14="http://schemas.microsoft.com/office/powerpoint/2010/main" val="228568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2E96B9-B396-4F31-84E5-42DB883FE25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7: Elbow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8E37-377E-45CC-882E-A2EC0E17CC2A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Model tuning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B07DEB-E045-4E95-9B26-362BFB950CF3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12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16856"/>
            <a:ext cx="6667500" cy="41671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A1E648-1485-49B5-9AF5-6F0AB8E809F9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C8E1A-B86C-441E-8E80-B59F8B508881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1272FF-46C3-4B32-B574-C6A6E9771DA4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shows WCSS for different K values.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B8157-17EF-4E8B-AA77-6265F1886DF9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FF3F5-C57B-4243-9F46-9C3627F0FB75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FA1C71-EA67-40EE-8565-B237900628DC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helps choose clusters without blindly guessing K.</a:t>
            </a:r>
          </a:p>
        </p:txBody>
      </p:sp>
    </p:spTree>
    <p:extLst>
      <p:ext uri="{BB962C8B-B14F-4D97-AF65-F5344CB8AC3E}">
        <p14:creationId xmlns:p14="http://schemas.microsoft.com/office/powerpoint/2010/main" val="131057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250412-8E98-4937-8B85-AD88D41A3C1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8: Silhouette score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DD9510-C01A-4B8C-9038-A937141E1841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51B104-D907-4578-9C1C-3987ED7FAE6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13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16856"/>
            <a:ext cx="6667500" cy="41671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BA3400-91CA-4884-8CD7-2C1BC1D1ADD5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83002-6B5D-4236-B5AE-B87F3517E004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85E692-39AF-4C23-BB7B-1360EC75DEBA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compares cluster quality for each 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0BD26-9912-404E-9981-2D1193E3D473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772E3-76B6-47A5-A563-5EA11C17FAD3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BED4A-4829-4873-95B3-78A6167348F2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best model used K = 8, final silhouette 0.525.</a:t>
            </a:r>
          </a:p>
        </p:txBody>
      </p:sp>
    </p:spTree>
    <p:extLst>
      <p:ext uri="{BB962C8B-B14F-4D97-AF65-F5344CB8AC3E}">
        <p14:creationId xmlns:p14="http://schemas.microsoft.com/office/powerpoint/2010/main" val="1394201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142301-A1C9-4BE1-91E1-608E13FF4B7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9: Final clusters with centroids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C4990-4842-4D7F-A25C-962FE70B2929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Visualization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90F14-47C5-42F4-8759-8FB890BBF4B0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14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2200" y="1504950"/>
            <a:ext cx="5588000" cy="4191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F4854E-BB13-47A5-942F-C3F678F2E695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D39C5-685C-45F7-ABB6-0795E7D3D7CB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4EC24-0D64-4DC0-A222-FF93D60BB480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Colors show K-Means groups and black X markers show centroids.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32E4B-9BF0-405F-B9F5-27FF149F2E58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FF5C08-5233-4E69-9EA5-A72B42A322F0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2CF74-A808-4BBC-AB1B-1A0282BE0E90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centroids show the center position of each K-Means group.</a:t>
            </a:r>
          </a:p>
        </p:txBody>
      </p:sp>
    </p:spTree>
    <p:extLst>
      <p:ext uri="{BB962C8B-B14F-4D97-AF65-F5344CB8AC3E}">
        <p14:creationId xmlns:p14="http://schemas.microsoft.com/office/powerpoint/2010/main" val="26591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C9569B-F6FC-4F57-BEC8-DE8513040CA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10: Cluster sizes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9D1416-D1D5-4056-B587-7502160EDCD6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Reporting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61D66-AA57-45C2-8A31-892A5DBCF69F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15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504950"/>
            <a:ext cx="5867400" cy="4191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C8A165-D06F-4D0C-8212-B0389A98594A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79E35-B778-4703-AE04-AAA561DE38BB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072AC-8270-4FEE-81C3-DD4F7884E4ED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counts how many listeners are in each segment.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C9B0D-7F1D-4ECE-8E9B-C3620D6BE9B0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BF6E82-A779-474C-AF27-9192BF040919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7646B-99A7-4064-A42A-2C85A5849EEB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This checks whether the segments are practical and not extremely imbalanced.</a:t>
            </a:r>
          </a:p>
        </p:txBody>
      </p:sp>
    </p:spTree>
    <p:extLst>
      <p:ext uri="{BB962C8B-B14F-4D97-AF65-F5344CB8AC3E}">
        <p14:creationId xmlns:p14="http://schemas.microsoft.com/office/powerpoint/2010/main" val="96526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045A24-FA56-40AF-8378-80A2C6106CA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11: Dendrogram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28E47-B8BB-45F5-811D-B728F09A326B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Hierarchical clustering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B8AD49-05BE-4346-A5F9-07FF4CB39D6C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211388"/>
            <a:ext cx="6667500" cy="2778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A58F91-5447-4BF4-AC95-1ABD41705288}"/>
              </a:ext>
            </a:extLst>
          </p:cNvPr>
          <p:cNvSpPr>
            <a:spLocks noGrp="1"/>
          </p:cNvSpPr>
          <p:nvPr/>
        </p:nvSpPr>
        <p:spPr>
          <a:xfrm>
            <a:off x="7696200" y="177165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C778D0-C1F6-4168-AEA3-9F8BCAFCA31C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D8C3D-5633-4576-94AE-8F3B08C04E71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shows a hierarchical clustering view on a readable listener sample.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DC846-1208-402D-B469-F58F50B853BF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6CADF-118F-441F-96B1-DD8B5CF779CD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C104F5-6080-4112-A4B5-C6632E10BCD5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This adds a second view of how listeners can be grouped by similarity.</a:t>
            </a:r>
          </a:p>
        </p:txBody>
      </p:sp>
    </p:spTree>
    <p:extLst>
      <p:ext uri="{BB962C8B-B14F-4D97-AF65-F5344CB8AC3E}">
        <p14:creationId xmlns:p14="http://schemas.microsoft.com/office/powerpoint/2010/main" val="1861635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04BFE2-3860-45F6-8D8A-5F58C52039E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Graph 12: Cluster profiles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C0819-577C-41B6-8773-4098FC49A4F0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E637F-FD27-4541-BCBB-7F903514A52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17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661013"/>
            <a:ext cx="7620000" cy="35169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2A55C5-F4C5-4FB5-99F2-FB430220C3B8}"/>
              </a:ext>
            </a:extLst>
          </p:cNvPr>
          <p:cNvSpPr>
            <a:spLocks noGrp="1"/>
          </p:cNvSpPr>
          <p:nvPr/>
        </p:nvSpPr>
        <p:spPr>
          <a:xfrm>
            <a:off x="8324850" y="1752600"/>
            <a:ext cx="3676650" cy="14097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3D929-975C-4A3F-A145-53C27C4AD379}"/>
              </a:ext>
            </a:extLst>
          </p:cNvPr>
          <p:cNvSpPr>
            <a:spLocks noGrp="1"/>
          </p:cNvSpPr>
          <p:nvPr/>
        </p:nvSpPr>
        <p:spPr>
          <a:xfrm>
            <a:off x="8553450" y="1962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C5710-8EB0-487D-9303-EFC90D51C2AC}"/>
              </a:ext>
            </a:extLst>
          </p:cNvPr>
          <p:cNvSpPr>
            <a:spLocks noGrp="1"/>
          </p:cNvSpPr>
          <p:nvPr/>
        </p:nvSpPr>
        <p:spPr>
          <a:xfrm>
            <a:off x="8553450" y="234315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It compares average artist play counts inside each cluster.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C72DB1-9310-46C1-BC90-1A52E645B26C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3676650" cy="1562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245A5-37C2-432D-8220-607598A659FB}"/>
              </a:ext>
            </a:extLst>
          </p:cNvPr>
          <p:cNvSpPr>
            <a:spLocks noGrp="1"/>
          </p:cNvSpPr>
          <p:nvPr/>
        </p:nvSpPr>
        <p:spPr>
          <a:xfrm>
            <a:off x="8553450" y="3771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8357E-4508-4442-A53C-BD3569CD922D}"/>
              </a:ext>
            </a:extLst>
          </p:cNvPr>
          <p:cNvSpPr>
            <a:spLocks noGrp="1"/>
          </p:cNvSpPr>
          <p:nvPr/>
        </p:nvSpPr>
        <p:spPr>
          <a:xfrm>
            <a:off x="8553450" y="41529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highest artists in each cluster are used to name taste segments.</a:t>
            </a:r>
          </a:p>
        </p:txBody>
      </p:sp>
    </p:spTree>
    <p:extLst>
      <p:ext uri="{BB962C8B-B14F-4D97-AF65-F5344CB8AC3E}">
        <p14:creationId xmlns:p14="http://schemas.microsoft.com/office/powerpoint/2010/main" val="1326811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3F964D67-9068-415E-A1C3-8811ED938D6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Final music taste segments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0FD2D-FA5F-4618-BDD4-E3A0DE6A1A0E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Final output required by the project topic.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FF84F-6870-41BD-9A88-9832211732F1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E3134A-52D9-40C0-A2C5-3CEAE229B372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143000" cy="419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FC375-DEBF-48E9-A678-6ED2E74DA0F3}"/>
              </a:ext>
            </a:extLst>
          </p:cNvPr>
          <p:cNvSpPr>
            <a:spLocks noGrp="1"/>
          </p:cNvSpPr>
          <p:nvPr/>
        </p:nvSpPr>
        <p:spPr>
          <a:xfrm>
            <a:off x="762000" y="164782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76683-B120-4CAD-801D-6753059EBE69}"/>
              </a:ext>
            </a:extLst>
          </p:cNvPr>
          <p:cNvSpPr>
            <a:spLocks noGrp="1"/>
          </p:cNvSpPr>
          <p:nvPr/>
        </p:nvSpPr>
        <p:spPr>
          <a:xfrm>
            <a:off x="1819275" y="1581150"/>
            <a:ext cx="7334250" cy="419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8E73E-1F04-43A7-AC55-9243F0604A45}"/>
              </a:ext>
            </a:extLst>
          </p:cNvPr>
          <p:cNvSpPr>
            <a:spLocks noGrp="1"/>
          </p:cNvSpPr>
          <p:nvPr/>
        </p:nvSpPr>
        <p:spPr>
          <a:xfrm>
            <a:off x="1914525" y="1647825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Music Taste Segment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51D62-A9F4-4978-9F4D-9FA8CD6E68F1}"/>
              </a:ext>
            </a:extLst>
          </p:cNvPr>
          <p:cNvSpPr>
            <a:spLocks noGrp="1"/>
          </p:cNvSpPr>
          <p:nvPr/>
        </p:nvSpPr>
        <p:spPr>
          <a:xfrm>
            <a:off x="9163050" y="1581150"/>
            <a:ext cx="1428750" cy="419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A33D4-E9ED-4578-B6C7-308E8467AB67}"/>
              </a:ext>
            </a:extLst>
          </p:cNvPr>
          <p:cNvSpPr>
            <a:spLocks noGrp="1"/>
          </p:cNvSpPr>
          <p:nvPr/>
        </p:nvSpPr>
        <p:spPr>
          <a:xfrm>
            <a:off x="9258300" y="164782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Listeners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BBC22-5C93-4A14-B27B-6DFA8A229E55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114300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8376C-F886-4BB9-9A46-E04FD57D453F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D0F35-63BD-4E44-9C1D-853DA557FF1A}"/>
              </a:ext>
            </a:extLst>
          </p:cNvPr>
          <p:cNvSpPr>
            <a:spLocks noGrp="1"/>
          </p:cNvSpPr>
          <p:nvPr/>
        </p:nvSpPr>
        <p:spPr>
          <a:xfrm>
            <a:off x="1819275" y="2009775"/>
            <a:ext cx="73342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DF3E2-39DE-4E19-858C-7AFB86E8CEBA}"/>
              </a:ext>
            </a:extLst>
          </p:cNvPr>
          <p:cNvSpPr>
            <a:spLocks noGrp="1"/>
          </p:cNvSpPr>
          <p:nvPr/>
        </p:nvSpPr>
        <p:spPr>
          <a:xfrm>
            <a:off x="1914525" y="2076450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Depeche Mode / Madonna listeners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B3C5C-7B82-48E0-8648-AC71ABED95E1}"/>
              </a:ext>
            </a:extLst>
          </p:cNvPr>
          <p:cNvSpPr>
            <a:spLocks noGrp="1"/>
          </p:cNvSpPr>
          <p:nvPr/>
        </p:nvSpPr>
        <p:spPr>
          <a:xfrm>
            <a:off x="9163050" y="2009775"/>
            <a:ext cx="14287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246F76-9961-41A6-B083-2BA20283F44A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115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FBA3C1-0E2E-4FC4-AEB3-96CCEBB5C61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114300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B09A8F-D494-4404-AD26-70FAEED959A1}"/>
              </a:ext>
            </a:extLst>
          </p:cNvPr>
          <p:cNvSpPr>
            <a:spLocks noGrp="1"/>
          </p:cNvSpPr>
          <p:nvPr/>
        </p:nvSpPr>
        <p:spPr>
          <a:xfrm>
            <a:off x="762000" y="250507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637F1-94BC-4249-BBE6-3A037D1CE164}"/>
              </a:ext>
            </a:extLst>
          </p:cNvPr>
          <p:cNvSpPr>
            <a:spLocks noGrp="1"/>
          </p:cNvSpPr>
          <p:nvPr/>
        </p:nvSpPr>
        <p:spPr>
          <a:xfrm>
            <a:off x="1819275" y="2438400"/>
            <a:ext cx="73342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369CAE-52D9-4458-BACA-0DDB4C245CC6}"/>
              </a:ext>
            </a:extLst>
          </p:cNvPr>
          <p:cNvSpPr>
            <a:spLocks noGrp="1"/>
          </p:cNvSpPr>
          <p:nvPr/>
        </p:nvSpPr>
        <p:spPr>
          <a:xfrm>
            <a:off x="1914525" y="2505075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Depeche Mode / Paramore listeners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FBF2D-FD4A-4A60-A39B-F42D85E7F151}"/>
              </a:ext>
            </a:extLst>
          </p:cNvPr>
          <p:cNvSpPr>
            <a:spLocks noGrp="1"/>
          </p:cNvSpPr>
          <p:nvPr/>
        </p:nvSpPr>
        <p:spPr>
          <a:xfrm>
            <a:off x="9163050" y="2438400"/>
            <a:ext cx="14287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ADDD1A-269B-4C41-AB96-AFBCDEF6D8DF}"/>
              </a:ext>
            </a:extLst>
          </p:cNvPr>
          <p:cNvSpPr>
            <a:spLocks noGrp="1"/>
          </p:cNvSpPr>
          <p:nvPr/>
        </p:nvSpPr>
        <p:spPr>
          <a:xfrm>
            <a:off x="9258300" y="250507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6EE50E-79C1-4C2B-BE27-50B49AA75155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114300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A07E0E-7646-4E0D-B6E3-E4105C7DF9D7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3642C-9D82-4F3D-8336-016300420CF9}"/>
              </a:ext>
            </a:extLst>
          </p:cNvPr>
          <p:cNvSpPr>
            <a:spLocks noGrp="1"/>
          </p:cNvSpPr>
          <p:nvPr/>
        </p:nvSpPr>
        <p:spPr>
          <a:xfrm>
            <a:off x="1819275" y="2867025"/>
            <a:ext cx="73342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BF06EE-6F6A-4CC4-B3EF-8940E226322F}"/>
              </a:ext>
            </a:extLst>
          </p:cNvPr>
          <p:cNvSpPr>
            <a:spLocks noGrp="1"/>
          </p:cNvSpPr>
          <p:nvPr/>
        </p:nvSpPr>
        <p:spPr>
          <a:xfrm>
            <a:off x="1914525" y="2933700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Lady Gaga / Paramore listeners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755BA2-145A-4C80-8DC4-0D054AF59444}"/>
              </a:ext>
            </a:extLst>
          </p:cNvPr>
          <p:cNvSpPr>
            <a:spLocks noGrp="1"/>
          </p:cNvSpPr>
          <p:nvPr/>
        </p:nvSpPr>
        <p:spPr>
          <a:xfrm>
            <a:off x="9163050" y="2867025"/>
            <a:ext cx="14287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1AA18B-5BBE-49A1-8CB1-F65918B9D77D}"/>
              </a:ext>
            </a:extLst>
          </p:cNvPr>
          <p:cNvSpPr>
            <a:spLocks noGrp="1"/>
          </p:cNvSpPr>
          <p:nvPr/>
        </p:nvSpPr>
        <p:spPr>
          <a:xfrm>
            <a:off x="9258300" y="293370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134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199971-FD7E-4351-B890-44126FABC1A5}"/>
              </a:ext>
            </a:extLst>
          </p:cNvPr>
          <p:cNvSpPr>
            <a:spLocks noGrp="1"/>
          </p:cNvSpPr>
          <p:nvPr/>
        </p:nvSpPr>
        <p:spPr>
          <a:xfrm>
            <a:off x="666750" y="3295650"/>
            <a:ext cx="114300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EC95D4-0E64-47F9-8D9A-D4D5FEB162BC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30650D-004F-4F76-A2B7-4FCEAD70C5F2}"/>
              </a:ext>
            </a:extLst>
          </p:cNvPr>
          <p:cNvSpPr>
            <a:spLocks noGrp="1"/>
          </p:cNvSpPr>
          <p:nvPr/>
        </p:nvSpPr>
        <p:spPr>
          <a:xfrm>
            <a:off x="1819275" y="3295650"/>
            <a:ext cx="73342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C68C37-DAFF-4F38-91BB-FF4F40E260A6}"/>
              </a:ext>
            </a:extLst>
          </p:cNvPr>
          <p:cNvSpPr>
            <a:spLocks noGrp="1"/>
          </p:cNvSpPr>
          <p:nvPr/>
        </p:nvSpPr>
        <p:spPr>
          <a:xfrm>
            <a:off x="1914525" y="3362325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Britney Spears / Christina Aguilera listeners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2606BE-D15D-4D99-8A4F-20B6C55DBFBB}"/>
              </a:ext>
            </a:extLst>
          </p:cNvPr>
          <p:cNvSpPr>
            <a:spLocks noGrp="1"/>
          </p:cNvSpPr>
          <p:nvPr/>
        </p:nvSpPr>
        <p:spPr>
          <a:xfrm>
            <a:off x="9163050" y="3295650"/>
            <a:ext cx="14287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8C3855-5A05-417C-9B75-9F07FBF7ABD7}"/>
              </a:ext>
            </a:extLst>
          </p:cNvPr>
          <p:cNvSpPr>
            <a:spLocks noGrp="1"/>
          </p:cNvSpPr>
          <p:nvPr/>
        </p:nvSpPr>
        <p:spPr>
          <a:xfrm>
            <a:off x="9258300" y="336232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280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EBAA03-DF18-41B3-A422-4E704CA7D60D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114300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0F317-BC38-4AE6-A7B8-3795CD49DFEA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A2B435-C056-4833-9926-4C9C44D15FAE}"/>
              </a:ext>
            </a:extLst>
          </p:cNvPr>
          <p:cNvSpPr>
            <a:spLocks noGrp="1"/>
          </p:cNvSpPr>
          <p:nvPr/>
        </p:nvSpPr>
        <p:spPr>
          <a:xfrm>
            <a:off x="1819275" y="3724275"/>
            <a:ext cx="73342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E5B970-8D65-48DC-9F01-5BDE16ED6B2E}"/>
              </a:ext>
            </a:extLst>
          </p:cNvPr>
          <p:cNvSpPr>
            <a:spLocks noGrp="1"/>
          </p:cNvSpPr>
          <p:nvPr/>
        </p:nvSpPr>
        <p:spPr>
          <a:xfrm>
            <a:off x="1914525" y="3790950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Paramore / The Beatles listeners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E30465-3A96-4B08-A139-10DCCC6ACA16}"/>
              </a:ext>
            </a:extLst>
          </p:cNvPr>
          <p:cNvSpPr>
            <a:spLocks noGrp="1"/>
          </p:cNvSpPr>
          <p:nvPr/>
        </p:nvSpPr>
        <p:spPr>
          <a:xfrm>
            <a:off x="9163050" y="3724275"/>
            <a:ext cx="14287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E4F230-D73C-43BB-A27A-4634F9631B43}"/>
              </a:ext>
            </a:extLst>
          </p:cNvPr>
          <p:cNvSpPr>
            <a:spLocks noGrp="1"/>
          </p:cNvSpPr>
          <p:nvPr/>
        </p:nvSpPr>
        <p:spPr>
          <a:xfrm>
            <a:off x="9258300" y="379095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197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C23950-F503-42E6-8A7A-F7FA18F23A49}"/>
              </a:ext>
            </a:extLst>
          </p:cNvPr>
          <p:cNvSpPr>
            <a:spLocks noGrp="1"/>
          </p:cNvSpPr>
          <p:nvPr/>
        </p:nvSpPr>
        <p:spPr>
          <a:xfrm>
            <a:off x="666750" y="4152900"/>
            <a:ext cx="114300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FC6858-9826-4F9D-9D43-EADB45464418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452B3B-0A26-498F-B2E3-CEE0144B7156}"/>
              </a:ext>
            </a:extLst>
          </p:cNvPr>
          <p:cNvSpPr>
            <a:spLocks noGrp="1"/>
          </p:cNvSpPr>
          <p:nvPr/>
        </p:nvSpPr>
        <p:spPr>
          <a:xfrm>
            <a:off x="1819275" y="4152900"/>
            <a:ext cx="73342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528A89-BECE-4765-9BD5-02515AB5D263}"/>
              </a:ext>
            </a:extLst>
          </p:cNvPr>
          <p:cNvSpPr>
            <a:spLocks noGrp="1"/>
          </p:cNvSpPr>
          <p:nvPr/>
        </p:nvSpPr>
        <p:spPr>
          <a:xfrm>
            <a:off x="1914525" y="4219575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Taylor Swift / Britney Spears listeners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86735F-1E5D-4ACD-9428-254CA727F576}"/>
              </a:ext>
            </a:extLst>
          </p:cNvPr>
          <p:cNvSpPr>
            <a:spLocks noGrp="1"/>
          </p:cNvSpPr>
          <p:nvPr/>
        </p:nvSpPr>
        <p:spPr>
          <a:xfrm>
            <a:off x="9163050" y="4152900"/>
            <a:ext cx="14287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C76A7DC-E05D-4C1A-B9D3-A2D1B2D0427D}"/>
              </a:ext>
            </a:extLst>
          </p:cNvPr>
          <p:cNvSpPr>
            <a:spLocks noGrp="1"/>
          </p:cNvSpPr>
          <p:nvPr/>
        </p:nvSpPr>
        <p:spPr>
          <a:xfrm>
            <a:off x="9258300" y="421957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215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6E5A9D-3FF9-47A8-8935-4C98765FF045}"/>
              </a:ext>
            </a:extLst>
          </p:cNvPr>
          <p:cNvSpPr>
            <a:spLocks noGrp="1"/>
          </p:cNvSpPr>
          <p:nvPr/>
        </p:nvSpPr>
        <p:spPr>
          <a:xfrm>
            <a:off x="666750" y="4581525"/>
            <a:ext cx="114300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4EBEC5-1D8E-48A0-BB68-667BF7BB21CD}"/>
              </a:ext>
            </a:extLst>
          </p:cNvPr>
          <p:cNvSpPr>
            <a:spLocks noGrp="1"/>
          </p:cNvSpPr>
          <p:nvPr/>
        </p:nvSpPr>
        <p:spPr>
          <a:xfrm>
            <a:off x="762000" y="464820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1DE15A-8CE0-4922-9370-CE12836EEAF3}"/>
              </a:ext>
            </a:extLst>
          </p:cNvPr>
          <p:cNvSpPr>
            <a:spLocks noGrp="1"/>
          </p:cNvSpPr>
          <p:nvPr/>
        </p:nvSpPr>
        <p:spPr>
          <a:xfrm>
            <a:off x="1819275" y="4581525"/>
            <a:ext cx="73342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F9957D-E556-484B-A946-2B8B174D898E}"/>
              </a:ext>
            </a:extLst>
          </p:cNvPr>
          <p:cNvSpPr>
            <a:spLocks noGrp="1"/>
          </p:cNvSpPr>
          <p:nvPr/>
        </p:nvSpPr>
        <p:spPr>
          <a:xfrm>
            <a:off x="1914525" y="4648200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The Beatles / Britney Spears listeners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70C1074-EBFB-49C5-8295-3962E8D2DB08}"/>
              </a:ext>
            </a:extLst>
          </p:cNvPr>
          <p:cNvSpPr>
            <a:spLocks noGrp="1"/>
          </p:cNvSpPr>
          <p:nvPr/>
        </p:nvSpPr>
        <p:spPr>
          <a:xfrm>
            <a:off x="9163050" y="4581525"/>
            <a:ext cx="1428750" cy="4191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1E44F8-DAA2-4FFE-ADE6-F76A91D19EC1}"/>
              </a:ext>
            </a:extLst>
          </p:cNvPr>
          <p:cNvSpPr>
            <a:spLocks noGrp="1"/>
          </p:cNvSpPr>
          <p:nvPr/>
        </p:nvSpPr>
        <p:spPr>
          <a:xfrm>
            <a:off x="9258300" y="464820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4D1719-3A91-477A-B741-9355324ABAB4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114300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9E77E4D-0DF7-436F-A797-E433B706CDBA}"/>
              </a:ext>
            </a:extLst>
          </p:cNvPr>
          <p:cNvSpPr>
            <a:spLocks noGrp="1"/>
          </p:cNvSpPr>
          <p:nvPr/>
        </p:nvSpPr>
        <p:spPr>
          <a:xfrm>
            <a:off x="762000" y="507682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8CFEA5-96AE-4D39-AC1D-3258A9514669}"/>
              </a:ext>
            </a:extLst>
          </p:cNvPr>
          <p:cNvSpPr>
            <a:spLocks noGrp="1"/>
          </p:cNvSpPr>
          <p:nvPr/>
        </p:nvSpPr>
        <p:spPr>
          <a:xfrm>
            <a:off x="1819275" y="5010150"/>
            <a:ext cx="73342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5AD4EA-9DB2-4B4E-A9B3-6E96CDB8FEC4}"/>
              </a:ext>
            </a:extLst>
          </p:cNvPr>
          <p:cNvSpPr>
            <a:spLocks noGrp="1"/>
          </p:cNvSpPr>
          <p:nvPr/>
        </p:nvSpPr>
        <p:spPr>
          <a:xfrm>
            <a:off x="1914525" y="5076825"/>
            <a:ext cx="714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Depeche Mode / The Beatles listeners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816383-DB8F-4333-890D-51BAD7D52350}"/>
              </a:ext>
            </a:extLst>
          </p:cNvPr>
          <p:cNvSpPr>
            <a:spLocks noGrp="1"/>
          </p:cNvSpPr>
          <p:nvPr/>
        </p:nvSpPr>
        <p:spPr>
          <a:xfrm>
            <a:off x="9163050" y="5010150"/>
            <a:ext cx="1428750" cy="41910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95CBD4-75C0-4EA2-98F9-B5CEB3A9130D}"/>
              </a:ext>
            </a:extLst>
          </p:cNvPr>
          <p:cNvSpPr>
            <a:spLocks noGrp="1"/>
          </p:cNvSpPr>
          <p:nvPr/>
        </p:nvSpPr>
        <p:spPr>
          <a:xfrm>
            <a:off x="9258300" y="507682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4900CA-8641-40E8-970E-A811CF9AC7F4}"/>
              </a:ext>
            </a:extLst>
          </p:cNvPr>
          <p:cNvSpPr>
            <a:spLocks noGrp="1"/>
          </p:cNvSpPr>
          <p:nvPr/>
        </p:nvSpPr>
        <p:spPr>
          <a:xfrm>
            <a:off x="666750" y="5734050"/>
            <a:ext cx="9906000" cy="457200"/>
          </a:xfrm>
          <a:prstGeom prst="rect">
            <a:avLst/>
          </a:prstGeom>
          <a:solidFill>
            <a:srgbClr val="FAFAFA"/>
          </a:solidFill>
          <a:ln w="0">
            <a:solidFill>
              <a:srgbClr val="FAFAFA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3DEBA7-10FC-419E-9D48-BBBBCB29413E}"/>
              </a:ext>
            </a:extLst>
          </p:cNvPr>
          <p:cNvSpPr>
            <a:spLocks noGrp="1"/>
          </p:cNvSpPr>
          <p:nvPr/>
        </p:nvSpPr>
        <p:spPr>
          <a:xfrm>
            <a:off x="895350" y="5857875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Interpretation: clusters are named using the top average artist preferences in each group.</a:t>
            </a:r>
          </a:p>
        </p:txBody>
      </p:sp>
    </p:spTree>
    <p:extLst>
      <p:ext uri="{BB962C8B-B14F-4D97-AF65-F5344CB8AC3E}">
        <p14:creationId xmlns:p14="http://schemas.microsoft.com/office/powerpoint/2010/main" val="15561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080B3F-FC3D-49C0-BF41-DF63865825B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53929-4721-4C55-B8FA-85DE09039A4C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project now covers the topic requirements and the broader analysis workflow.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9B128-8B40-4078-999E-37E00D80C53C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F994F-88C0-40BB-BE58-C51EBDBBE7B0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4953000" cy="27241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CF416-0C1F-45AE-A435-3CCA92311EE2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changed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61C75-905F-475D-AAFA-79AB4479ABB9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4191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1. Heatmap has numbers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 Pair plot shows log-normalized play counts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3. PCA, GridSearchCV, and DB score are included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4. Centroids and dendrogram are included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5. Segment summary CSV is saved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DBB827-FD2D-4D27-A8A6-4DE3195A2EF6}"/>
              </a:ext>
            </a:extLst>
          </p:cNvPr>
          <p:cNvSpPr>
            <a:spLocks noGrp="1"/>
          </p:cNvSpPr>
          <p:nvPr/>
        </p:nvSpPr>
        <p:spPr>
          <a:xfrm>
            <a:off x="6515100" y="1790700"/>
            <a:ext cx="4000500" cy="2724150"/>
          </a:xfrm>
          <a:prstGeom prst="rect">
            <a:avLst/>
          </a:prstGeom>
          <a:solidFill>
            <a:srgbClr val="F1F1F1"/>
          </a:solidFill>
          <a:ln w="0">
            <a:solidFill>
              <a:srgbClr val="F1F1F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EFA3A-9A5D-421F-8115-AE035FABAC91}"/>
              </a:ext>
            </a:extLst>
          </p:cNvPr>
          <p:cNvSpPr>
            <a:spLocks noGrp="1"/>
          </p:cNvSpPr>
          <p:nvPr/>
        </p:nvSpPr>
        <p:spPr>
          <a:xfrm>
            <a:off x="6819900" y="21145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Final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E30FF2-0253-43BC-A263-CD67FAD2B4D2}"/>
              </a:ext>
            </a:extLst>
          </p:cNvPr>
          <p:cNvSpPr>
            <a:spLocks noGrp="1"/>
          </p:cNvSpPr>
          <p:nvPr/>
        </p:nvSpPr>
        <p:spPr>
          <a:xfrm>
            <a:off x="6819900" y="2743200"/>
            <a:ext cx="3714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Music_Listener_Segmentation_WEEK4.ipynb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Music_Listener_Segmentation_WEEK4_clean.pptx</a:t>
            </a:r>
          </a:p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music_listener_segment_summary.csv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6B1B8-BDA5-47B2-B343-5D7FF7CC1DFA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Saved in E:/GNPICIL/WEEK 4</a:t>
            </a:r>
          </a:p>
        </p:txBody>
      </p:sp>
    </p:spTree>
    <p:extLst>
      <p:ext uri="{BB962C8B-B14F-4D97-AF65-F5344CB8AC3E}">
        <p14:creationId xmlns:p14="http://schemas.microsoft.com/office/powerpoint/2010/main" val="4786346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DocSecurity>0</DocSecurity>
  <PresentationFormat>Widescreen</PresentationFormat>
  <Paragraphs>257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Prayas Palit</cp:lastModifiedBy>
  <cp:revision>1</cp:revision>
  <dcterms:created xsi:type="dcterms:W3CDTF">2026-07-01T08:16:59Z</dcterms:created>
  <dcterms:modified xsi:type="dcterms:W3CDTF">2026-07-01T12:50:59Z</dcterms:modified>
</cp:coreProperties>
</file>
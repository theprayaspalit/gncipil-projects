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r>
              <a:rPr lang="en-IN" sz="1200" b="1">
                <a:solidFill>
                  <a:srgbClr val="172033"/>
                </a:solidFill>
              </a:rPr>
              <a:t>Age vs Spending Score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Customers</c:v>
          </c:tx>
          <c:spPr>
            <a:ln w="0">
              <a:noFill/>
              <a:prstDash val="solid"/>
            </a:ln>
          </c:spPr>
          <c:marker>
            <c:symbol val="circle"/>
            <c:size val="5"/>
          </c:marker>
          <c:xVal>
            <c:numLit>
              <c:formatCode>General</c:formatCode>
              <c:ptCount val="200"/>
              <c:pt idx="0">
                <c:v>35</c:v>
              </c:pt>
              <c:pt idx="1">
                <c:v>64</c:v>
              </c:pt>
              <c:pt idx="2">
                <c:v>67</c:v>
              </c:pt>
              <c:pt idx="3">
                <c:v>58</c:v>
              </c:pt>
              <c:pt idx="4">
                <c:v>37</c:v>
              </c:pt>
              <c:pt idx="5">
                <c:v>52</c:v>
              </c:pt>
              <c:pt idx="6">
                <c:v>46</c:v>
              </c:pt>
              <c:pt idx="7">
                <c:v>54</c:v>
              </c:pt>
              <c:pt idx="8">
                <c:v>45</c:v>
              </c:pt>
              <c:pt idx="9">
                <c:v>40</c:v>
              </c:pt>
              <c:pt idx="10">
                <c:v>60</c:v>
              </c:pt>
              <c:pt idx="11">
                <c:v>53</c:v>
              </c:pt>
              <c:pt idx="12">
                <c:v>49</c:v>
              </c:pt>
              <c:pt idx="13">
                <c:v>42</c:v>
              </c:pt>
              <c:pt idx="14">
                <c:v>49</c:v>
              </c:pt>
              <c:pt idx="15">
                <c:v>43</c:v>
              </c:pt>
              <c:pt idx="16">
                <c:v>59</c:v>
              </c:pt>
              <c:pt idx="17">
                <c:v>47</c:v>
              </c:pt>
              <c:pt idx="18">
                <c:v>44</c:v>
              </c:pt>
              <c:pt idx="19">
                <c:v>57</c:v>
              </c:pt>
              <c:pt idx="20">
                <c:v>43</c:v>
              </c:pt>
              <c:pt idx="21">
                <c:v>44</c:v>
              </c:pt>
              <c:pt idx="22">
                <c:v>47</c:v>
              </c:pt>
              <c:pt idx="23">
                <c:v>37</c:v>
              </c:pt>
              <c:pt idx="24">
                <c:v>34</c:v>
              </c:pt>
              <c:pt idx="25">
                <c:v>50</c:v>
              </c:pt>
              <c:pt idx="26">
                <c:v>42</c:v>
              </c:pt>
              <c:pt idx="27">
                <c:v>40</c:v>
              </c:pt>
              <c:pt idx="28">
                <c:v>36</c:v>
              </c:pt>
              <c:pt idx="29">
                <c:v>52</c:v>
              </c:pt>
              <c:pt idx="30">
                <c:v>58</c:v>
              </c:pt>
              <c:pt idx="31">
                <c:v>59</c:v>
              </c:pt>
              <c:pt idx="32">
                <c:v>46</c:v>
              </c:pt>
              <c:pt idx="33">
                <c:v>54</c:v>
              </c:pt>
              <c:pt idx="34">
                <c:v>41</c:v>
              </c:pt>
              <c:pt idx="35">
                <c:v>33</c:v>
              </c:pt>
              <c:pt idx="36">
                <c:v>47</c:v>
              </c:pt>
              <c:pt idx="37">
                <c:v>45</c:v>
              </c:pt>
              <c:pt idx="38">
                <c:v>65</c:v>
              </c:pt>
              <c:pt idx="39">
                <c:v>48</c:v>
              </c:pt>
              <c:pt idx="40">
                <c:v>50</c:v>
              </c:pt>
              <c:pt idx="41">
                <c:v>49</c:v>
              </c:pt>
              <c:pt idx="42">
                <c:v>59</c:v>
              </c:pt>
              <c:pt idx="43">
                <c:v>50</c:v>
              </c:pt>
              <c:pt idx="44">
                <c:v>47</c:v>
              </c:pt>
              <c:pt idx="45">
                <c:v>51</c:v>
              </c:pt>
              <c:pt idx="46">
                <c:v>69</c:v>
              </c:pt>
              <c:pt idx="47">
                <c:v>53</c:v>
              </c:pt>
              <c:pt idx="48">
                <c:v>70</c:v>
              </c:pt>
              <c:pt idx="49">
                <c:v>67</c:v>
              </c:pt>
              <c:pt idx="50">
                <c:v>54</c:v>
              </c:pt>
              <c:pt idx="51">
                <c:v>63</c:v>
              </c:pt>
              <c:pt idx="52">
                <c:v>43</c:v>
              </c:pt>
              <c:pt idx="53">
                <c:v>68</c:v>
              </c:pt>
              <c:pt idx="54">
                <c:v>70</c:v>
              </c:pt>
              <c:pt idx="55">
                <c:v>47</c:v>
              </c:pt>
              <c:pt idx="56">
                <c:v>60</c:v>
              </c:pt>
              <c:pt idx="57">
                <c:v>60</c:v>
              </c:pt>
              <c:pt idx="58">
                <c:v>59</c:v>
              </c:pt>
              <c:pt idx="59">
                <c:v>45</c:v>
              </c:pt>
              <c:pt idx="60">
                <c:v>49</c:v>
              </c:pt>
              <c:pt idx="61">
                <c:v>57</c:v>
              </c:pt>
              <c:pt idx="62">
                <c:v>67</c:v>
              </c:pt>
              <c:pt idx="63">
                <c:v>46</c:v>
              </c:pt>
              <c:pt idx="64">
                <c:v>48</c:v>
              </c:pt>
              <c:pt idx="65">
                <c:v>55</c:v>
              </c:pt>
              <c:pt idx="66">
                <c:v>50</c:v>
              </c:pt>
              <c:pt idx="67">
                <c:v>68</c:v>
              </c:pt>
              <c:pt idx="68">
                <c:v>48</c:v>
              </c:pt>
              <c:pt idx="69">
                <c:v>47</c:v>
              </c:pt>
              <c:pt idx="70">
                <c:v>48</c:v>
              </c:pt>
              <c:pt idx="71">
                <c:v>49</c:v>
              </c:pt>
              <c:pt idx="72">
                <c:v>67</c:v>
              </c:pt>
              <c:pt idx="73">
                <c:v>49</c:v>
              </c:pt>
              <c:pt idx="74">
                <c:v>66</c:v>
              </c:pt>
              <c:pt idx="75">
                <c:v>54</c:v>
              </c:pt>
              <c:pt idx="76">
                <c:v>68</c:v>
              </c:pt>
              <c:pt idx="77">
                <c:v>66</c:v>
              </c:pt>
              <c:pt idx="78">
                <c:v>65</c:v>
              </c:pt>
              <c:pt idx="79">
                <c:v>63</c:v>
              </c:pt>
              <c:pt idx="80">
                <c:v>49</c:v>
              </c:pt>
              <c:pt idx="81">
                <c:v>51</c:v>
              </c:pt>
              <c:pt idx="82">
                <c:v>50</c:v>
              </c:pt>
              <c:pt idx="83">
                <c:v>48</c:v>
              </c:pt>
              <c:pt idx="84">
                <c:v>56</c:v>
              </c:pt>
              <c:pt idx="85">
                <c:v>21</c:v>
              </c:pt>
              <c:pt idx="86">
                <c:v>23</c:v>
              </c:pt>
              <c:pt idx="87">
                <c:v>22</c:v>
              </c:pt>
              <c:pt idx="88">
                <c:v>23</c:v>
              </c:pt>
              <c:pt idx="89">
                <c:v>30</c:v>
              </c:pt>
              <c:pt idx="90">
                <c:v>35</c:v>
              </c:pt>
              <c:pt idx="91">
                <c:v>24</c:v>
              </c:pt>
              <c:pt idx="92">
                <c:v>22</c:v>
              </c:pt>
              <c:pt idx="93">
                <c:v>20</c:v>
              </c:pt>
              <c:pt idx="94">
                <c:v>35</c:v>
              </c:pt>
              <c:pt idx="95">
                <c:v>25</c:v>
              </c:pt>
              <c:pt idx="96">
                <c:v>31</c:v>
              </c:pt>
              <c:pt idx="97">
                <c:v>29</c:v>
              </c:pt>
              <c:pt idx="98">
                <c:v>35</c:v>
              </c:pt>
              <c:pt idx="99">
                <c:v>23</c:v>
              </c:pt>
              <c:pt idx="100">
                <c:v>21</c:v>
              </c:pt>
              <c:pt idx="101">
                <c:v>18</c:v>
              </c:pt>
              <c:pt idx="102">
                <c:v>21</c:v>
              </c:pt>
              <c:pt idx="103">
                <c:v>30</c:v>
              </c:pt>
              <c:pt idx="104">
                <c:v>20</c:v>
              </c:pt>
              <c:pt idx="105">
                <c:v>24</c:v>
              </c:pt>
              <c:pt idx="106">
                <c:v>31</c:v>
              </c:pt>
              <c:pt idx="107">
                <c:v>24</c:v>
              </c:pt>
              <c:pt idx="108">
                <c:v>33</c:v>
              </c:pt>
              <c:pt idx="109">
                <c:v>34</c:v>
              </c:pt>
              <c:pt idx="110">
                <c:v>40</c:v>
              </c:pt>
              <c:pt idx="111">
                <c:v>39</c:v>
              </c:pt>
              <c:pt idx="112">
                <c:v>31</c:v>
              </c:pt>
              <c:pt idx="113">
                <c:v>40</c:v>
              </c:pt>
              <c:pt idx="114">
                <c:v>38</c:v>
              </c:pt>
              <c:pt idx="115">
                <c:v>39</c:v>
              </c:pt>
              <c:pt idx="116">
                <c:v>31</c:v>
              </c:pt>
              <c:pt idx="117">
                <c:v>29</c:v>
              </c:pt>
              <c:pt idx="118">
                <c:v>32</c:v>
              </c:pt>
              <c:pt idx="119">
                <c:v>35</c:v>
              </c:pt>
              <c:pt idx="120">
                <c:v>32</c:v>
              </c:pt>
              <c:pt idx="121">
                <c:v>32</c:v>
              </c:pt>
              <c:pt idx="122">
                <c:v>28</c:v>
              </c:pt>
              <c:pt idx="123">
                <c:v>32</c:v>
              </c:pt>
              <c:pt idx="124">
                <c:v>34</c:v>
              </c:pt>
              <c:pt idx="125">
                <c:v>39</c:v>
              </c:pt>
              <c:pt idx="126">
                <c:v>38</c:v>
              </c:pt>
              <c:pt idx="127">
                <c:v>27</c:v>
              </c:pt>
              <c:pt idx="128">
                <c:v>30</c:v>
              </c:pt>
              <c:pt idx="129">
                <c:v>30</c:v>
              </c:pt>
              <c:pt idx="130">
                <c:v>29</c:v>
              </c:pt>
              <c:pt idx="131">
                <c:v>31</c:v>
              </c:pt>
              <c:pt idx="132">
                <c:v>36</c:v>
              </c:pt>
              <c:pt idx="133">
                <c:v>33</c:v>
              </c:pt>
              <c:pt idx="134">
                <c:v>32</c:v>
              </c:pt>
              <c:pt idx="135">
                <c:v>28</c:v>
              </c:pt>
              <c:pt idx="136">
                <c:v>36</c:v>
              </c:pt>
              <c:pt idx="137">
                <c:v>30</c:v>
              </c:pt>
              <c:pt idx="138">
                <c:v>27</c:v>
              </c:pt>
              <c:pt idx="139">
                <c:v>35</c:v>
              </c:pt>
              <c:pt idx="140">
                <c:v>32</c:v>
              </c:pt>
              <c:pt idx="141">
                <c:v>29</c:v>
              </c:pt>
              <c:pt idx="142">
                <c:v>30</c:v>
              </c:pt>
              <c:pt idx="143">
                <c:v>28</c:v>
              </c:pt>
              <c:pt idx="144">
                <c:v>36</c:v>
              </c:pt>
              <c:pt idx="145">
                <c:v>32</c:v>
              </c:pt>
              <c:pt idx="146">
                <c:v>38</c:v>
              </c:pt>
              <c:pt idx="147">
                <c:v>35</c:v>
              </c:pt>
              <c:pt idx="148">
                <c:v>32</c:v>
              </c:pt>
              <c:pt idx="149">
                <c:v>30</c:v>
              </c:pt>
              <c:pt idx="150">
                <c:v>19</c:v>
              </c:pt>
              <c:pt idx="151">
                <c:v>20</c:v>
              </c:pt>
              <c:pt idx="152">
                <c:v>31</c:v>
              </c:pt>
              <c:pt idx="153">
                <c:v>35</c:v>
              </c:pt>
              <c:pt idx="154">
                <c:v>35</c:v>
              </c:pt>
              <c:pt idx="155">
                <c:v>36</c:v>
              </c:pt>
              <c:pt idx="156">
                <c:v>27</c:v>
              </c:pt>
              <c:pt idx="157">
                <c:v>29</c:v>
              </c:pt>
              <c:pt idx="158">
                <c:v>31</c:v>
              </c:pt>
              <c:pt idx="159">
                <c:v>31</c:v>
              </c:pt>
              <c:pt idx="160">
                <c:v>27</c:v>
              </c:pt>
              <c:pt idx="161">
                <c:v>19</c:v>
              </c:pt>
              <c:pt idx="162">
                <c:v>18</c:v>
              </c:pt>
              <c:pt idx="163">
                <c:v>19</c:v>
              </c:pt>
              <c:pt idx="164">
                <c:v>32</c:v>
              </c:pt>
              <c:pt idx="165">
                <c:v>26</c:v>
              </c:pt>
              <c:pt idx="166">
                <c:v>40</c:v>
              </c:pt>
              <c:pt idx="167">
                <c:v>23</c:v>
              </c:pt>
              <c:pt idx="168">
                <c:v>38</c:v>
              </c:pt>
              <c:pt idx="169">
                <c:v>21</c:v>
              </c:pt>
              <c:pt idx="170">
                <c:v>22</c:v>
              </c:pt>
              <c:pt idx="171">
                <c:v>18</c:v>
              </c:pt>
              <c:pt idx="172">
                <c:v>40</c:v>
              </c:pt>
              <c:pt idx="173">
                <c:v>32</c:v>
              </c:pt>
              <c:pt idx="174">
                <c:v>24</c:v>
              </c:pt>
              <c:pt idx="175">
                <c:v>27</c:v>
              </c:pt>
              <c:pt idx="176">
                <c:v>20</c:v>
              </c:pt>
              <c:pt idx="177">
                <c:v>23</c:v>
              </c:pt>
              <c:pt idx="178">
                <c:v>26</c:v>
              </c:pt>
              <c:pt idx="179">
                <c:v>21</c:v>
              </c:pt>
              <c:pt idx="180">
                <c:v>19</c:v>
              </c:pt>
              <c:pt idx="181">
                <c:v>38</c:v>
              </c:pt>
              <c:pt idx="182">
                <c:v>19</c:v>
              </c:pt>
              <c:pt idx="183">
                <c:v>18</c:v>
              </c:pt>
              <c:pt idx="184">
                <c:v>19</c:v>
              </c:pt>
              <c:pt idx="185">
                <c:v>27</c:v>
              </c:pt>
              <c:pt idx="186">
                <c:v>38</c:v>
              </c:pt>
              <c:pt idx="187">
                <c:v>23</c:v>
              </c:pt>
              <c:pt idx="188">
                <c:v>25</c:v>
              </c:pt>
              <c:pt idx="189">
                <c:v>20</c:v>
              </c:pt>
              <c:pt idx="190">
                <c:v>19</c:v>
              </c:pt>
              <c:pt idx="191">
                <c:v>28</c:v>
              </c:pt>
              <c:pt idx="192">
                <c:v>25</c:v>
              </c:pt>
              <c:pt idx="193">
                <c:v>34</c:v>
              </c:pt>
              <c:pt idx="194">
                <c:v>19</c:v>
              </c:pt>
              <c:pt idx="195">
                <c:v>36</c:v>
              </c:pt>
              <c:pt idx="196">
                <c:v>37</c:v>
              </c:pt>
              <c:pt idx="197">
                <c:v>41</c:v>
              </c:pt>
              <c:pt idx="198">
                <c:v>34</c:v>
              </c:pt>
              <c:pt idx="199">
                <c:v>32</c:v>
              </c:pt>
            </c:numLit>
          </c:xVal>
          <c:yVal>
            <c:numLit>
              <c:formatCode>General</c:formatCode>
              <c:ptCount val="200"/>
              <c:pt idx="0">
                <c:v>6</c:v>
              </c:pt>
              <c:pt idx="1">
                <c:v>3</c:v>
              </c:pt>
              <c:pt idx="2">
                <c:v>14</c:v>
              </c:pt>
              <c:pt idx="3">
                <c:v>15</c:v>
              </c:pt>
              <c:pt idx="4">
                <c:v>13</c:v>
              </c:pt>
              <c:pt idx="5">
                <c:v>29</c:v>
              </c:pt>
              <c:pt idx="6">
                <c:v>5</c:v>
              </c:pt>
              <c:pt idx="7">
                <c:v>14</c:v>
              </c:pt>
              <c:pt idx="8">
                <c:v>32</c:v>
              </c:pt>
              <c:pt idx="9">
                <c:v>31</c:v>
              </c:pt>
              <c:pt idx="10">
                <c:v>4</c:v>
              </c:pt>
              <c:pt idx="11">
                <c:v>4</c:v>
              </c:pt>
              <c:pt idx="12">
                <c:v>14</c:v>
              </c:pt>
              <c:pt idx="13">
                <c:v>17</c:v>
              </c:pt>
              <c:pt idx="14">
                <c:v>28</c:v>
              </c:pt>
              <c:pt idx="15">
                <c:v>35</c:v>
              </c:pt>
              <c:pt idx="16">
                <c:v>11</c:v>
              </c:pt>
              <c:pt idx="17">
                <c:v>9</c:v>
              </c:pt>
              <c:pt idx="18">
                <c:v>7</c:v>
              </c:pt>
              <c:pt idx="19">
                <c:v>5</c:v>
              </c:pt>
              <c:pt idx="20">
                <c:v>17</c:v>
              </c:pt>
              <c:pt idx="21">
                <c:v>20</c:v>
              </c:pt>
              <c:pt idx="22">
                <c:v>16</c:v>
              </c:pt>
              <c:pt idx="23">
                <c:v>1</c:v>
              </c:pt>
              <c:pt idx="24">
                <c:v>1</c:v>
              </c:pt>
              <c:pt idx="25">
                <c:v>26</c:v>
              </c:pt>
              <c:pt idx="26">
                <c:v>20</c:v>
              </c:pt>
              <c:pt idx="27">
                <c:v>13</c:v>
              </c:pt>
              <c:pt idx="28">
                <c:v>10</c:v>
              </c:pt>
              <c:pt idx="29">
                <c:v>13</c:v>
              </c:pt>
              <c:pt idx="30">
                <c:v>15</c:v>
              </c:pt>
              <c:pt idx="31">
                <c:v>14</c:v>
              </c:pt>
              <c:pt idx="32">
                <c:v>15</c:v>
              </c:pt>
              <c:pt idx="33">
                <c:v>24</c:v>
              </c:pt>
              <c:pt idx="34">
                <c:v>17</c:v>
              </c:pt>
              <c:pt idx="35">
                <c:v>8</c:v>
              </c:pt>
              <c:pt idx="36">
                <c:v>16</c:v>
              </c:pt>
              <c:pt idx="37">
                <c:v>28</c:v>
              </c:pt>
              <c:pt idx="38">
                <c:v>35</c:v>
              </c:pt>
              <c:pt idx="39">
                <c:v>36</c:v>
              </c:pt>
              <c:pt idx="40">
                <c:v>55</c:v>
              </c:pt>
              <c:pt idx="41">
                <c:v>52</c:v>
              </c:pt>
              <c:pt idx="42">
                <c:v>60</c:v>
              </c:pt>
              <c:pt idx="43">
                <c:v>45</c:v>
              </c:pt>
              <c:pt idx="44">
                <c:v>41</c:v>
              </c:pt>
              <c:pt idx="45">
                <c:v>50</c:v>
              </c:pt>
              <c:pt idx="46">
                <c:v>46</c:v>
              </c:pt>
              <c:pt idx="47">
                <c:v>46</c:v>
              </c:pt>
              <c:pt idx="48">
                <c:v>56</c:v>
              </c:pt>
              <c:pt idx="49">
                <c:v>52</c:v>
              </c:pt>
              <c:pt idx="50">
                <c:v>59</c:v>
              </c:pt>
              <c:pt idx="51">
                <c:v>51</c:v>
              </c:pt>
              <c:pt idx="52">
                <c:v>50</c:v>
              </c:pt>
              <c:pt idx="53">
                <c:v>48</c:v>
              </c:pt>
              <c:pt idx="54">
                <c:v>55</c:v>
              </c:pt>
              <c:pt idx="55">
                <c:v>42</c:v>
              </c:pt>
              <c:pt idx="56">
                <c:v>49</c:v>
              </c:pt>
              <c:pt idx="57">
                <c:v>56</c:v>
              </c:pt>
              <c:pt idx="58">
                <c:v>47</c:v>
              </c:pt>
              <c:pt idx="59">
                <c:v>53</c:v>
              </c:pt>
              <c:pt idx="60">
                <c:v>42</c:v>
              </c:pt>
              <c:pt idx="61">
                <c:v>51</c:v>
              </c:pt>
              <c:pt idx="62">
                <c:v>41</c:v>
              </c:pt>
              <c:pt idx="63">
                <c:v>44</c:v>
              </c:pt>
              <c:pt idx="64">
                <c:v>46</c:v>
              </c:pt>
              <c:pt idx="65">
                <c:v>58</c:v>
              </c:pt>
              <c:pt idx="66">
                <c:v>46</c:v>
              </c:pt>
              <c:pt idx="67">
                <c:v>55</c:v>
              </c:pt>
              <c:pt idx="68">
                <c:v>49</c:v>
              </c:pt>
              <c:pt idx="69">
                <c:v>47</c:v>
              </c:pt>
              <c:pt idx="70">
                <c:v>42</c:v>
              </c:pt>
              <c:pt idx="71">
                <c:v>48</c:v>
              </c:pt>
              <c:pt idx="72">
                <c:v>59</c:v>
              </c:pt>
              <c:pt idx="73">
                <c:v>56</c:v>
              </c:pt>
              <c:pt idx="74">
                <c:v>50</c:v>
              </c:pt>
              <c:pt idx="75">
                <c:v>46</c:v>
              </c:pt>
              <c:pt idx="76">
                <c:v>43</c:v>
              </c:pt>
              <c:pt idx="77">
                <c:v>48</c:v>
              </c:pt>
              <c:pt idx="78">
                <c:v>52</c:v>
              </c:pt>
              <c:pt idx="79">
                <c:v>43</c:v>
              </c:pt>
              <c:pt idx="80">
                <c:v>59</c:v>
              </c:pt>
              <c:pt idx="81">
                <c:v>43</c:v>
              </c:pt>
              <c:pt idx="82">
                <c:v>57</c:v>
              </c:pt>
              <c:pt idx="83">
                <c:v>36</c:v>
              </c:pt>
              <c:pt idx="84">
                <c:v>35</c:v>
              </c:pt>
              <c:pt idx="85">
                <c:v>81</c:v>
              </c:pt>
              <c:pt idx="86">
                <c:v>77</c:v>
              </c:pt>
              <c:pt idx="87">
                <c:v>76</c:v>
              </c:pt>
              <c:pt idx="88">
                <c:v>94</c:v>
              </c:pt>
              <c:pt idx="89">
                <c:v>72</c:v>
              </c:pt>
              <c:pt idx="90">
                <c:v>99</c:v>
              </c:pt>
              <c:pt idx="91">
                <c:v>77</c:v>
              </c:pt>
              <c:pt idx="92">
                <c:v>79</c:v>
              </c:pt>
              <c:pt idx="93">
                <c:v>66</c:v>
              </c:pt>
              <c:pt idx="94">
                <c:v>98</c:v>
              </c:pt>
              <c:pt idx="95">
                <c:v>73</c:v>
              </c:pt>
              <c:pt idx="96">
                <c:v>73</c:v>
              </c:pt>
              <c:pt idx="97">
                <c:v>82</c:v>
              </c:pt>
              <c:pt idx="98">
                <c:v>61</c:v>
              </c:pt>
              <c:pt idx="99">
                <c:v>87</c:v>
              </c:pt>
              <c:pt idx="100">
                <c:v>73</c:v>
              </c:pt>
              <c:pt idx="101">
                <c:v>92</c:v>
              </c:pt>
              <c:pt idx="102">
                <c:v>81</c:v>
              </c:pt>
              <c:pt idx="103">
                <c:v>73</c:v>
              </c:pt>
              <c:pt idx="104">
                <c:v>75</c:v>
              </c:pt>
              <c:pt idx="105">
                <c:v>92</c:v>
              </c:pt>
              <c:pt idx="106">
                <c:v>61</c:v>
              </c:pt>
              <c:pt idx="107">
                <c:v>65</c:v>
              </c:pt>
              <c:pt idx="108">
                <c:v>60</c:v>
              </c:pt>
              <c:pt idx="109">
                <c:v>60</c:v>
              </c:pt>
              <c:pt idx="110">
                <c:v>58</c:v>
              </c:pt>
              <c:pt idx="111">
                <c:v>91</c:v>
              </c:pt>
              <c:pt idx="112">
                <c:v>77</c:v>
              </c:pt>
              <c:pt idx="113">
                <c:v>95</c:v>
              </c:pt>
              <c:pt idx="114">
                <c:v>75</c:v>
              </c:pt>
              <c:pt idx="115">
                <c:v>75</c:v>
              </c:pt>
              <c:pt idx="116">
                <c:v>71</c:v>
              </c:pt>
              <c:pt idx="117">
                <c:v>88</c:v>
              </c:pt>
              <c:pt idx="118">
                <c:v>73</c:v>
              </c:pt>
              <c:pt idx="119">
                <c:v>72</c:v>
              </c:pt>
              <c:pt idx="120">
                <c:v>93</c:v>
              </c:pt>
              <c:pt idx="121">
                <c:v>87</c:v>
              </c:pt>
              <c:pt idx="122">
                <c:v>97</c:v>
              </c:pt>
              <c:pt idx="123">
                <c:v>74</c:v>
              </c:pt>
              <c:pt idx="124">
                <c:v>90</c:v>
              </c:pt>
              <c:pt idx="125">
                <c:v>88</c:v>
              </c:pt>
              <c:pt idx="126">
                <c:v>76</c:v>
              </c:pt>
              <c:pt idx="127">
                <c:v>89</c:v>
              </c:pt>
              <c:pt idx="128">
                <c:v>78</c:v>
              </c:pt>
              <c:pt idx="129">
                <c:v>73</c:v>
              </c:pt>
              <c:pt idx="130">
                <c:v>83</c:v>
              </c:pt>
              <c:pt idx="131">
                <c:v>93</c:v>
              </c:pt>
              <c:pt idx="132">
                <c:v>75</c:v>
              </c:pt>
              <c:pt idx="133">
                <c:v>95</c:v>
              </c:pt>
              <c:pt idx="134">
                <c:v>63</c:v>
              </c:pt>
              <c:pt idx="135">
                <c:v>75</c:v>
              </c:pt>
              <c:pt idx="136">
                <c:v>92</c:v>
              </c:pt>
              <c:pt idx="137">
                <c:v>86</c:v>
              </c:pt>
              <c:pt idx="138">
                <c:v>69</c:v>
              </c:pt>
              <c:pt idx="139">
                <c:v>90</c:v>
              </c:pt>
              <c:pt idx="140">
                <c:v>86</c:v>
              </c:pt>
              <c:pt idx="141">
                <c:v>88</c:v>
              </c:pt>
              <c:pt idx="142">
                <c:v>97</c:v>
              </c:pt>
              <c:pt idx="143">
                <c:v>68</c:v>
              </c:pt>
              <c:pt idx="144">
                <c:v>85</c:v>
              </c:pt>
              <c:pt idx="145">
                <c:v>69</c:v>
              </c:pt>
              <c:pt idx="146">
                <c:v>91</c:v>
              </c:pt>
              <c:pt idx="147">
                <c:v>79</c:v>
              </c:pt>
              <c:pt idx="148">
                <c:v>74</c:v>
              </c:pt>
              <c:pt idx="149">
                <c:v>83</c:v>
              </c:pt>
              <c:pt idx="150">
                <c:v>39</c:v>
              </c:pt>
              <c:pt idx="151">
                <c:v>6</c:v>
              </c:pt>
              <c:pt idx="152">
                <c:v>40</c:v>
              </c:pt>
              <c:pt idx="153">
                <c:v>35</c:v>
              </c:pt>
              <c:pt idx="154">
                <c:v>35</c:v>
              </c:pt>
              <c:pt idx="155">
                <c:v>26</c:v>
              </c:pt>
              <c:pt idx="156">
                <c:v>47</c:v>
              </c:pt>
              <c:pt idx="157">
                <c:v>42</c:v>
              </c:pt>
              <c:pt idx="158">
                <c:v>42</c:v>
              </c:pt>
              <c:pt idx="159">
                <c:v>54</c:v>
              </c:pt>
              <c:pt idx="160">
                <c:v>51</c:v>
              </c:pt>
              <c:pt idx="161">
                <c:v>55</c:v>
              </c:pt>
              <c:pt idx="162">
                <c:v>59</c:v>
              </c:pt>
              <c:pt idx="163">
                <c:v>59</c:v>
              </c:pt>
              <c:pt idx="164">
                <c:v>47</c:v>
              </c:pt>
              <c:pt idx="165">
                <c:v>54</c:v>
              </c:pt>
              <c:pt idx="166">
                <c:v>48</c:v>
              </c:pt>
              <c:pt idx="167">
                <c:v>52</c:v>
              </c:pt>
              <c:pt idx="168">
                <c:v>55</c:v>
              </c:pt>
              <c:pt idx="169">
                <c:v>57</c:v>
              </c:pt>
              <c:pt idx="170">
                <c:v>55</c:v>
              </c:pt>
              <c:pt idx="171">
                <c:v>41</c:v>
              </c:pt>
              <c:pt idx="172">
                <c:v>40</c:v>
              </c:pt>
              <c:pt idx="173">
                <c:v>42</c:v>
              </c:pt>
              <c:pt idx="174">
                <c:v>52</c:v>
              </c:pt>
              <c:pt idx="175">
                <c:v>50</c:v>
              </c:pt>
              <c:pt idx="176">
                <c:v>49</c:v>
              </c:pt>
              <c:pt idx="177">
                <c:v>41</c:v>
              </c:pt>
              <c:pt idx="178">
                <c:v>55</c:v>
              </c:pt>
              <c:pt idx="179">
                <c:v>42</c:v>
              </c:pt>
              <c:pt idx="180">
                <c:v>54</c:v>
              </c:pt>
              <c:pt idx="181">
                <c:v>42</c:v>
              </c:pt>
              <c:pt idx="182">
                <c:v>46</c:v>
              </c:pt>
              <c:pt idx="183">
                <c:v>48</c:v>
              </c:pt>
              <c:pt idx="184">
                <c:v>50</c:v>
              </c:pt>
              <c:pt idx="185">
                <c:v>56</c:v>
              </c:pt>
              <c:pt idx="186">
                <c:v>40</c:v>
              </c:pt>
              <c:pt idx="187">
                <c:v>29</c:v>
              </c:pt>
              <c:pt idx="188">
                <c:v>34</c:v>
              </c:pt>
              <c:pt idx="189">
                <c:v>5</c:v>
              </c:pt>
              <c:pt idx="190">
                <c:v>10</c:v>
              </c:pt>
              <c:pt idx="191">
                <c:v>40</c:v>
              </c:pt>
              <c:pt idx="192">
                <c:v>12</c:v>
              </c:pt>
              <c:pt idx="193">
                <c:v>22</c:v>
              </c:pt>
              <c:pt idx="194">
                <c:v>5</c:v>
              </c:pt>
              <c:pt idx="195">
                <c:v>27</c:v>
              </c:pt>
              <c:pt idx="196">
                <c:v>32</c:v>
              </c:pt>
              <c:pt idx="197">
                <c:v>39</c:v>
              </c:pt>
              <c:pt idx="198">
                <c:v>23</c:v>
              </c:pt>
              <c:pt idx="199">
                <c:v>18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67E2-4992-8C0E-FE606E297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IN"/>
                  <a:t>Spending Score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IN"/>
                  <a:t>Age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r>
              <a:rPr lang="en-US" sz="1275" b="1">
                <a:solidFill>
                  <a:srgbClr val="172033"/>
                </a:solidFill>
              </a:rPr>
              <a:t>Inertia by Number of Clusters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Inertia</c:v>
          </c:tx>
          <c:spPr>
            <a:ln w="28575">
              <a:solidFill>
                <a:srgbClr val="1D3557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9"/>
              <c:pt idx="0">
                <c:v>2</c:v>
              </c:pt>
              <c:pt idx="1">
                <c:v>3</c:v>
              </c:pt>
              <c:pt idx="2">
                <c:v>4</c:v>
              </c:pt>
              <c:pt idx="3">
                <c:v>5</c:v>
              </c:pt>
              <c:pt idx="4">
                <c:v>6</c:v>
              </c:pt>
              <c:pt idx="5">
                <c:v>7</c:v>
              </c:pt>
              <c:pt idx="6">
                <c:v>8</c:v>
              </c:pt>
              <c:pt idx="7">
                <c:v>9</c:v>
              </c:pt>
              <c:pt idx="8">
                <c:v>10</c:v>
              </c:pt>
            </c:numLit>
          </c:cat>
          <c:val>
            <c:numLit>
              <c:formatCode>General</c:formatCode>
              <c:ptCount val="9"/>
              <c:pt idx="0">
                <c:v>189.39</c:v>
              </c:pt>
              <c:pt idx="1">
                <c:v>124.33</c:v>
              </c:pt>
              <c:pt idx="2">
                <c:v>89.77</c:v>
              </c:pt>
              <c:pt idx="3">
                <c:v>71.3</c:v>
              </c:pt>
              <c:pt idx="4">
                <c:v>53.13</c:v>
              </c:pt>
              <c:pt idx="5">
                <c:v>45.91</c:v>
              </c:pt>
              <c:pt idx="6">
                <c:v>39.19</c:v>
              </c:pt>
              <c:pt idx="7">
                <c:v>34.17</c:v>
              </c:pt>
              <c:pt idx="8">
                <c:v>28.86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62D-464D-A8DE-C21DC4A407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IN"/>
                  <a:t>K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IN"/>
                  <a:t>Inertia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r>
              <a:rPr lang="en-IN" sz="1275" b="1">
                <a:solidFill>
                  <a:srgbClr val="172033"/>
                </a:solidFill>
              </a:rPr>
              <a:t>Silhouette Score by 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Silhouette</c:v>
          </c:tx>
          <c:spPr>
            <a:solidFill>
              <a:srgbClr val="2A9D8F"/>
            </a:solidFill>
          </c:spPr>
          <c:invertIfNegative val="1"/>
          <c:dLbls>
            <c:delete val="1"/>
          </c:dLbls>
          <c:cat>
            <c:numLit>
              <c:formatCode>General</c:formatCode>
              <c:ptCount val="9"/>
              <c:pt idx="0">
                <c:v>2</c:v>
              </c:pt>
              <c:pt idx="1">
                <c:v>3</c:v>
              </c:pt>
              <c:pt idx="2">
                <c:v>4</c:v>
              </c:pt>
              <c:pt idx="3">
                <c:v>5</c:v>
              </c:pt>
              <c:pt idx="4">
                <c:v>6</c:v>
              </c:pt>
              <c:pt idx="5">
                <c:v>7</c:v>
              </c:pt>
              <c:pt idx="6">
                <c:v>8</c:v>
              </c:pt>
              <c:pt idx="7">
                <c:v>9</c:v>
              </c:pt>
              <c:pt idx="8">
                <c:v>10</c:v>
              </c:pt>
            </c:numLit>
          </c:cat>
          <c:val>
            <c:numLit>
              <c:formatCode>General</c:formatCode>
              <c:ptCount val="9"/>
              <c:pt idx="0">
                <c:v>0.47199999999999998</c:v>
              </c:pt>
              <c:pt idx="1">
                <c:v>0.44</c:v>
              </c:pt>
              <c:pt idx="2">
                <c:v>0.438</c:v>
              </c:pt>
              <c:pt idx="3">
                <c:v>0.44800000000000001</c:v>
              </c:pt>
              <c:pt idx="4">
                <c:v>0.45700000000000002</c:v>
              </c:pt>
              <c:pt idx="5">
                <c:v>0.41099999999999998</c:v>
              </c:pt>
              <c:pt idx="6">
                <c:v>0.40500000000000003</c:v>
              </c:pt>
              <c:pt idx="7">
                <c:v>0.40899999999999997</c:v>
              </c:pt>
              <c:pt idx="8">
                <c:v>0.438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8D7-4B30-B4B2-B8774C02E7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IN"/>
                  <a:t>K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.35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IN"/>
                  <a:t>Silhouette Score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r>
              <a:rPr lang="en-US" sz="1350" b="1">
                <a:solidFill>
                  <a:srgbClr val="172033"/>
                </a:solidFill>
              </a:rPr>
              <a:t>K-Means Clusters: Age vs Spending Score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9.7072276658570489E-2"/>
          <c:y val="9.8745744865682245E-2"/>
          <c:w val="0.65297634071864041"/>
          <c:h val="0.6968144224498225"/>
        </c:manualLayout>
      </c:layout>
      <c:scatterChart>
        <c:scatterStyle val="lineMarker"/>
        <c:varyColors val="1"/>
        <c:ser>
          <c:idx val="0"/>
          <c:order val="0"/>
          <c:tx>
            <c:v>Mature Low Spenders</c:v>
          </c:tx>
          <c:spPr>
            <a:ln w="0">
              <a:noFill/>
              <a:prstDash val="solid"/>
            </a:ln>
          </c:spPr>
          <c:marker>
            <c:symbol val="circle"/>
            <c:size val="6"/>
          </c:marker>
          <c:xVal>
            <c:numLit>
              <c:formatCode>General</c:formatCode>
              <c:ptCount val="38"/>
              <c:pt idx="0">
                <c:v>35</c:v>
              </c:pt>
              <c:pt idx="1">
                <c:v>64</c:v>
              </c:pt>
              <c:pt idx="2">
                <c:v>67</c:v>
              </c:pt>
              <c:pt idx="3">
                <c:v>58</c:v>
              </c:pt>
              <c:pt idx="4">
                <c:v>37</c:v>
              </c:pt>
              <c:pt idx="5">
                <c:v>52</c:v>
              </c:pt>
              <c:pt idx="6">
                <c:v>46</c:v>
              </c:pt>
              <c:pt idx="7">
                <c:v>54</c:v>
              </c:pt>
              <c:pt idx="8">
                <c:v>45</c:v>
              </c:pt>
              <c:pt idx="9">
                <c:v>40</c:v>
              </c:pt>
              <c:pt idx="10">
                <c:v>60</c:v>
              </c:pt>
              <c:pt idx="11">
                <c:v>53</c:v>
              </c:pt>
              <c:pt idx="12">
                <c:v>49</c:v>
              </c:pt>
              <c:pt idx="13">
                <c:v>42</c:v>
              </c:pt>
              <c:pt idx="14">
                <c:v>49</c:v>
              </c:pt>
              <c:pt idx="15">
                <c:v>43</c:v>
              </c:pt>
              <c:pt idx="16">
                <c:v>59</c:v>
              </c:pt>
              <c:pt idx="17">
                <c:v>47</c:v>
              </c:pt>
              <c:pt idx="18">
                <c:v>44</c:v>
              </c:pt>
              <c:pt idx="19">
                <c:v>57</c:v>
              </c:pt>
              <c:pt idx="20">
                <c:v>43</c:v>
              </c:pt>
              <c:pt idx="21">
                <c:v>44</c:v>
              </c:pt>
              <c:pt idx="22">
                <c:v>47</c:v>
              </c:pt>
              <c:pt idx="23">
                <c:v>37</c:v>
              </c:pt>
              <c:pt idx="24">
                <c:v>34</c:v>
              </c:pt>
              <c:pt idx="25">
                <c:v>50</c:v>
              </c:pt>
              <c:pt idx="26">
                <c:v>42</c:v>
              </c:pt>
              <c:pt idx="27">
                <c:v>40</c:v>
              </c:pt>
              <c:pt idx="28">
                <c:v>36</c:v>
              </c:pt>
              <c:pt idx="29">
                <c:v>52</c:v>
              </c:pt>
              <c:pt idx="30">
                <c:v>58</c:v>
              </c:pt>
              <c:pt idx="31">
                <c:v>59</c:v>
              </c:pt>
              <c:pt idx="32">
                <c:v>46</c:v>
              </c:pt>
              <c:pt idx="33">
                <c:v>54</c:v>
              </c:pt>
              <c:pt idx="34">
                <c:v>41</c:v>
              </c:pt>
              <c:pt idx="35">
                <c:v>33</c:v>
              </c:pt>
              <c:pt idx="36">
                <c:v>47</c:v>
              </c:pt>
              <c:pt idx="37">
                <c:v>45</c:v>
              </c:pt>
            </c:numLit>
          </c:xVal>
          <c:yVal>
            <c:numLit>
              <c:formatCode>General</c:formatCode>
              <c:ptCount val="38"/>
              <c:pt idx="0">
                <c:v>6</c:v>
              </c:pt>
              <c:pt idx="1">
                <c:v>3</c:v>
              </c:pt>
              <c:pt idx="2">
                <c:v>14</c:v>
              </c:pt>
              <c:pt idx="3">
                <c:v>15</c:v>
              </c:pt>
              <c:pt idx="4">
                <c:v>13</c:v>
              </c:pt>
              <c:pt idx="5">
                <c:v>29</c:v>
              </c:pt>
              <c:pt idx="6">
                <c:v>5</c:v>
              </c:pt>
              <c:pt idx="7">
                <c:v>14</c:v>
              </c:pt>
              <c:pt idx="8">
                <c:v>32</c:v>
              </c:pt>
              <c:pt idx="9">
                <c:v>31</c:v>
              </c:pt>
              <c:pt idx="10">
                <c:v>4</c:v>
              </c:pt>
              <c:pt idx="11">
                <c:v>4</c:v>
              </c:pt>
              <c:pt idx="12">
                <c:v>14</c:v>
              </c:pt>
              <c:pt idx="13">
                <c:v>17</c:v>
              </c:pt>
              <c:pt idx="14">
                <c:v>28</c:v>
              </c:pt>
              <c:pt idx="15">
                <c:v>35</c:v>
              </c:pt>
              <c:pt idx="16">
                <c:v>11</c:v>
              </c:pt>
              <c:pt idx="17">
                <c:v>9</c:v>
              </c:pt>
              <c:pt idx="18">
                <c:v>7</c:v>
              </c:pt>
              <c:pt idx="19">
                <c:v>5</c:v>
              </c:pt>
              <c:pt idx="20">
                <c:v>17</c:v>
              </c:pt>
              <c:pt idx="21">
                <c:v>20</c:v>
              </c:pt>
              <c:pt idx="22">
                <c:v>16</c:v>
              </c:pt>
              <c:pt idx="23">
                <c:v>1</c:v>
              </c:pt>
              <c:pt idx="24">
                <c:v>1</c:v>
              </c:pt>
              <c:pt idx="25">
                <c:v>26</c:v>
              </c:pt>
              <c:pt idx="26">
                <c:v>20</c:v>
              </c:pt>
              <c:pt idx="27">
                <c:v>13</c:v>
              </c:pt>
              <c:pt idx="28">
                <c:v>10</c:v>
              </c:pt>
              <c:pt idx="29">
                <c:v>13</c:v>
              </c:pt>
              <c:pt idx="30">
                <c:v>15</c:v>
              </c:pt>
              <c:pt idx="31">
                <c:v>14</c:v>
              </c:pt>
              <c:pt idx="32">
                <c:v>15</c:v>
              </c:pt>
              <c:pt idx="33">
                <c:v>24</c:v>
              </c:pt>
              <c:pt idx="34">
                <c:v>17</c:v>
              </c:pt>
              <c:pt idx="35">
                <c:v>8</c:v>
              </c:pt>
              <c:pt idx="36">
                <c:v>16</c:v>
              </c:pt>
              <c:pt idx="37">
                <c:v>28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63B5-49BD-8F52-D7AA8161A168}"/>
            </c:ext>
          </c:extLst>
        </c:ser>
        <c:ser>
          <c:idx val="1"/>
          <c:order val="1"/>
          <c:tx>
            <c:v>Mature Moderate Spenders</c:v>
          </c:tx>
          <c:spPr>
            <a:ln w="0">
              <a:noFill/>
              <a:prstDash val="solid"/>
            </a:ln>
          </c:spPr>
          <c:marker>
            <c:symbol val="circle"/>
            <c:size val="6"/>
          </c:marker>
          <c:xVal>
            <c:numLit>
              <c:formatCode>General</c:formatCode>
              <c:ptCount val="47"/>
              <c:pt idx="0">
                <c:v>65</c:v>
              </c:pt>
              <c:pt idx="1">
                <c:v>48</c:v>
              </c:pt>
              <c:pt idx="2">
                <c:v>50</c:v>
              </c:pt>
              <c:pt idx="3">
                <c:v>49</c:v>
              </c:pt>
              <c:pt idx="4">
                <c:v>59</c:v>
              </c:pt>
              <c:pt idx="5">
                <c:v>50</c:v>
              </c:pt>
              <c:pt idx="6">
                <c:v>47</c:v>
              </c:pt>
              <c:pt idx="7">
                <c:v>51</c:v>
              </c:pt>
              <c:pt idx="8">
                <c:v>69</c:v>
              </c:pt>
              <c:pt idx="9">
                <c:v>53</c:v>
              </c:pt>
              <c:pt idx="10">
                <c:v>70</c:v>
              </c:pt>
              <c:pt idx="11">
                <c:v>67</c:v>
              </c:pt>
              <c:pt idx="12">
                <c:v>54</c:v>
              </c:pt>
              <c:pt idx="13">
                <c:v>63</c:v>
              </c:pt>
              <c:pt idx="14">
                <c:v>43</c:v>
              </c:pt>
              <c:pt idx="15">
                <c:v>68</c:v>
              </c:pt>
              <c:pt idx="16">
                <c:v>70</c:v>
              </c:pt>
              <c:pt idx="17">
                <c:v>47</c:v>
              </c:pt>
              <c:pt idx="18">
                <c:v>60</c:v>
              </c:pt>
              <c:pt idx="19">
                <c:v>60</c:v>
              </c:pt>
              <c:pt idx="20">
                <c:v>59</c:v>
              </c:pt>
              <c:pt idx="21">
                <c:v>45</c:v>
              </c:pt>
              <c:pt idx="22">
                <c:v>49</c:v>
              </c:pt>
              <c:pt idx="23">
                <c:v>57</c:v>
              </c:pt>
              <c:pt idx="24">
                <c:v>67</c:v>
              </c:pt>
              <c:pt idx="25">
                <c:v>46</c:v>
              </c:pt>
              <c:pt idx="26">
                <c:v>48</c:v>
              </c:pt>
              <c:pt idx="27">
                <c:v>55</c:v>
              </c:pt>
              <c:pt idx="28">
                <c:v>50</c:v>
              </c:pt>
              <c:pt idx="29">
                <c:v>68</c:v>
              </c:pt>
              <c:pt idx="30">
                <c:v>48</c:v>
              </c:pt>
              <c:pt idx="31">
                <c:v>47</c:v>
              </c:pt>
              <c:pt idx="32">
                <c:v>48</c:v>
              </c:pt>
              <c:pt idx="33">
                <c:v>49</c:v>
              </c:pt>
              <c:pt idx="34">
                <c:v>67</c:v>
              </c:pt>
              <c:pt idx="35">
                <c:v>49</c:v>
              </c:pt>
              <c:pt idx="36">
                <c:v>66</c:v>
              </c:pt>
              <c:pt idx="37">
                <c:v>54</c:v>
              </c:pt>
              <c:pt idx="38">
                <c:v>68</c:v>
              </c:pt>
              <c:pt idx="39">
                <c:v>66</c:v>
              </c:pt>
              <c:pt idx="40">
                <c:v>65</c:v>
              </c:pt>
              <c:pt idx="41">
                <c:v>63</c:v>
              </c:pt>
              <c:pt idx="42">
                <c:v>49</c:v>
              </c:pt>
              <c:pt idx="43">
                <c:v>51</c:v>
              </c:pt>
              <c:pt idx="44">
                <c:v>50</c:v>
              </c:pt>
              <c:pt idx="45">
                <c:v>48</c:v>
              </c:pt>
              <c:pt idx="46">
                <c:v>56</c:v>
              </c:pt>
            </c:numLit>
          </c:xVal>
          <c:yVal>
            <c:numLit>
              <c:formatCode>General</c:formatCode>
              <c:ptCount val="47"/>
              <c:pt idx="0">
                <c:v>35</c:v>
              </c:pt>
              <c:pt idx="1">
                <c:v>36</c:v>
              </c:pt>
              <c:pt idx="2">
                <c:v>55</c:v>
              </c:pt>
              <c:pt idx="3">
                <c:v>52</c:v>
              </c:pt>
              <c:pt idx="4">
                <c:v>60</c:v>
              </c:pt>
              <c:pt idx="5">
                <c:v>45</c:v>
              </c:pt>
              <c:pt idx="6">
                <c:v>41</c:v>
              </c:pt>
              <c:pt idx="7">
                <c:v>50</c:v>
              </c:pt>
              <c:pt idx="8">
                <c:v>46</c:v>
              </c:pt>
              <c:pt idx="9">
                <c:v>46</c:v>
              </c:pt>
              <c:pt idx="10">
                <c:v>56</c:v>
              </c:pt>
              <c:pt idx="11">
                <c:v>52</c:v>
              </c:pt>
              <c:pt idx="12">
                <c:v>59</c:v>
              </c:pt>
              <c:pt idx="13">
                <c:v>51</c:v>
              </c:pt>
              <c:pt idx="14">
                <c:v>50</c:v>
              </c:pt>
              <c:pt idx="15">
                <c:v>48</c:v>
              </c:pt>
              <c:pt idx="16">
                <c:v>55</c:v>
              </c:pt>
              <c:pt idx="17">
                <c:v>42</c:v>
              </c:pt>
              <c:pt idx="18">
                <c:v>49</c:v>
              </c:pt>
              <c:pt idx="19">
                <c:v>56</c:v>
              </c:pt>
              <c:pt idx="20">
                <c:v>47</c:v>
              </c:pt>
              <c:pt idx="21">
                <c:v>53</c:v>
              </c:pt>
              <c:pt idx="22">
                <c:v>42</c:v>
              </c:pt>
              <c:pt idx="23">
                <c:v>51</c:v>
              </c:pt>
              <c:pt idx="24">
                <c:v>41</c:v>
              </c:pt>
              <c:pt idx="25">
                <c:v>44</c:v>
              </c:pt>
              <c:pt idx="26">
                <c:v>46</c:v>
              </c:pt>
              <c:pt idx="27">
                <c:v>58</c:v>
              </c:pt>
              <c:pt idx="28">
                <c:v>46</c:v>
              </c:pt>
              <c:pt idx="29">
                <c:v>55</c:v>
              </c:pt>
              <c:pt idx="30">
                <c:v>49</c:v>
              </c:pt>
              <c:pt idx="31">
                <c:v>47</c:v>
              </c:pt>
              <c:pt idx="32">
                <c:v>42</c:v>
              </c:pt>
              <c:pt idx="33">
                <c:v>48</c:v>
              </c:pt>
              <c:pt idx="34">
                <c:v>59</c:v>
              </c:pt>
              <c:pt idx="35">
                <c:v>56</c:v>
              </c:pt>
              <c:pt idx="36">
                <c:v>50</c:v>
              </c:pt>
              <c:pt idx="37">
                <c:v>46</c:v>
              </c:pt>
              <c:pt idx="38">
                <c:v>43</c:v>
              </c:pt>
              <c:pt idx="39">
                <c:v>48</c:v>
              </c:pt>
              <c:pt idx="40">
                <c:v>52</c:v>
              </c:pt>
              <c:pt idx="41">
                <c:v>43</c:v>
              </c:pt>
              <c:pt idx="42">
                <c:v>59</c:v>
              </c:pt>
              <c:pt idx="43">
                <c:v>43</c:v>
              </c:pt>
              <c:pt idx="44">
                <c:v>57</c:v>
              </c:pt>
              <c:pt idx="45">
                <c:v>36</c:v>
              </c:pt>
              <c:pt idx="46">
                <c:v>35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63B5-49BD-8F52-D7AA8161A168}"/>
            </c:ext>
          </c:extLst>
        </c:ser>
        <c:ser>
          <c:idx val="2"/>
          <c:order val="2"/>
          <c:tx>
            <c:v>Young High Spenders</c:v>
          </c:tx>
          <c:spPr>
            <a:ln w="0">
              <a:noFill/>
              <a:prstDash val="solid"/>
            </a:ln>
          </c:spPr>
          <c:marker>
            <c:symbol val="circle"/>
            <c:size val="6"/>
          </c:marker>
          <c:xVal>
            <c:numLit>
              <c:formatCode>General</c:formatCode>
              <c:ptCount val="65"/>
              <c:pt idx="0">
                <c:v>21</c:v>
              </c:pt>
              <c:pt idx="1">
                <c:v>23</c:v>
              </c:pt>
              <c:pt idx="2">
                <c:v>22</c:v>
              </c:pt>
              <c:pt idx="3">
                <c:v>23</c:v>
              </c:pt>
              <c:pt idx="4">
                <c:v>30</c:v>
              </c:pt>
              <c:pt idx="5">
                <c:v>35</c:v>
              </c:pt>
              <c:pt idx="6">
                <c:v>24</c:v>
              </c:pt>
              <c:pt idx="7">
                <c:v>22</c:v>
              </c:pt>
              <c:pt idx="8">
                <c:v>20</c:v>
              </c:pt>
              <c:pt idx="9">
                <c:v>35</c:v>
              </c:pt>
              <c:pt idx="10">
                <c:v>25</c:v>
              </c:pt>
              <c:pt idx="11">
                <c:v>31</c:v>
              </c:pt>
              <c:pt idx="12">
                <c:v>29</c:v>
              </c:pt>
              <c:pt idx="13">
                <c:v>35</c:v>
              </c:pt>
              <c:pt idx="14">
                <c:v>23</c:v>
              </c:pt>
              <c:pt idx="15">
                <c:v>21</c:v>
              </c:pt>
              <c:pt idx="16">
                <c:v>18</c:v>
              </c:pt>
              <c:pt idx="17">
                <c:v>21</c:v>
              </c:pt>
              <c:pt idx="18">
                <c:v>30</c:v>
              </c:pt>
              <c:pt idx="19">
                <c:v>20</c:v>
              </c:pt>
              <c:pt idx="20">
                <c:v>24</c:v>
              </c:pt>
              <c:pt idx="21">
                <c:v>31</c:v>
              </c:pt>
              <c:pt idx="22">
                <c:v>24</c:v>
              </c:pt>
              <c:pt idx="23">
                <c:v>33</c:v>
              </c:pt>
              <c:pt idx="24">
                <c:v>34</c:v>
              </c:pt>
              <c:pt idx="25">
                <c:v>40</c:v>
              </c:pt>
              <c:pt idx="26">
                <c:v>39</c:v>
              </c:pt>
              <c:pt idx="27">
                <c:v>31</c:v>
              </c:pt>
              <c:pt idx="28">
                <c:v>40</c:v>
              </c:pt>
              <c:pt idx="29">
                <c:v>38</c:v>
              </c:pt>
              <c:pt idx="30">
                <c:v>39</c:v>
              </c:pt>
              <c:pt idx="31">
                <c:v>31</c:v>
              </c:pt>
              <c:pt idx="32">
                <c:v>29</c:v>
              </c:pt>
              <c:pt idx="33">
                <c:v>32</c:v>
              </c:pt>
              <c:pt idx="34">
                <c:v>35</c:v>
              </c:pt>
              <c:pt idx="35">
                <c:v>32</c:v>
              </c:pt>
              <c:pt idx="36">
                <c:v>32</c:v>
              </c:pt>
              <c:pt idx="37">
                <c:v>28</c:v>
              </c:pt>
              <c:pt idx="38">
                <c:v>32</c:v>
              </c:pt>
              <c:pt idx="39">
                <c:v>34</c:v>
              </c:pt>
              <c:pt idx="40">
                <c:v>39</c:v>
              </c:pt>
              <c:pt idx="41">
                <c:v>38</c:v>
              </c:pt>
              <c:pt idx="42">
                <c:v>27</c:v>
              </c:pt>
              <c:pt idx="43">
                <c:v>30</c:v>
              </c:pt>
              <c:pt idx="44">
                <c:v>30</c:v>
              </c:pt>
              <c:pt idx="45">
                <c:v>29</c:v>
              </c:pt>
              <c:pt idx="46">
                <c:v>31</c:v>
              </c:pt>
              <c:pt idx="47">
                <c:v>36</c:v>
              </c:pt>
              <c:pt idx="48">
                <c:v>33</c:v>
              </c:pt>
              <c:pt idx="49">
                <c:v>32</c:v>
              </c:pt>
              <c:pt idx="50">
                <c:v>28</c:v>
              </c:pt>
              <c:pt idx="51">
                <c:v>36</c:v>
              </c:pt>
              <c:pt idx="52">
                <c:v>30</c:v>
              </c:pt>
              <c:pt idx="53">
                <c:v>27</c:v>
              </c:pt>
              <c:pt idx="54">
                <c:v>35</c:v>
              </c:pt>
              <c:pt idx="55">
                <c:v>32</c:v>
              </c:pt>
              <c:pt idx="56">
                <c:v>29</c:v>
              </c:pt>
              <c:pt idx="57">
                <c:v>30</c:v>
              </c:pt>
              <c:pt idx="58">
                <c:v>28</c:v>
              </c:pt>
              <c:pt idx="59">
                <c:v>36</c:v>
              </c:pt>
              <c:pt idx="60">
                <c:v>32</c:v>
              </c:pt>
              <c:pt idx="61">
                <c:v>38</c:v>
              </c:pt>
              <c:pt idx="62">
                <c:v>35</c:v>
              </c:pt>
              <c:pt idx="63">
                <c:v>32</c:v>
              </c:pt>
              <c:pt idx="64">
                <c:v>30</c:v>
              </c:pt>
            </c:numLit>
          </c:xVal>
          <c:yVal>
            <c:numLit>
              <c:formatCode>General</c:formatCode>
              <c:ptCount val="65"/>
              <c:pt idx="0">
                <c:v>81</c:v>
              </c:pt>
              <c:pt idx="1">
                <c:v>77</c:v>
              </c:pt>
              <c:pt idx="2">
                <c:v>76</c:v>
              </c:pt>
              <c:pt idx="3">
                <c:v>94</c:v>
              </c:pt>
              <c:pt idx="4">
                <c:v>72</c:v>
              </c:pt>
              <c:pt idx="5">
                <c:v>99</c:v>
              </c:pt>
              <c:pt idx="6">
                <c:v>77</c:v>
              </c:pt>
              <c:pt idx="7">
                <c:v>79</c:v>
              </c:pt>
              <c:pt idx="8">
                <c:v>66</c:v>
              </c:pt>
              <c:pt idx="9">
                <c:v>98</c:v>
              </c:pt>
              <c:pt idx="10">
                <c:v>73</c:v>
              </c:pt>
              <c:pt idx="11">
                <c:v>73</c:v>
              </c:pt>
              <c:pt idx="12">
                <c:v>82</c:v>
              </c:pt>
              <c:pt idx="13">
                <c:v>61</c:v>
              </c:pt>
              <c:pt idx="14">
                <c:v>87</c:v>
              </c:pt>
              <c:pt idx="15">
                <c:v>73</c:v>
              </c:pt>
              <c:pt idx="16">
                <c:v>92</c:v>
              </c:pt>
              <c:pt idx="17">
                <c:v>81</c:v>
              </c:pt>
              <c:pt idx="18">
                <c:v>73</c:v>
              </c:pt>
              <c:pt idx="19">
                <c:v>75</c:v>
              </c:pt>
              <c:pt idx="20">
                <c:v>92</c:v>
              </c:pt>
              <c:pt idx="21">
                <c:v>61</c:v>
              </c:pt>
              <c:pt idx="22">
                <c:v>65</c:v>
              </c:pt>
              <c:pt idx="23">
                <c:v>60</c:v>
              </c:pt>
              <c:pt idx="24">
                <c:v>60</c:v>
              </c:pt>
              <c:pt idx="25">
                <c:v>58</c:v>
              </c:pt>
              <c:pt idx="26">
                <c:v>91</c:v>
              </c:pt>
              <c:pt idx="27">
                <c:v>77</c:v>
              </c:pt>
              <c:pt idx="28">
                <c:v>95</c:v>
              </c:pt>
              <c:pt idx="29">
                <c:v>75</c:v>
              </c:pt>
              <c:pt idx="30">
                <c:v>75</c:v>
              </c:pt>
              <c:pt idx="31">
                <c:v>71</c:v>
              </c:pt>
              <c:pt idx="32">
                <c:v>88</c:v>
              </c:pt>
              <c:pt idx="33">
                <c:v>73</c:v>
              </c:pt>
              <c:pt idx="34">
                <c:v>72</c:v>
              </c:pt>
              <c:pt idx="35">
                <c:v>93</c:v>
              </c:pt>
              <c:pt idx="36">
                <c:v>87</c:v>
              </c:pt>
              <c:pt idx="37">
                <c:v>97</c:v>
              </c:pt>
              <c:pt idx="38">
                <c:v>74</c:v>
              </c:pt>
              <c:pt idx="39">
                <c:v>90</c:v>
              </c:pt>
              <c:pt idx="40">
                <c:v>88</c:v>
              </c:pt>
              <c:pt idx="41">
                <c:v>76</c:v>
              </c:pt>
              <c:pt idx="42">
                <c:v>89</c:v>
              </c:pt>
              <c:pt idx="43">
                <c:v>78</c:v>
              </c:pt>
              <c:pt idx="44">
                <c:v>73</c:v>
              </c:pt>
              <c:pt idx="45">
                <c:v>83</c:v>
              </c:pt>
              <c:pt idx="46">
                <c:v>93</c:v>
              </c:pt>
              <c:pt idx="47">
                <c:v>75</c:v>
              </c:pt>
              <c:pt idx="48">
                <c:v>95</c:v>
              </c:pt>
              <c:pt idx="49">
                <c:v>63</c:v>
              </c:pt>
              <c:pt idx="50">
                <c:v>75</c:v>
              </c:pt>
              <c:pt idx="51">
                <c:v>92</c:v>
              </c:pt>
              <c:pt idx="52">
                <c:v>86</c:v>
              </c:pt>
              <c:pt idx="53">
                <c:v>69</c:v>
              </c:pt>
              <c:pt idx="54">
                <c:v>90</c:v>
              </c:pt>
              <c:pt idx="55">
                <c:v>86</c:v>
              </c:pt>
              <c:pt idx="56">
                <c:v>88</c:v>
              </c:pt>
              <c:pt idx="57">
                <c:v>97</c:v>
              </c:pt>
              <c:pt idx="58">
                <c:v>68</c:v>
              </c:pt>
              <c:pt idx="59">
                <c:v>85</c:v>
              </c:pt>
              <c:pt idx="60">
                <c:v>69</c:v>
              </c:pt>
              <c:pt idx="61">
                <c:v>91</c:v>
              </c:pt>
              <c:pt idx="62">
                <c:v>79</c:v>
              </c:pt>
              <c:pt idx="63">
                <c:v>74</c:v>
              </c:pt>
              <c:pt idx="64">
                <c:v>83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63B5-49BD-8F52-D7AA8161A168}"/>
            </c:ext>
          </c:extLst>
        </c:ser>
        <c:ser>
          <c:idx val="3"/>
          <c:order val="3"/>
          <c:tx>
            <c:v>Young Moderate Spenders</c:v>
          </c:tx>
          <c:spPr>
            <a:ln w="0">
              <a:noFill/>
              <a:prstDash val="solid"/>
            </a:ln>
          </c:spPr>
          <c:marker>
            <c:symbol val="circle"/>
            <c:size val="6"/>
          </c:marker>
          <c:xVal>
            <c:numLit>
              <c:formatCode>General</c:formatCode>
              <c:ptCount val="50"/>
              <c:pt idx="0">
                <c:v>19</c:v>
              </c:pt>
              <c:pt idx="1">
                <c:v>20</c:v>
              </c:pt>
              <c:pt idx="2">
                <c:v>31</c:v>
              </c:pt>
              <c:pt idx="3">
                <c:v>35</c:v>
              </c:pt>
              <c:pt idx="4">
                <c:v>35</c:v>
              </c:pt>
              <c:pt idx="5">
                <c:v>36</c:v>
              </c:pt>
              <c:pt idx="6">
                <c:v>27</c:v>
              </c:pt>
              <c:pt idx="7">
                <c:v>29</c:v>
              </c:pt>
              <c:pt idx="8">
                <c:v>31</c:v>
              </c:pt>
              <c:pt idx="9">
                <c:v>31</c:v>
              </c:pt>
              <c:pt idx="10">
                <c:v>27</c:v>
              </c:pt>
              <c:pt idx="11">
                <c:v>19</c:v>
              </c:pt>
              <c:pt idx="12">
                <c:v>18</c:v>
              </c:pt>
              <c:pt idx="13">
                <c:v>19</c:v>
              </c:pt>
              <c:pt idx="14">
                <c:v>32</c:v>
              </c:pt>
              <c:pt idx="15">
                <c:v>26</c:v>
              </c:pt>
              <c:pt idx="16">
                <c:v>40</c:v>
              </c:pt>
              <c:pt idx="17">
                <c:v>23</c:v>
              </c:pt>
              <c:pt idx="18">
                <c:v>38</c:v>
              </c:pt>
              <c:pt idx="19">
                <c:v>21</c:v>
              </c:pt>
              <c:pt idx="20">
                <c:v>22</c:v>
              </c:pt>
              <c:pt idx="21">
                <c:v>18</c:v>
              </c:pt>
              <c:pt idx="22">
                <c:v>40</c:v>
              </c:pt>
              <c:pt idx="23">
                <c:v>32</c:v>
              </c:pt>
              <c:pt idx="24">
                <c:v>24</c:v>
              </c:pt>
              <c:pt idx="25">
                <c:v>27</c:v>
              </c:pt>
              <c:pt idx="26">
                <c:v>20</c:v>
              </c:pt>
              <c:pt idx="27">
                <c:v>23</c:v>
              </c:pt>
              <c:pt idx="28">
                <c:v>26</c:v>
              </c:pt>
              <c:pt idx="29">
                <c:v>21</c:v>
              </c:pt>
              <c:pt idx="30">
                <c:v>19</c:v>
              </c:pt>
              <c:pt idx="31">
                <c:v>38</c:v>
              </c:pt>
              <c:pt idx="32">
                <c:v>19</c:v>
              </c:pt>
              <c:pt idx="33">
                <c:v>18</c:v>
              </c:pt>
              <c:pt idx="34">
                <c:v>19</c:v>
              </c:pt>
              <c:pt idx="35">
                <c:v>27</c:v>
              </c:pt>
              <c:pt idx="36">
                <c:v>38</c:v>
              </c:pt>
              <c:pt idx="37">
                <c:v>23</c:v>
              </c:pt>
              <c:pt idx="38">
                <c:v>25</c:v>
              </c:pt>
              <c:pt idx="39">
                <c:v>20</c:v>
              </c:pt>
              <c:pt idx="40">
                <c:v>19</c:v>
              </c:pt>
              <c:pt idx="41">
                <c:v>28</c:v>
              </c:pt>
              <c:pt idx="42">
                <c:v>25</c:v>
              </c:pt>
              <c:pt idx="43">
                <c:v>34</c:v>
              </c:pt>
              <c:pt idx="44">
                <c:v>19</c:v>
              </c:pt>
              <c:pt idx="45">
                <c:v>36</c:v>
              </c:pt>
              <c:pt idx="46">
                <c:v>37</c:v>
              </c:pt>
              <c:pt idx="47">
                <c:v>41</c:v>
              </c:pt>
              <c:pt idx="48">
                <c:v>34</c:v>
              </c:pt>
              <c:pt idx="49">
                <c:v>32</c:v>
              </c:pt>
            </c:numLit>
          </c:xVal>
          <c:yVal>
            <c:numLit>
              <c:formatCode>General</c:formatCode>
              <c:ptCount val="50"/>
              <c:pt idx="0">
                <c:v>39</c:v>
              </c:pt>
              <c:pt idx="1">
                <c:v>6</c:v>
              </c:pt>
              <c:pt idx="2">
                <c:v>40</c:v>
              </c:pt>
              <c:pt idx="3">
                <c:v>35</c:v>
              </c:pt>
              <c:pt idx="4">
                <c:v>35</c:v>
              </c:pt>
              <c:pt idx="5">
                <c:v>26</c:v>
              </c:pt>
              <c:pt idx="6">
                <c:v>47</c:v>
              </c:pt>
              <c:pt idx="7">
                <c:v>42</c:v>
              </c:pt>
              <c:pt idx="8">
                <c:v>42</c:v>
              </c:pt>
              <c:pt idx="9">
                <c:v>54</c:v>
              </c:pt>
              <c:pt idx="10">
                <c:v>51</c:v>
              </c:pt>
              <c:pt idx="11">
                <c:v>55</c:v>
              </c:pt>
              <c:pt idx="12">
                <c:v>59</c:v>
              </c:pt>
              <c:pt idx="13">
                <c:v>59</c:v>
              </c:pt>
              <c:pt idx="14">
                <c:v>47</c:v>
              </c:pt>
              <c:pt idx="15">
                <c:v>54</c:v>
              </c:pt>
              <c:pt idx="16">
                <c:v>48</c:v>
              </c:pt>
              <c:pt idx="17">
                <c:v>52</c:v>
              </c:pt>
              <c:pt idx="18">
                <c:v>55</c:v>
              </c:pt>
              <c:pt idx="19">
                <c:v>57</c:v>
              </c:pt>
              <c:pt idx="20">
                <c:v>55</c:v>
              </c:pt>
              <c:pt idx="21">
                <c:v>41</c:v>
              </c:pt>
              <c:pt idx="22">
                <c:v>40</c:v>
              </c:pt>
              <c:pt idx="23">
                <c:v>42</c:v>
              </c:pt>
              <c:pt idx="24">
                <c:v>52</c:v>
              </c:pt>
              <c:pt idx="25">
                <c:v>50</c:v>
              </c:pt>
              <c:pt idx="26">
                <c:v>49</c:v>
              </c:pt>
              <c:pt idx="27">
                <c:v>41</c:v>
              </c:pt>
              <c:pt idx="28">
                <c:v>55</c:v>
              </c:pt>
              <c:pt idx="29">
                <c:v>42</c:v>
              </c:pt>
              <c:pt idx="30">
                <c:v>54</c:v>
              </c:pt>
              <c:pt idx="31">
                <c:v>42</c:v>
              </c:pt>
              <c:pt idx="32">
                <c:v>46</c:v>
              </c:pt>
              <c:pt idx="33">
                <c:v>48</c:v>
              </c:pt>
              <c:pt idx="34">
                <c:v>50</c:v>
              </c:pt>
              <c:pt idx="35">
                <c:v>56</c:v>
              </c:pt>
              <c:pt idx="36">
                <c:v>40</c:v>
              </c:pt>
              <c:pt idx="37">
                <c:v>29</c:v>
              </c:pt>
              <c:pt idx="38">
                <c:v>34</c:v>
              </c:pt>
              <c:pt idx="39">
                <c:v>5</c:v>
              </c:pt>
              <c:pt idx="40">
                <c:v>10</c:v>
              </c:pt>
              <c:pt idx="41">
                <c:v>40</c:v>
              </c:pt>
              <c:pt idx="42">
                <c:v>12</c:v>
              </c:pt>
              <c:pt idx="43">
                <c:v>22</c:v>
              </c:pt>
              <c:pt idx="44">
                <c:v>5</c:v>
              </c:pt>
              <c:pt idx="45">
                <c:v>27</c:v>
              </c:pt>
              <c:pt idx="46">
                <c:v>32</c:v>
              </c:pt>
              <c:pt idx="47">
                <c:v>39</c:v>
              </c:pt>
              <c:pt idx="48">
                <c:v>23</c:v>
              </c:pt>
              <c:pt idx="49">
                <c:v>18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63B5-49BD-8F52-D7AA8161A1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IN"/>
                  <a:t>Spending Score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IN"/>
                  <a:t>Age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6295728673722985"/>
          <c:y val="0.32850466351371288"/>
          <c:w val="0.22744518957502366"/>
          <c:h val="0.28899204718779165"/>
        </c:manualLayout>
      </c:layout>
      <c:overlay val="0"/>
      <c:txPr>
        <a:bodyPr anchorCtr="1"/>
        <a:lstStyle/>
        <a:p>
          <a:pPr>
            <a:defRPr sz="1050">
              <a:solidFill>
                <a:srgbClr val="172033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7CD7E77-F4D5-4614-96F0-E018BDE861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3557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790766-BB64-4121-A010-BC6D4EFC0A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BB4677-DB42-4D24-9B2B-C0DE6AB23AF5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685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Age vs Spending</a:t>
            </a:r>
          </a:p>
          <a:p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Cluster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996347-0236-44F6-83D4-B37D2E09757F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552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E5EDF7"/>
                </a:solidFill>
              </a:defRPr>
            </a:pPr>
            <a:r>
              <a:rPr sz="2100" b="1" i="0">
                <a:solidFill>
                  <a:srgbClr val="E5EDF7"/>
                </a:solidFill>
              </a:rPr>
              <a:t>Customer Segmentation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35ED3-6E12-4601-BC86-D9CC56DF1E90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D7E3F2"/>
                </a:solidFill>
              </a:defRPr>
            </a:pPr>
            <a:r>
              <a:rPr sz="1500" b="0" i="0">
                <a:solidFill>
                  <a:srgbClr val="D7E3F2"/>
                </a:solidFill>
              </a:rPr>
              <a:t>K-Means Clustering with Elbow Method and Silhouette Score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E14692-C879-450C-B739-EFACFD86528F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FFFFF"/>
                </a:solidFill>
              </a:defRPr>
            </a:pPr>
            <a:r>
              <a:rPr sz="1575" b="0" i="0" dirty="0">
                <a:solidFill>
                  <a:srgbClr val="FFFFFF"/>
                </a:solidFill>
              </a:rPr>
              <a:t>Name: Praya</a:t>
            </a:r>
            <a:r>
              <a:rPr lang="en-IN" sz="1575" b="0" i="0" dirty="0">
                <a:solidFill>
                  <a:srgbClr val="FFFFFF"/>
                </a:solidFill>
              </a:rPr>
              <a:t>s Palit</a:t>
            </a:r>
            <a:endParaRPr sz="1575" b="0" i="0" dirty="0">
              <a:solidFill>
                <a:srgbClr val="FFFFFF"/>
              </a:solidFill>
            </a:endParaRPr>
          </a:p>
          <a:p>
            <a:pPr algn="l">
              <a:defRPr sz="1575" b="0" i="0">
                <a:solidFill>
                  <a:srgbClr val="FFFFFF"/>
                </a:solidFill>
              </a:defRPr>
            </a:pPr>
            <a:r>
              <a:rPr sz="1575" b="0" i="0" dirty="0">
                <a:solidFill>
                  <a:srgbClr val="FFFFFF"/>
                </a:solidFill>
              </a:rPr>
              <a:t>Institute Name: </a:t>
            </a:r>
            <a:r>
              <a:rPr lang="en-IN" sz="1575" dirty="0">
                <a:solidFill>
                  <a:srgbClr val="FFFFFF"/>
                </a:solidFill>
              </a:rPr>
              <a:t>National Institute of Technology</a:t>
            </a:r>
            <a:endParaRPr sz="1575" b="0" i="0" dirty="0">
              <a:solidFill>
                <a:srgbClr val="FFFFFF"/>
              </a:solidFill>
            </a:endParaRPr>
          </a:p>
          <a:p>
            <a:pPr algn="l">
              <a:defRPr sz="1575" b="0" i="0">
                <a:solidFill>
                  <a:srgbClr val="FFFFFF"/>
                </a:solidFill>
              </a:defRPr>
            </a:pPr>
            <a:r>
              <a:rPr sz="1575" b="0" i="0" dirty="0">
                <a:solidFill>
                  <a:srgbClr val="FFFFFF"/>
                </a:solidFill>
              </a:rPr>
              <a:t>Week 3: Machine Learning Project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577D09-0DFD-4107-A4E4-E053FEDC97CA}"/>
              </a:ext>
            </a:extLst>
          </p:cNvPr>
          <p:cNvSpPr>
            <a:spLocks noGrp="1"/>
          </p:cNvSpPr>
          <p:nvPr/>
        </p:nvSpPr>
        <p:spPr>
          <a:xfrm>
            <a:off x="8191500" y="1314450"/>
            <a:ext cx="2724150" cy="323850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3A77FF-1AE5-4734-BBCA-CB872D980357}"/>
              </a:ext>
            </a:extLst>
          </p:cNvPr>
          <p:cNvSpPr>
            <a:spLocks noGrp="1"/>
          </p:cNvSpPr>
          <p:nvPr/>
        </p:nvSpPr>
        <p:spPr>
          <a:xfrm>
            <a:off x="8524875" y="16573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1D3557"/>
                </a:solidFill>
              </a:defRPr>
            </a:pPr>
            <a:r>
              <a:rPr sz="1950" b="1" i="0">
                <a:solidFill>
                  <a:srgbClr val="1D3557"/>
                </a:solidFill>
              </a:rPr>
              <a:t>Project Inputs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BEA167-1577-416F-A16E-D15292E7036F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19240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Dataset</a:t>
            </a:r>
          </a:p>
          <a:p>
            <a:pPr algn="ctr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200 customers</a:t>
            </a:r>
          </a:p>
          <a:p>
            <a:endParaRPr sz="1500" b="0" i="0">
              <a:solidFill>
                <a:srgbClr val="172033"/>
              </a:solidFill>
            </a:endParaRPr>
          </a:p>
          <a:p>
            <a:pPr algn="ctr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Features</a:t>
            </a:r>
          </a:p>
          <a:p>
            <a:pPr algn="ctr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Age + Spending Score</a:t>
            </a:r>
          </a:p>
          <a:p>
            <a:endParaRPr sz="1500" b="0" i="0">
              <a:solidFill>
                <a:srgbClr val="172033"/>
              </a:solidFill>
            </a:endParaRPr>
          </a:p>
          <a:p>
            <a:pPr algn="ctr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Output</a:t>
            </a:r>
          </a:p>
          <a:p>
            <a:pPr algn="ctr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4 customer segments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52FC98-CBB2-4515-BB3B-3EF6F880FCA1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7668F-AC83-495C-AAF6-954575793191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072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A1BFFA6-4AB1-4125-A7ED-1D7C767543F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CB954-835E-4D8D-A662-ABC309250F0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Project Objective And Theory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C2687-369B-41AD-B95F-A0B18AFDBAEE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3A34F7-82DF-447A-8954-B84247EA2CD9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A814CE-07A7-4DA8-BC76-A8C5274DA1E2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DCB4DF-59D3-40C9-B813-384F7A833E80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5334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Objective: segment mall customers by age and spending behavior</a:t>
            </a:r>
          </a:p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Use only Age and Spending Score for simple visual interpretation</a:t>
            </a:r>
          </a:p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Apply K-Means clustering to group similar customers</a:t>
            </a:r>
          </a:p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Use elbow and silhouette checks to compare cluster counts</a:t>
            </a:r>
          </a:p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Interpret each final group for marketing decisions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E0B727-8616-40D8-956D-8211FBD31DBE}"/>
              </a:ext>
            </a:extLst>
          </p:cNvPr>
          <p:cNvSpPr>
            <a:spLocks noGrp="1"/>
          </p:cNvSpPr>
          <p:nvPr/>
        </p:nvSpPr>
        <p:spPr>
          <a:xfrm>
            <a:off x="6705599" y="1790700"/>
            <a:ext cx="4149213" cy="31242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A6C27-CB9D-4E90-A785-576973EDD673}"/>
              </a:ext>
            </a:extLst>
          </p:cNvPr>
          <p:cNvSpPr>
            <a:spLocks noGrp="1"/>
          </p:cNvSpPr>
          <p:nvPr/>
        </p:nvSpPr>
        <p:spPr>
          <a:xfrm>
            <a:off x="7000875" y="20764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D3557"/>
                </a:solidFill>
              </a:defRPr>
            </a:pPr>
            <a:r>
              <a:rPr sz="1875" b="1" i="0">
                <a:solidFill>
                  <a:srgbClr val="1D3557"/>
                </a:solidFill>
              </a:rPr>
              <a:t>Project theory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8663F3-7C2B-4D5B-B701-5BDE6998BAF1}"/>
              </a:ext>
            </a:extLst>
          </p:cNvPr>
          <p:cNvSpPr>
            <a:spLocks noGrp="1"/>
          </p:cNvSpPr>
          <p:nvPr/>
        </p:nvSpPr>
        <p:spPr>
          <a:xfrm>
            <a:off x="7000875" y="2571750"/>
            <a:ext cx="342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Customer segmentation divides customers into groups with similar behavior. K-Means finds groups by minimizing distances between customers and their cluster centers.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622DF9-DF89-4333-BFE3-9A5D41C4A098}"/>
              </a:ext>
            </a:extLst>
          </p:cNvPr>
          <p:cNvSpPr>
            <a:spLocks noGrp="1"/>
          </p:cNvSpPr>
          <p:nvPr/>
        </p:nvSpPr>
        <p:spPr>
          <a:xfrm>
            <a:off x="7000875" y="39814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E76F51"/>
                </a:solidFill>
              </a:defRPr>
            </a:pPr>
            <a:r>
              <a:rPr sz="1575" b="1" i="0">
                <a:solidFill>
                  <a:srgbClr val="E76F51"/>
                </a:solidFill>
              </a:rPr>
              <a:t>Important note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1E275-0109-4C0D-B2E0-40BE5CD2DE62}"/>
              </a:ext>
            </a:extLst>
          </p:cNvPr>
          <p:cNvSpPr>
            <a:spLocks noGrp="1"/>
          </p:cNvSpPr>
          <p:nvPr/>
        </p:nvSpPr>
        <p:spPr>
          <a:xfrm>
            <a:off x="7000875" y="4324350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C667A"/>
                </a:solidFill>
              </a:defRPr>
            </a:pPr>
            <a:r>
              <a:rPr sz="1275" b="0" i="0">
                <a:solidFill>
                  <a:srgbClr val="5C667A"/>
                </a:solidFill>
              </a:rPr>
              <a:t>The analysis is unsupervised: it discovers patterns but does not predict a target label.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74AAB1-C395-4203-A5D9-A2872F26622A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C667A"/>
                </a:solidFill>
              </a:defRPr>
            </a:pPr>
            <a:r>
              <a:rPr sz="900" b="0" i="0">
                <a:solidFill>
                  <a:srgbClr val="5C667A"/>
                </a:solidFill>
              </a:rPr>
              <a:t>Source: Mall Customers CSV via GitHub mirror of Kaggle Mall Customer Segmentation Data</a:t>
            </a:r>
          </a:p>
        </p:txBody>
      </p:sp>
    </p:spTree>
    <p:extLst>
      <p:ext uri="{BB962C8B-B14F-4D97-AF65-F5344CB8AC3E}">
        <p14:creationId xmlns:p14="http://schemas.microsoft.com/office/powerpoint/2010/main" val="82450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81BE03D-685C-45B1-BB4C-1B8E4ABC95C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599E71-0E0E-4614-A35A-9A22637FAB7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Dataset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6C06EA-FDB0-4AFC-8F3B-069DAF615BCE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2CED6-EC26-429C-9A1C-F0C73EE06C8B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658597-E608-4169-9F7E-517FA316E6DE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428457-17AA-4901-B163-C3555EA2E75E}"/>
              </a:ext>
            </a:extLst>
          </p:cNvPr>
          <p:cNvSpPr>
            <a:spLocks noGrp="1"/>
          </p:cNvSpPr>
          <p:nvPr/>
        </p:nvSpPr>
        <p:spPr>
          <a:xfrm>
            <a:off x="819150" y="1752600"/>
            <a:ext cx="20955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C532B-E9F2-4781-B730-2E825AEBA534}"/>
              </a:ext>
            </a:extLst>
          </p:cNvPr>
          <p:cNvSpPr>
            <a:spLocks noGrp="1"/>
          </p:cNvSpPr>
          <p:nvPr/>
        </p:nvSpPr>
        <p:spPr>
          <a:xfrm>
            <a:off x="1009650" y="1924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2A9D8F"/>
                </a:solidFill>
              </a:defRPr>
            </a:pPr>
            <a:r>
              <a:rPr sz="2550" b="1" i="0">
                <a:solidFill>
                  <a:srgbClr val="2A9D8F"/>
                </a:solidFill>
              </a:rPr>
              <a:t>200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8A6D6-CE36-42B5-8F52-AD35E650FDF0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C667A"/>
                </a:solidFill>
              </a:defRPr>
            </a:pPr>
            <a:r>
              <a:rPr sz="1125" b="0" i="0">
                <a:solidFill>
                  <a:srgbClr val="5C667A"/>
                </a:solidFill>
              </a:rPr>
              <a:t>Customer records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C3711E-700E-4634-BEC2-55BB1EE00B45}"/>
              </a:ext>
            </a:extLst>
          </p:cNvPr>
          <p:cNvSpPr>
            <a:spLocks noGrp="1"/>
          </p:cNvSpPr>
          <p:nvPr/>
        </p:nvSpPr>
        <p:spPr>
          <a:xfrm>
            <a:off x="3143250" y="1752600"/>
            <a:ext cx="20955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1C2F8F-5700-4F48-A000-44136DB2AD28}"/>
              </a:ext>
            </a:extLst>
          </p:cNvPr>
          <p:cNvSpPr>
            <a:spLocks noGrp="1"/>
          </p:cNvSpPr>
          <p:nvPr/>
        </p:nvSpPr>
        <p:spPr>
          <a:xfrm>
            <a:off x="3333750" y="1924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457B9D"/>
                </a:solidFill>
              </a:defRPr>
            </a:pPr>
            <a:r>
              <a:rPr sz="2550" b="1" i="0">
                <a:solidFill>
                  <a:srgbClr val="457B9D"/>
                </a:solidFill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3AD46-A751-4024-AB03-880279BB4562}"/>
              </a:ext>
            </a:extLst>
          </p:cNvPr>
          <p:cNvSpPr>
            <a:spLocks noGrp="1"/>
          </p:cNvSpPr>
          <p:nvPr/>
        </p:nvSpPr>
        <p:spPr>
          <a:xfrm>
            <a:off x="3314700" y="23431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C667A"/>
                </a:solidFill>
              </a:defRPr>
            </a:pPr>
            <a:r>
              <a:rPr sz="1125" b="0" i="0">
                <a:solidFill>
                  <a:srgbClr val="5C667A"/>
                </a:solidFill>
              </a:rPr>
              <a:t>Original columns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314FB5-E4DB-428F-96B9-7AACCCDD23C4}"/>
              </a:ext>
            </a:extLst>
          </p:cNvPr>
          <p:cNvSpPr>
            <a:spLocks noGrp="1"/>
          </p:cNvSpPr>
          <p:nvPr/>
        </p:nvSpPr>
        <p:spPr>
          <a:xfrm>
            <a:off x="5467350" y="1752600"/>
            <a:ext cx="20955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5E0EAD-A453-448C-B139-C9DA88ACF8E5}"/>
              </a:ext>
            </a:extLst>
          </p:cNvPr>
          <p:cNvSpPr>
            <a:spLocks noGrp="1"/>
          </p:cNvSpPr>
          <p:nvPr/>
        </p:nvSpPr>
        <p:spPr>
          <a:xfrm>
            <a:off x="5657850" y="1924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E76F51"/>
                </a:solidFill>
              </a:defRPr>
            </a:pPr>
            <a:r>
              <a:rPr sz="2550" b="1" i="0">
                <a:solidFill>
                  <a:srgbClr val="E76F5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B56AA6-C178-416F-9952-177432E85DCD}"/>
              </a:ext>
            </a:extLst>
          </p:cNvPr>
          <p:cNvSpPr>
            <a:spLocks noGrp="1"/>
          </p:cNvSpPr>
          <p:nvPr/>
        </p:nvSpPr>
        <p:spPr>
          <a:xfrm>
            <a:off x="5638800" y="23431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C667A"/>
                </a:solidFill>
              </a:defRPr>
            </a:pPr>
            <a:r>
              <a:rPr sz="1125" b="0" i="0">
                <a:solidFill>
                  <a:srgbClr val="5C667A"/>
                </a:solidFill>
              </a:rPr>
              <a:t>Missing values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773FE7-FD7B-4A3F-8680-289E738D14CF}"/>
              </a:ext>
            </a:extLst>
          </p:cNvPr>
          <p:cNvSpPr>
            <a:spLocks noGrp="1"/>
          </p:cNvSpPr>
          <p:nvPr/>
        </p:nvSpPr>
        <p:spPr>
          <a:xfrm>
            <a:off x="7791450" y="1752600"/>
            <a:ext cx="20955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3C133-E793-41FB-9881-96289373648A}"/>
              </a:ext>
            </a:extLst>
          </p:cNvPr>
          <p:cNvSpPr>
            <a:spLocks noGrp="1"/>
          </p:cNvSpPr>
          <p:nvPr/>
        </p:nvSpPr>
        <p:spPr>
          <a:xfrm>
            <a:off x="7981950" y="1924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F4A261"/>
                </a:solidFill>
              </a:defRPr>
            </a:pPr>
            <a:r>
              <a:rPr sz="2550" b="1" i="0">
                <a:solidFill>
                  <a:srgbClr val="F4A26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FB6F4A-B374-42D7-B578-A9DE0ED0948C}"/>
              </a:ext>
            </a:extLst>
          </p:cNvPr>
          <p:cNvSpPr>
            <a:spLocks noGrp="1"/>
          </p:cNvSpPr>
          <p:nvPr/>
        </p:nvSpPr>
        <p:spPr>
          <a:xfrm>
            <a:off x="7962900" y="23431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C667A"/>
                </a:solidFill>
              </a:defRPr>
            </a:pPr>
            <a:r>
              <a:rPr sz="1125" b="0" i="0">
                <a:solidFill>
                  <a:srgbClr val="5C667A"/>
                </a:solidFill>
              </a:rPr>
              <a:t>Duplicate rows</a:t>
            </a:r>
          </a:p>
        </p:txBody>
      </p:sp>
      <p:graphicFrame>
        <p:nvGraphicFramePr>
          <p:cNvPr id="37" name="Table 36"/>
          <p:cNvGraphicFramePr/>
          <p:nvPr/>
        </p:nvGraphicFramePr>
        <p:xfrm>
          <a:off x="1200150" y="3238500"/>
          <a:ext cx="8382000" cy="2000250"/>
        </p:xfrm>
        <a:graphic>
          <a:graphicData uri="http://schemas.openxmlformats.org/drawingml/2006/table">
            <a:tbl>
              <a:tblPr firstRow="1" bandRow="1"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CustomerID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Unique customer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Customer 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Customer age in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Annual_Income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Annual income in thousand dollars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Spending_Score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Score from 1 to 100 based on mall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591481AD-4397-4EE7-9B4D-EB426FB58EC0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C667A"/>
                </a:solidFill>
              </a:defRPr>
            </a:pPr>
            <a:r>
              <a:rPr sz="900" b="0" i="0">
                <a:solidFill>
                  <a:srgbClr val="5C667A"/>
                </a:solidFill>
              </a:rPr>
              <a:t>Source: Mall Customers CSV via GitHub mirror of Kaggle Mall Customer Segmentation Data</a:t>
            </a:r>
          </a:p>
        </p:txBody>
      </p:sp>
    </p:spTree>
    <p:extLst>
      <p:ext uri="{BB962C8B-B14F-4D97-AF65-F5344CB8AC3E}">
        <p14:creationId xmlns:p14="http://schemas.microsoft.com/office/powerpoint/2010/main" val="63411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B54BEB3-A007-4C4E-BBC1-D55416CE19D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98AA19-1BA1-40E4-AC40-392BD7EC762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Tools And Technologies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9A429-956C-428F-8767-DF824068FBD1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9CC64F-798F-460D-B4E4-ADEA0B321A7A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70ED77-6960-471A-A6B8-F6CD79A34452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CACB7F-DCB8-4529-A844-802BEAF22834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E240C9-986F-42C0-AA05-FC57EB28AA57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95250" cy="723900"/>
          </a:xfrm>
          <a:prstGeom prst="rect">
            <a:avLst/>
          </a:prstGeom>
          <a:solidFill>
            <a:srgbClr val="1D355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3083CC-DFD2-49BE-A12D-C69C66FEC673}"/>
              </a:ext>
            </a:extLst>
          </p:cNvPr>
          <p:cNvSpPr>
            <a:spLocks noGrp="1"/>
          </p:cNvSpPr>
          <p:nvPr/>
        </p:nvSpPr>
        <p:spPr>
          <a:xfrm>
            <a:off x="1771650" y="20002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72033"/>
                </a:solidFill>
              </a:defRPr>
            </a:pPr>
            <a:r>
              <a:rPr sz="1875" b="1" i="0">
                <a:solidFill>
                  <a:srgbClr val="172033"/>
                </a:solidFill>
              </a:rPr>
              <a:t>Python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0852BD-21D0-453B-8183-F321D07F0821}"/>
              </a:ext>
            </a:extLst>
          </p:cNvPr>
          <p:cNvSpPr>
            <a:spLocks noGrp="1"/>
          </p:cNvSpPr>
          <p:nvPr/>
        </p:nvSpPr>
        <p:spPr>
          <a:xfrm>
            <a:off x="6134100" y="180975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984AC-9761-46BF-97D8-0F80B42655FB}"/>
              </a:ext>
            </a:extLst>
          </p:cNvPr>
          <p:cNvSpPr>
            <a:spLocks noGrp="1"/>
          </p:cNvSpPr>
          <p:nvPr/>
        </p:nvSpPr>
        <p:spPr>
          <a:xfrm>
            <a:off x="6134100" y="1809750"/>
            <a:ext cx="95250" cy="723900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EEBF9-A348-4800-AB79-F720EE5BE1D4}"/>
              </a:ext>
            </a:extLst>
          </p:cNvPr>
          <p:cNvSpPr>
            <a:spLocks noGrp="1"/>
          </p:cNvSpPr>
          <p:nvPr/>
        </p:nvSpPr>
        <p:spPr>
          <a:xfrm>
            <a:off x="6457950" y="20002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72033"/>
                </a:solidFill>
              </a:defRPr>
            </a:pPr>
            <a:r>
              <a:rPr sz="1875" b="1" i="0">
                <a:solidFill>
                  <a:srgbClr val="172033"/>
                </a:solidFill>
              </a:rPr>
              <a:t>VS Code / Jupyter Notebook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C76C34-4DE9-41AB-BF24-4C2AB981DB93}"/>
              </a:ext>
            </a:extLst>
          </p:cNvPr>
          <p:cNvSpPr>
            <a:spLocks noGrp="1"/>
          </p:cNvSpPr>
          <p:nvPr/>
        </p:nvSpPr>
        <p:spPr>
          <a:xfrm>
            <a:off x="1447800" y="287655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F47FCF-ECEC-44D5-A309-77AF401C910F}"/>
              </a:ext>
            </a:extLst>
          </p:cNvPr>
          <p:cNvSpPr>
            <a:spLocks noGrp="1"/>
          </p:cNvSpPr>
          <p:nvPr/>
        </p:nvSpPr>
        <p:spPr>
          <a:xfrm>
            <a:off x="1447800" y="2876550"/>
            <a:ext cx="95250" cy="723900"/>
          </a:xfrm>
          <a:prstGeom prst="rect">
            <a:avLst/>
          </a:prstGeom>
          <a:solidFill>
            <a:srgbClr val="457B9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BEBC4F-CE19-4DA4-875F-35D073FB7A67}"/>
              </a:ext>
            </a:extLst>
          </p:cNvPr>
          <p:cNvSpPr>
            <a:spLocks noGrp="1"/>
          </p:cNvSpPr>
          <p:nvPr/>
        </p:nvSpPr>
        <p:spPr>
          <a:xfrm>
            <a:off x="1771650" y="30670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72033"/>
                </a:solidFill>
              </a:defRPr>
            </a:pPr>
            <a:r>
              <a:rPr sz="1875" b="1" i="0">
                <a:solidFill>
                  <a:srgbClr val="172033"/>
                </a:solidFill>
              </a:rPr>
              <a:t>Pandas and NumPy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888762-BA4A-4D04-9B0C-93A292418D7A}"/>
              </a:ext>
            </a:extLst>
          </p:cNvPr>
          <p:cNvSpPr>
            <a:spLocks noGrp="1"/>
          </p:cNvSpPr>
          <p:nvPr/>
        </p:nvSpPr>
        <p:spPr>
          <a:xfrm>
            <a:off x="6134100" y="287655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FB3592-B99C-4059-A004-B6653481B34E}"/>
              </a:ext>
            </a:extLst>
          </p:cNvPr>
          <p:cNvSpPr>
            <a:spLocks noGrp="1"/>
          </p:cNvSpPr>
          <p:nvPr/>
        </p:nvSpPr>
        <p:spPr>
          <a:xfrm>
            <a:off x="6134100" y="2876550"/>
            <a:ext cx="95250" cy="72390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401F42-5D88-44B4-B492-E5EFBDEDC8BD}"/>
              </a:ext>
            </a:extLst>
          </p:cNvPr>
          <p:cNvSpPr>
            <a:spLocks noGrp="1"/>
          </p:cNvSpPr>
          <p:nvPr/>
        </p:nvSpPr>
        <p:spPr>
          <a:xfrm>
            <a:off x="6457950" y="30670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72033"/>
                </a:solidFill>
              </a:defRPr>
            </a:pPr>
            <a:r>
              <a:rPr sz="1875" b="1" i="0">
                <a:solidFill>
                  <a:srgbClr val="172033"/>
                </a:solidFill>
              </a:rPr>
              <a:t>Matplotlib and Seaborn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CA0B61-EFAC-41FA-A957-E2869878155D}"/>
              </a:ext>
            </a:extLst>
          </p:cNvPr>
          <p:cNvSpPr>
            <a:spLocks noGrp="1"/>
          </p:cNvSpPr>
          <p:nvPr/>
        </p:nvSpPr>
        <p:spPr>
          <a:xfrm>
            <a:off x="1447800" y="394335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CF1D1F-0D17-4939-BEC6-DE0F5AB5A718}"/>
              </a:ext>
            </a:extLst>
          </p:cNvPr>
          <p:cNvSpPr>
            <a:spLocks noGrp="1"/>
          </p:cNvSpPr>
          <p:nvPr/>
        </p:nvSpPr>
        <p:spPr>
          <a:xfrm>
            <a:off x="1447800" y="3943350"/>
            <a:ext cx="95250" cy="723900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E66EFB-3720-4177-AB31-E38EFFB60231}"/>
              </a:ext>
            </a:extLst>
          </p:cNvPr>
          <p:cNvSpPr>
            <a:spLocks noGrp="1"/>
          </p:cNvSpPr>
          <p:nvPr/>
        </p:nvSpPr>
        <p:spPr>
          <a:xfrm>
            <a:off x="1771650" y="41338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72033"/>
                </a:solidFill>
              </a:defRPr>
            </a:pPr>
            <a:r>
              <a:rPr sz="1875" b="1" i="0">
                <a:solidFill>
                  <a:srgbClr val="172033"/>
                </a:solidFill>
              </a:rPr>
              <a:t>Scikit-learn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0D3442-A46A-4EB9-9306-EB9DA0324BFC}"/>
              </a:ext>
            </a:extLst>
          </p:cNvPr>
          <p:cNvSpPr>
            <a:spLocks noGrp="1"/>
          </p:cNvSpPr>
          <p:nvPr/>
        </p:nvSpPr>
        <p:spPr>
          <a:xfrm>
            <a:off x="6134100" y="394335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B78DDA-7160-467D-99C2-1A31E6E67C3E}"/>
              </a:ext>
            </a:extLst>
          </p:cNvPr>
          <p:cNvSpPr>
            <a:spLocks noGrp="1"/>
          </p:cNvSpPr>
          <p:nvPr/>
        </p:nvSpPr>
        <p:spPr>
          <a:xfrm>
            <a:off x="6134100" y="3943350"/>
            <a:ext cx="95250" cy="723900"/>
          </a:xfrm>
          <a:prstGeom prst="rect">
            <a:avLst/>
          </a:prstGeom>
          <a:solidFill>
            <a:srgbClr val="1D3557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EEEC26-3B27-4E6B-A100-63B82794E2E7}"/>
              </a:ext>
            </a:extLst>
          </p:cNvPr>
          <p:cNvSpPr>
            <a:spLocks noGrp="1"/>
          </p:cNvSpPr>
          <p:nvPr/>
        </p:nvSpPr>
        <p:spPr>
          <a:xfrm>
            <a:off x="6457950" y="41338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72033"/>
                </a:solidFill>
              </a:defRPr>
            </a:pPr>
            <a:r>
              <a:rPr sz="1875" b="1" i="0">
                <a:solidFill>
                  <a:srgbClr val="172033"/>
                </a:solidFill>
              </a:rPr>
              <a:t>PowerPoint</a:t>
            </a:r>
          </a:p>
        </p:txBody>
      </p:sp>
    </p:spTree>
    <p:extLst>
      <p:ext uri="{BB962C8B-B14F-4D97-AF65-F5344CB8AC3E}">
        <p14:creationId xmlns:p14="http://schemas.microsoft.com/office/powerpoint/2010/main" val="30949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9EA4F0-53AD-4926-97B9-4B2FD2FFF52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C0D2DF-A420-4FC5-B84A-695529D4C9F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Data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A00321-D1C7-4C29-A01B-DBE87187BB82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1406B9-D039-43A7-967B-705D2ECF4A9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08E382-91CD-4570-9857-B63CAD7D3900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E6F851-F4E0-4779-8542-B41E84ECF73F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Loaded the Mall Customers CSV with Pandas</a:t>
            </a:r>
          </a:p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Renamed long column names for cleaner analysis</a:t>
            </a:r>
          </a:p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Dropped CustomerID because it is only an identifier</a:t>
            </a:r>
          </a:p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Checked missing values and duplicate rows</a:t>
            </a:r>
          </a:p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Selected Age and Spending Score as clustering features</a:t>
            </a:r>
          </a:p>
          <a:p>
            <a:pPr algn="l">
              <a:defRPr sz="1575" b="0" i="0">
                <a:solidFill>
                  <a:srgbClr val="172033"/>
                </a:solidFill>
              </a:defRPr>
            </a:pPr>
            <a:r>
              <a:rPr sz="1575" b="0" i="0">
                <a:solidFill>
                  <a:srgbClr val="172033"/>
                </a:solidFill>
              </a:rPr>
              <a:t>- Applied StandardScaler before K-Means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13F492-B765-45C6-8CA0-ECD0761C4F94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44386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1E463-7223-4A48-95BB-540B00B4DD83}"/>
              </a:ext>
            </a:extLst>
          </p:cNvPr>
          <p:cNvSpPr>
            <a:spLocks noGrp="1"/>
          </p:cNvSpPr>
          <p:nvPr/>
        </p:nvSpPr>
        <p:spPr>
          <a:xfrm>
            <a:off x="6610350" y="20383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3557"/>
                </a:solidFill>
              </a:defRPr>
            </a:pPr>
            <a:r>
              <a:rPr sz="1800" b="1" i="0">
                <a:solidFill>
                  <a:srgbClr val="1D3557"/>
                </a:solidFill>
              </a:rPr>
              <a:t>Core preprocessing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74591-3FF2-452C-8B54-63770ED332E6}"/>
              </a:ext>
            </a:extLst>
          </p:cNvPr>
          <p:cNvSpPr>
            <a:spLocks noGrp="1"/>
          </p:cNvSpPr>
          <p:nvPr/>
        </p:nvSpPr>
        <p:spPr>
          <a:xfrm>
            <a:off x="6610350" y="2514600"/>
            <a:ext cx="37147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df = df.dropna()</a:t>
            </a:r>
          </a:p>
          <a:p>
            <a:pPr algn="l"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df = df.drop_duplicates()</a:t>
            </a:r>
          </a:p>
          <a:p>
            <a:pPr algn="l"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df = df.drop(columns=['CustomerID'])</a:t>
            </a:r>
          </a:p>
          <a:p>
            <a:endParaRPr sz="1275" b="0" i="0">
              <a:solidFill>
                <a:srgbClr val="172033"/>
              </a:solidFill>
            </a:endParaRPr>
          </a:p>
          <a:p>
            <a:pPr algn="l"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features = ['Age', 'Spending_Score']</a:t>
            </a:r>
          </a:p>
          <a:p>
            <a:pPr algn="l"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X_scaled = scaler.fit_transform(X)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1695450" y="4572000"/>
          <a:ext cx="7239000" cy="1162052"/>
        </p:xfrm>
        <a:graphic>
          <a:graphicData uri="http://schemas.openxmlformats.org/drawingml/2006/table">
            <a:tbl>
              <a:tblPr firstRow="1" bandRow="1"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Rows after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45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DDF0F9-580A-4D46-8F2E-7D9EF2B4644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796FC9-91BB-40AC-8E32-E711BBFEB22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EDA: Distributions And Correlation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D34E88-A20D-44F0-8AE0-F6AF9E465BA6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C715E4-5C79-447F-9304-4D257A40C376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BEAA8-2AE0-40A1-9980-3327FD958589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FE4FF1-2DC8-4999-ACE4-2B25A66F8BD9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D3557"/>
                </a:solidFill>
              </a:defRPr>
            </a:pPr>
            <a:r>
              <a:rPr sz="1875" b="1" i="0">
                <a:solidFill>
                  <a:srgbClr val="1D3557"/>
                </a:solidFill>
              </a:rPr>
              <a:t>Notebook EDA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7E7E3-4B41-4A96-93D4-D169A0438E11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47625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- Histograms check Age, Annual Income, and Spending Score</a:t>
            </a:r>
          </a:p>
          <a:p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- Heatmap compares numeric feature relationships</a:t>
            </a:r>
          </a:p>
          <a:p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- Scatter plot checks Age vs Spending Score by Gender</a:t>
            </a:r>
          </a:p>
          <a:p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- Gender count: Female 112, Male 88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990600" y="4248150"/>
          <a:ext cx="4000500" cy="1066800"/>
        </p:xfrm>
        <a:graphic>
          <a:graphicData uri="http://schemas.openxmlformats.org/drawingml/2006/table">
            <a:tbl>
              <a:tblPr firstRow="1" bandRow="1"/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Corr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Age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Income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Spending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-0.33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-0.33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="6191250" y="1809750"/>
          <a:ext cx="447675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1CAE786-F1D7-462D-8DB5-1D5382618E61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C667A"/>
                </a:solidFill>
              </a:defRPr>
            </a:pPr>
            <a:r>
              <a:rPr sz="900" b="0" i="0">
                <a:solidFill>
                  <a:srgbClr val="5C667A"/>
                </a:solidFill>
              </a:rPr>
              <a:t>Source: Mall Customers CSV via GitHub mirror of Kaggle Mall Customer Segmentation Data</a:t>
            </a:r>
          </a:p>
        </p:txBody>
      </p:sp>
    </p:spTree>
    <p:extLst>
      <p:ext uri="{BB962C8B-B14F-4D97-AF65-F5344CB8AC3E}">
        <p14:creationId xmlns:p14="http://schemas.microsoft.com/office/powerpoint/2010/main" val="154310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2552C7-EC7E-4F89-94A8-F7F548A880F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C9AB33-690D-4EEE-9B68-76861CBA584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Elbow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A65DC9-C4D1-4F4F-89AD-458C828FB902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C7695-9CD1-449F-BDDE-52F7255A9B7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64280-526D-4BBB-95BC-7ABEB8CCB8AA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47034-5C00-41D6-B0C6-C6118E8BC790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The elbow method checks how inertia falls as K increases. A sharp early drop shows that more clusters are improving compactness, but later gains become smaller.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E5A15-B3C5-4AA0-9368-0DB51D07FDD1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3557"/>
                </a:solidFill>
              </a:defRPr>
            </a:pPr>
            <a:r>
              <a:rPr sz="1800" b="1" i="0">
                <a:solidFill>
                  <a:srgbClr val="1D3557"/>
                </a:solidFill>
              </a:rPr>
              <a:t>Project reading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9A2F0B-F2B0-4F49-99AD-D2384CAD8F17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4095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- K = 2 gives the broadest split</a:t>
            </a:r>
          </a:p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- K = 4 gives more useful segment detail</a:t>
            </a:r>
          </a:p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- After K = 4, improvement continues but becomes less simple to explain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5638800" y="1714500"/>
          <a:ext cx="5143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51197EA-C49C-41A5-AE5A-41FBEC400CE0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C667A"/>
                </a:solidFill>
              </a:defRPr>
            </a:pPr>
            <a:r>
              <a:rPr sz="900" b="0" i="0">
                <a:solidFill>
                  <a:srgbClr val="5C667A"/>
                </a:solidFill>
              </a:rPr>
              <a:t>Source: Mall Customers CSV via GitHub mirror of Kaggle Mall Customer Segmentation Data</a:t>
            </a:r>
          </a:p>
        </p:txBody>
      </p:sp>
    </p:spTree>
    <p:extLst>
      <p:ext uri="{BB962C8B-B14F-4D97-AF65-F5344CB8AC3E}">
        <p14:creationId xmlns:p14="http://schemas.microsoft.com/office/powerpoint/2010/main" val="41500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8478840-086D-430B-8E0B-1F93073A335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A5B6AF-B049-49E2-9C98-1F76A24C41E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Silhouette Score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210813-D848-426F-813F-DA0334A22103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576B17-CB3E-483C-88AB-D0021176FB3B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1E8FB-4401-41A2-AC6B-E061C081BA83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40AF73-DD0B-49FC-9DBD-AC36CAA64133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41719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Silhouette score measures how separated the clusters are. Higher values mean customers are closer to their own cluster than to other clusters.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3FE89F-DA83-401A-8B86-059799709F64}"/>
              </a:ext>
            </a:extLst>
          </p:cNvPr>
          <p:cNvSpPr>
            <a:spLocks noGrp="1"/>
          </p:cNvSpPr>
          <p:nvPr/>
        </p:nvSpPr>
        <p:spPr>
          <a:xfrm>
            <a:off x="990600" y="3333750"/>
            <a:ext cx="17145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6B2511-A7FB-4BE4-B163-B3B1CDFDD7C5}"/>
              </a:ext>
            </a:extLst>
          </p:cNvPr>
          <p:cNvSpPr>
            <a:spLocks noGrp="1"/>
          </p:cNvSpPr>
          <p:nvPr/>
        </p:nvSpPr>
        <p:spPr>
          <a:xfrm>
            <a:off x="1181100" y="3505200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2A9D8F"/>
                </a:solidFill>
              </a:defRPr>
            </a:pPr>
            <a:r>
              <a:rPr sz="2550" b="1" i="0">
                <a:solidFill>
                  <a:srgbClr val="2A9D8F"/>
                </a:solidFill>
              </a:rPr>
              <a:t>K =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4272E8-7866-48BB-ADDC-F662457617C9}"/>
              </a:ext>
            </a:extLst>
          </p:cNvPr>
          <p:cNvSpPr>
            <a:spLocks noGrp="1"/>
          </p:cNvSpPr>
          <p:nvPr/>
        </p:nvSpPr>
        <p:spPr>
          <a:xfrm>
            <a:off x="1162050" y="39243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C667A"/>
                </a:solidFill>
              </a:defRPr>
            </a:pPr>
            <a:r>
              <a:rPr sz="1125" b="0" i="0">
                <a:solidFill>
                  <a:srgbClr val="5C667A"/>
                </a:solidFill>
              </a:rPr>
              <a:t>Highest silhouette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8DEAA3-E29B-4BD6-AE17-407CAD59D642}"/>
              </a:ext>
            </a:extLst>
          </p:cNvPr>
          <p:cNvSpPr>
            <a:spLocks noGrp="1"/>
          </p:cNvSpPr>
          <p:nvPr/>
        </p:nvSpPr>
        <p:spPr>
          <a:xfrm>
            <a:off x="3048000" y="3333750"/>
            <a:ext cx="17145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90613-06F8-4159-A864-B23759D1929C}"/>
              </a:ext>
            </a:extLst>
          </p:cNvPr>
          <p:cNvSpPr>
            <a:spLocks noGrp="1"/>
          </p:cNvSpPr>
          <p:nvPr/>
        </p:nvSpPr>
        <p:spPr>
          <a:xfrm>
            <a:off x="3238500" y="3505200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E76F51"/>
                </a:solidFill>
              </a:defRPr>
            </a:pPr>
            <a:r>
              <a:rPr sz="2550" b="1" i="0">
                <a:solidFill>
                  <a:srgbClr val="E76F51"/>
                </a:solidFill>
              </a:rPr>
              <a:t>K =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7836AC-CC8E-46CF-A0A0-CAC86E5A2FE1}"/>
              </a:ext>
            </a:extLst>
          </p:cNvPr>
          <p:cNvSpPr>
            <a:spLocks noGrp="1"/>
          </p:cNvSpPr>
          <p:nvPr/>
        </p:nvSpPr>
        <p:spPr>
          <a:xfrm>
            <a:off x="3219450" y="39243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C667A"/>
                </a:solidFill>
              </a:defRPr>
            </a:pPr>
            <a:r>
              <a:rPr sz="1125" b="0" i="0">
                <a:solidFill>
                  <a:srgbClr val="5C667A"/>
                </a:solidFill>
              </a:rPr>
              <a:t>Selected final 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DCBEE5-2279-45C1-9923-00FB5273A9C7}"/>
              </a:ext>
            </a:extLst>
          </p:cNvPr>
          <p:cNvSpPr>
            <a:spLocks noGrp="1"/>
          </p:cNvSpPr>
          <p:nvPr/>
        </p:nvSpPr>
        <p:spPr>
          <a:xfrm>
            <a:off x="990600" y="4686300"/>
            <a:ext cx="3886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K = 4 is selected because it gives four understandable business groups while preserving reasonable separation.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5638800" y="1714500"/>
          <a:ext cx="5143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20B48CF-DE50-4879-A7AD-D89D93F0C7B8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C667A"/>
                </a:solidFill>
              </a:defRPr>
            </a:pPr>
            <a:r>
              <a:rPr sz="900" b="0" i="0">
                <a:solidFill>
                  <a:srgbClr val="5C667A"/>
                </a:solidFill>
              </a:rPr>
              <a:t>Source: Mall Customers CSV via GitHub mirror of Kaggle Mall Customer Segmentation Data</a:t>
            </a:r>
          </a:p>
        </p:txBody>
      </p:sp>
    </p:spTree>
    <p:extLst>
      <p:ext uri="{BB962C8B-B14F-4D97-AF65-F5344CB8AC3E}">
        <p14:creationId xmlns:p14="http://schemas.microsoft.com/office/powerpoint/2010/main" val="188598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473668E-06BA-4576-8AE0-37B7174FE79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367E8-E3B9-4C91-8B90-D4A7AC25BAD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Final K-Means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54C85D-357F-4A1F-9D7C-2995557C7E75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DB232-0C37-447E-9055-1A30639D8B56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60B5FE-B3C3-4E3C-8CA4-512ECA1D2835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60B6C4-FB27-4815-B94F-502CB014F5C3}"/>
              </a:ext>
            </a:extLst>
          </p:cNvPr>
          <p:cNvSpPr>
            <a:spLocks noGrp="1"/>
          </p:cNvSpPr>
          <p:nvPr/>
        </p:nvSpPr>
        <p:spPr>
          <a:xfrm>
            <a:off x="952500" y="1771650"/>
            <a:ext cx="180975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95BAA9-2973-4DB5-BA84-BD7F0A26A03A}"/>
              </a:ext>
            </a:extLst>
          </p:cNvPr>
          <p:cNvSpPr>
            <a:spLocks noGrp="1"/>
          </p:cNvSpPr>
          <p:nvPr/>
        </p:nvSpPr>
        <p:spPr>
          <a:xfrm>
            <a:off x="1143000" y="19431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E76F51"/>
                </a:solidFill>
              </a:defRPr>
            </a:pPr>
            <a:r>
              <a:rPr sz="2550" b="1" i="0">
                <a:solidFill>
                  <a:srgbClr val="E76F51"/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0C53AA-5CBA-4F42-92D3-70752798CA18}"/>
              </a:ext>
            </a:extLst>
          </p:cNvPr>
          <p:cNvSpPr>
            <a:spLocks noGrp="1"/>
          </p:cNvSpPr>
          <p:nvPr/>
        </p:nvSpPr>
        <p:spPr>
          <a:xfrm>
            <a:off x="1123950" y="23622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C667A"/>
                </a:solidFill>
              </a:defRPr>
            </a:pPr>
            <a:r>
              <a:rPr sz="1125" b="0" i="0">
                <a:solidFill>
                  <a:srgbClr val="5C667A"/>
                </a:solidFill>
              </a:rPr>
              <a:t>Final clusters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3A618B-8C22-45AC-BA3D-2F1DFA7742E2}"/>
              </a:ext>
            </a:extLst>
          </p:cNvPr>
          <p:cNvSpPr>
            <a:spLocks noGrp="1"/>
          </p:cNvSpPr>
          <p:nvPr/>
        </p:nvSpPr>
        <p:spPr>
          <a:xfrm>
            <a:off x="3048000" y="1771650"/>
            <a:ext cx="180975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1C76C-5626-468E-B728-E826F4BE5C16}"/>
              </a:ext>
            </a:extLst>
          </p:cNvPr>
          <p:cNvSpPr>
            <a:spLocks noGrp="1"/>
          </p:cNvSpPr>
          <p:nvPr/>
        </p:nvSpPr>
        <p:spPr>
          <a:xfrm>
            <a:off x="3238500" y="19431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457B9D"/>
                </a:solidFill>
              </a:defRPr>
            </a:pPr>
            <a:r>
              <a:rPr sz="2550" b="1" i="0">
                <a:solidFill>
                  <a:srgbClr val="457B9D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1EF1C0-870D-4311-AD3C-FCCC62F9349D}"/>
              </a:ext>
            </a:extLst>
          </p:cNvPr>
          <p:cNvSpPr>
            <a:spLocks noGrp="1"/>
          </p:cNvSpPr>
          <p:nvPr/>
        </p:nvSpPr>
        <p:spPr>
          <a:xfrm>
            <a:off x="3219450" y="23622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C667A"/>
                </a:solidFill>
              </a:defRPr>
            </a:pPr>
            <a:r>
              <a:rPr sz="1125" b="0" i="0">
                <a:solidFill>
                  <a:srgbClr val="5C667A"/>
                </a:solidFill>
              </a:rPr>
              <a:t>Input features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DF4227-7EFC-49FC-B270-45FA4ACA5283}"/>
              </a:ext>
            </a:extLst>
          </p:cNvPr>
          <p:cNvSpPr>
            <a:spLocks noGrp="1"/>
          </p:cNvSpPr>
          <p:nvPr/>
        </p:nvSpPr>
        <p:spPr>
          <a:xfrm>
            <a:off x="5143500" y="1771650"/>
            <a:ext cx="180975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1DA1D7-6013-41CF-A051-ED8A34352C36}"/>
              </a:ext>
            </a:extLst>
          </p:cNvPr>
          <p:cNvSpPr>
            <a:spLocks noGrp="1"/>
          </p:cNvSpPr>
          <p:nvPr/>
        </p:nvSpPr>
        <p:spPr>
          <a:xfrm>
            <a:off x="5334000" y="19431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2A9D8F"/>
                </a:solidFill>
              </a:defRPr>
            </a:pPr>
            <a:r>
              <a:rPr sz="2550" b="1" i="0">
                <a:solidFill>
                  <a:srgbClr val="2A9D8F"/>
                </a:solidFill>
              </a:rPr>
              <a:t>89.8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20826D-4280-4C55-8687-F4EB1EAA8BA1}"/>
              </a:ext>
            </a:extLst>
          </p:cNvPr>
          <p:cNvSpPr>
            <a:spLocks noGrp="1"/>
          </p:cNvSpPr>
          <p:nvPr/>
        </p:nvSpPr>
        <p:spPr>
          <a:xfrm>
            <a:off x="5314950" y="23622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C667A"/>
                </a:solidFill>
              </a:defRPr>
            </a:pPr>
            <a:r>
              <a:rPr sz="1125" b="0" i="0">
                <a:solidFill>
                  <a:srgbClr val="5C667A"/>
                </a:solidFill>
              </a:rPr>
              <a:t>Final inertia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B5510F-89FC-47B3-A1B0-7C8397262189}"/>
              </a:ext>
            </a:extLst>
          </p:cNvPr>
          <p:cNvSpPr>
            <a:spLocks noGrp="1"/>
          </p:cNvSpPr>
          <p:nvPr/>
        </p:nvSpPr>
        <p:spPr>
          <a:xfrm>
            <a:off x="7753350" y="1809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3557"/>
                </a:solidFill>
              </a:defRPr>
            </a:pPr>
            <a:r>
              <a:rPr sz="1800" b="1" i="0">
                <a:solidFill>
                  <a:srgbClr val="1D3557"/>
                </a:solidFill>
              </a:rPr>
              <a:t>Model settings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3F80B5-8407-4FE1-8DFD-73F16134183B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667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KMeans(n_clusters=4,</a:t>
            </a:r>
          </a:p>
          <a:p>
            <a:pPr algn="l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random_state=42,</a:t>
            </a:r>
          </a:p>
          <a:p>
            <a:pPr algn="l">
              <a:defRPr sz="1500" b="0" i="0">
                <a:solidFill>
                  <a:srgbClr val="172033"/>
                </a:solidFill>
              </a:defRPr>
            </a:pPr>
            <a:r>
              <a:rPr sz="1500" b="0" i="0">
                <a:solidFill>
                  <a:srgbClr val="172033"/>
                </a:solidFill>
              </a:rPr>
              <a:t>n_init=10)</a:t>
            </a:r>
          </a:p>
        </p:txBody>
      </p:sp>
      <p:graphicFrame>
        <p:nvGraphicFramePr>
          <p:cNvPr id="34" name="Table 33"/>
          <p:cNvGraphicFramePr/>
          <p:nvPr/>
        </p:nvGraphicFramePr>
        <p:xfrm>
          <a:off x="1104900" y="3695700"/>
          <a:ext cx="8858250" cy="16192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Center Age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Center Spending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Young High Spenders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30.3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79.8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Mature Moderate Spenders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48.5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Young Moderate Spenders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Mature Low Spenders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47.6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27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7560EF-55C1-414E-B9D1-0F184262FA3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566AA3-AFBF-4A4C-9519-6A0B39FDDB3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Cluster Visualization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78FBE-465B-4C04-9A78-C36FE453F0B9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8EB7B0-CAF8-4E17-B6E5-A3B13159E384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F07AE-6B30-46FD-927A-74BA3410D5E0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10</a:t>
            </a:r>
          </a:p>
        </p:txBody>
      </p:sp>
      <p:graphicFrame>
        <p:nvGraphicFramePr>
          <p:cNvPr id="15" name="Chart"/>
          <p:cNvGraphicFramePr/>
          <p:nvPr>
            <p:extLst>
              <p:ext uri="{D42A27DB-BD31-4B8C-83A1-F6EECF244321}">
                <p14:modId xmlns:p14="http://schemas.microsoft.com/office/powerpoint/2010/main" val="2625795792"/>
              </p:ext>
            </p:extLst>
          </p:nvPr>
        </p:nvGraphicFramePr>
        <p:xfrm>
          <a:off x="442452" y="1638300"/>
          <a:ext cx="7939548" cy="4581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51ED19C-8008-4D72-B6D1-1C17583856D4}"/>
              </a:ext>
            </a:extLst>
          </p:cNvPr>
          <p:cNvSpPr>
            <a:spLocks noGrp="1"/>
          </p:cNvSpPr>
          <p:nvPr/>
        </p:nvSpPr>
        <p:spPr>
          <a:xfrm>
            <a:off x="838200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D3557"/>
                </a:solidFill>
              </a:defRPr>
            </a:pPr>
            <a:r>
              <a:rPr sz="1875" b="1" i="0">
                <a:solidFill>
                  <a:srgbClr val="1D3557"/>
                </a:solidFill>
              </a:rPr>
              <a:t>Interpretation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1F89BC-D643-4A7E-99F2-EA9817FDFFE4}"/>
              </a:ext>
            </a:extLst>
          </p:cNvPr>
          <p:cNvSpPr>
            <a:spLocks noGrp="1"/>
          </p:cNvSpPr>
          <p:nvPr/>
        </p:nvSpPr>
        <p:spPr>
          <a:xfrm>
            <a:off x="8382000" y="2266950"/>
            <a:ext cx="2667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- Young high spenders are the most attractive group</a:t>
            </a:r>
          </a:p>
          <a:p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- Mature low spenders need reactivation offers</a:t>
            </a:r>
          </a:p>
          <a:p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- Moderate groups need practical and value-focused messaging</a:t>
            </a:r>
          </a:p>
          <a:p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- Cluster labels are based on average age and spending score</a:t>
            </a:r>
          </a:p>
        </p:txBody>
      </p:sp>
    </p:spTree>
    <p:extLst>
      <p:ext uri="{BB962C8B-B14F-4D97-AF65-F5344CB8AC3E}">
        <p14:creationId xmlns:p14="http://schemas.microsoft.com/office/powerpoint/2010/main" val="719175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1EFC66-2279-415D-851C-5BEFFAD819C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4A7C97-E9C8-4984-8F0D-5FB9C62E49C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Cluster Profile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A6BC21-CB13-41A7-88E5-C9EABD268C52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EC2C9C-F1C2-47D5-9952-ACABAD949DC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5942E0-E90F-48BC-A18E-477C608C5BF9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11</a:t>
            </a:r>
          </a:p>
        </p:txBody>
      </p:sp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1922140666"/>
              </p:ext>
            </p:extLst>
          </p:nvPr>
        </p:nvGraphicFramePr>
        <p:xfrm>
          <a:off x="742950" y="1790700"/>
          <a:ext cx="10287000" cy="2270760"/>
        </p:xfrm>
        <a:graphic>
          <a:graphicData uri="http://schemas.openxmlformats.org/drawingml/2006/table">
            <a:tbl>
              <a:tblPr firstRow="1" bandRow="1"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Customers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Avg Age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Avg Spend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Avg Income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Young High Spenders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30.3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79.8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63.8k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Mature Moderate Spenders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48.5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54.4k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Young Moderate Spenders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72033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59.6k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Mature Low Spenders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47.6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2033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72033"/>
                          </a:solidFill>
                        </a:rPr>
                        <a:t>63.8k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584CE8F-174C-4C6D-AEFD-9D475AEF463B}"/>
              </a:ext>
            </a:extLst>
          </p:cNvPr>
          <p:cNvSpPr>
            <a:spLocks noGrp="1"/>
          </p:cNvSpPr>
          <p:nvPr/>
        </p:nvSpPr>
        <p:spPr>
          <a:xfrm>
            <a:off x="952500" y="44005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D3557"/>
                </a:solidFill>
              </a:defRPr>
            </a:pPr>
            <a:r>
              <a:rPr sz="1875" b="1" i="0">
                <a:solidFill>
                  <a:srgbClr val="1D3557"/>
                </a:solidFill>
              </a:rPr>
              <a:t>Key comparison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92DD52-9A56-4BFE-9AA3-87E0E064C35B}"/>
              </a:ext>
            </a:extLst>
          </p:cNvPr>
          <p:cNvSpPr>
            <a:spLocks noGrp="1"/>
          </p:cNvSpPr>
          <p:nvPr/>
        </p:nvSpPr>
        <p:spPr>
          <a:xfrm>
            <a:off x="952500" y="4838700"/>
            <a:ext cx="8382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- Young High Spenders: 65 customers, highest average spending score</a:t>
            </a:r>
          </a:p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- Mature Low Spenders: 38 customers, lowest average spending score</a:t>
            </a:r>
          </a:p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- Average annual income is similar across groups, so age and spending behavior drive the split</a:t>
            </a:r>
          </a:p>
        </p:txBody>
      </p:sp>
    </p:spTree>
    <p:extLst>
      <p:ext uri="{BB962C8B-B14F-4D97-AF65-F5344CB8AC3E}">
        <p14:creationId xmlns:p14="http://schemas.microsoft.com/office/powerpoint/2010/main" val="208651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D86BBE9-97F2-469D-954B-4457EF84115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E1F4EE-7A6F-422B-9176-8083C581BFC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Business Recommendations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0F10F3-DF5E-4538-9C8D-EF964345FB41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800F0D-9DDB-46DA-972E-D8FE4EB06582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DE2CDC-0B94-4DB7-8228-537188ADB725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5EC717-7672-4800-AAEC-760FA4156160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93154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DA678C-65AC-4618-B06B-8D3C22DD9D87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114300" cy="704850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D4C2E-AC7D-4E91-8FFD-13BB9D7F4D54}"/>
              </a:ext>
            </a:extLst>
          </p:cNvPr>
          <p:cNvSpPr>
            <a:spLocks noGrp="1"/>
          </p:cNvSpPr>
          <p:nvPr/>
        </p:nvSpPr>
        <p:spPr>
          <a:xfrm>
            <a:off x="1257300" y="18573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D3557"/>
                </a:solidFill>
              </a:defRPr>
            </a:pPr>
            <a:r>
              <a:rPr sz="1575" b="1" i="0">
                <a:solidFill>
                  <a:srgbClr val="1D3557"/>
                </a:solidFill>
              </a:rPr>
              <a:t>Young High Spenders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BB0BAB-AD95-4A18-A5E7-268C363D5C83}"/>
              </a:ext>
            </a:extLst>
          </p:cNvPr>
          <p:cNvSpPr>
            <a:spLocks noGrp="1"/>
          </p:cNvSpPr>
          <p:nvPr/>
        </p:nvSpPr>
        <p:spPr>
          <a:xfrm>
            <a:off x="4762500" y="18954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Loyalty rewards, new arrivals, app-first campaigns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C0A910-428D-4756-9B9D-2973BFD3E74E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93154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F8DCED-0831-4FBD-A231-6E6FB30FA920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114300" cy="704850"/>
          </a:xfrm>
          <a:prstGeom prst="rect">
            <a:avLst/>
          </a:prstGeom>
          <a:solidFill>
            <a:srgbClr val="457B9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3CB54D-B3DB-44BE-8CEC-A9AE9DACB91E}"/>
              </a:ext>
            </a:extLst>
          </p:cNvPr>
          <p:cNvSpPr>
            <a:spLocks noGrp="1"/>
          </p:cNvSpPr>
          <p:nvPr/>
        </p:nvSpPr>
        <p:spPr>
          <a:xfrm>
            <a:off x="1257300" y="28098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D3557"/>
                </a:solidFill>
              </a:defRPr>
            </a:pPr>
            <a:r>
              <a:rPr sz="1575" b="1" i="0">
                <a:solidFill>
                  <a:srgbClr val="1D3557"/>
                </a:solidFill>
              </a:rPr>
              <a:t>Young Moderate Spenders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996CCE-E260-45FD-9121-D3DD0F5265E5}"/>
              </a:ext>
            </a:extLst>
          </p:cNvPr>
          <p:cNvSpPr>
            <a:spLocks noGrp="1"/>
          </p:cNvSpPr>
          <p:nvPr/>
        </p:nvSpPr>
        <p:spPr>
          <a:xfrm>
            <a:off x="4762500" y="28479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Student or young professional discounts, social campaigns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856462-4E12-4AF3-AD44-59F6C590E4A2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93154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3DEBE0-DAE9-40CB-A78B-DC7CB65B8F48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114300" cy="704850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3785A-107A-4945-821D-4AE03F0EF587}"/>
              </a:ext>
            </a:extLst>
          </p:cNvPr>
          <p:cNvSpPr>
            <a:spLocks noGrp="1"/>
          </p:cNvSpPr>
          <p:nvPr/>
        </p:nvSpPr>
        <p:spPr>
          <a:xfrm>
            <a:off x="1257300" y="37623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D3557"/>
                </a:solidFill>
              </a:defRPr>
            </a:pPr>
            <a:r>
              <a:rPr sz="1575" b="1" i="0">
                <a:solidFill>
                  <a:srgbClr val="1D3557"/>
                </a:solidFill>
              </a:rPr>
              <a:t>Mature Moderate Spenders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D926C6-46CB-488B-A75A-BD5891C9094E}"/>
              </a:ext>
            </a:extLst>
          </p:cNvPr>
          <p:cNvSpPr>
            <a:spLocks noGrp="1"/>
          </p:cNvSpPr>
          <p:nvPr/>
        </p:nvSpPr>
        <p:spPr>
          <a:xfrm>
            <a:off x="4762500" y="38004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Family bundles, practical offers, service-focused messaging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A0B637-7C43-4C29-B58A-27E4828F11D9}"/>
              </a:ext>
            </a:extLst>
          </p:cNvPr>
          <p:cNvSpPr>
            <a:spLocks noGrp="1"/>
          </p:cNvSpPr>
          <p:nvPr/>
        </p:nvSpPr>
        <p:spPr>
          <a:xfrm>
            <a:off x="914400" y="4591050"/>
            <a:ext cx="93154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77356B-3E53-4707-901F-5A63DD93B893}"/>
              </a:ext>
            </a:extLst>
          </p:cNvPr>
          <p:cNvSpPr>
            <a:spLocks noGrp="1"/>
          </p:cNvSpPr>
          <p:nvPr/>
        </p:nvSpPr>
        <p:spPr>
          <a:xfrm>
            <a:off x="914400" y="4591050"/>
            <a:ext cx="114300" cy="70485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0BD150-CB03-4C58-BCF6-4A77F47A4C5F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D3557"/>
                </a:solidFill>
              </a:defRPr>
            </a:pPr>
            <a:r>
              <a:rPr sz="1575" b="1" i="0">
                <a:solidFill>
                  <a:srgbClr val="1D3557"/>
                </a:solidFill>
              </a:rPr>
              <a:t>Mature Low Spenders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053B8F-C3D4-4BF2-8866-EB2B9C0DCDB7}"/>
              </a:ext>
            </a:extLst>
          </p:cNvPr>
          <p:cNvSpPr>
            <a:spLocks noGrp="1"/>
          </p:cNvSpPr>
          <p:nvPr/>
        </p:nvSpPr>
        <p:spPr>
          <a:xfrm>
            <a:off x="4762500" y="47529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Reactivation coupons, value packs, reminder campaigns</a:t>
            </a:r>
          </a:p>
        </p:txBody>
      </p:sp>
    </p:spTree>
    <p:extLst>
      <p:ext uri="{BB962C8B-B14F-4D97-AF65-F5344CB8AC3E}">
        <p14:creationId xmlns:p14="http://schemas.microsoft.com/office/powerpoint/2010/main" val="1109573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BACCE7-4FEF-4D84-A656-707FC618AEF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A9D8F"/>
                </a:solidFill>
              </a:defRPr>
            </a:pPr>
            <a:r>
              <a:rPr sz="975" b="1" i="0">
                <a:solidFill>
                  <a:srgbClr val="2A9D8F"/>
                </a:solidFill>
              </a:rPr>
              <a:t>AGE VS SPENDING CLUSTER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793B78-40C1-4F3A-AACF-0B25C5E4AA7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D3557"/>
                </a:solidFill>
              </a:defRPr>
            </a:pPr>
            <a:r>
              <a:rPr sz="2850" b="1" i="0">
                <a:solidFill>
                  <a:srgbClr val="1D3557"/>
                </a:solidFill>
              </a:rPr>
              <a:t>Key Findings And 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B4FA8-CFEB-4FD4-B4B0-3C6D59D72099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1905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BB22E-AC44-4736-9088-63CC275BA37F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5C667A"/>
                </a:solidFill>
              </a:defRPr>
            </a:pPr>
            <a:r>
              <a:rPr sz="900" b="1" i="0">
                <a:solidFill>
                  <a:srgbClr val="5C667A"/>
                </a:solidFill>
              </a:rPr>
              <a:t>GNCIPIL | Week 3 | Customer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ED83F4-87A0-498A-9C63-4454D2FC6ED7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5C667A"/>
                </a:solidFill>
              </a:defRPr>
            </a:pPr>
            <a:r>
              <a:rPr sz="1050" b="1" i="0">
                <a:solidFill>
                  <a:srgbClr val="5C667A"/>
                </a:solidFill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FD1E5F-E9DF-4536-BBB8-B73A3D4EFC4E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8858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72033"/>
                </a:solidFill>
              </a:defRPr>
            </a:pPr>
            <a:r>
              <a:rPr sz="1725" b="0" i="0">
                <a:solidFill>
                  <a:srgbClr val="172033"/>
                </a:solidFill>
              </a:rPr>
              <a:t>- Age and Spending Score create visible customer groups</a:t>
            </a:r>
          </a:p>
          <a:p>
            <a:pPr algn="l">
              <a:defRPr sz="1725" b="0" i="0">
                <a:solidFill>
                  <a:srgbClr val="172033"/>
                </a:solidFill>
              </a:defRPr>
            </a:pPr>
            <a:r>
              <a:rPr sz="1725" b="0" i="0">
                <a:solidFill>
                  <a:srgbClr val="172033"/>
                </a:solidFill>
              </a:rPr>
              <a:t>- Silhouette score is highest at K = 2, showing a strong broad split</a:t>
            </a:r>
          </a:p>
          <a:p>
            <a:pPr algn="l">
              <a:defRPr sz="1725" b="0" i="0">
                <a:solidFill>
                  <a:srgbClr val="172033"/>
                </a:solidFill>
              </a:defRPr>
            </a:pPr>
            <a:r>
              <a:rPr sz="1725" b="0" i="0">
                <a:solidFill>
                  <a:srgbClr val="172033"/>
                </a:solidFill>
              </a:rPr>
              <a:t>- K = 4 gives more actionable customer segments for marketing</a:t>
            </a:r>
          </a:p>
          <a:p>
            <a:pPr algn="l">
              <a:defRPr sz="1725" b="0" i="0">
                <a:solidFill>
                  <a:srgbClr val="172033"/>
                </a:solidFill>
              </a:defRPr>
            </a:pPr>
            <a:r>
              <a:rPr sz="1725" b="0" i="0">
                <a:solidFill>
                  <a:srgbClr val="172033"/>
                </a:solidFill>
              </a:rPr>
              <a:t>- Young High Spenders are the best segment for premium engagement</a:t>
            </a:r>
          </a:p>
          <a:p>
            <a:pPr algn="l">
              <a:defRPr sz="1725" b="0" i="0">
                <a:solidFill>
                  <a:srgbClr val="172033"/>
                </a:solidFill>
              </a:defRPr>
            </a:pPr>
            <a:r>
              <a:rPr sz="1725" b="0" i="0">
                <a:solidFill>
                  <a:srgbClr val="172033"/>
                </a:solidFill>
              </a:rPr>
              <a:t>- Mature Low Spenders need value-driven reactivation campaigns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B8D309-05CD-47C3-B478-E85CDDCCD75B}"/>
              </a:ext>
            </a:extLst>
          </p:cNvPr>
          <p:cNvSpPr>
            <a:spLocks noGrp="1"/>
          </p:cNvSpPr>
          <p:nvPr/>
        </p:nvSpPr>
        <p:spPr>
          <a:xfrm>
            <a:off x="1466850" y="4819649"/>
            <a:ext cx="8119602" cy="92238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39385C-E8A5-470F-8311-2F6EAF65CAEF}"/>
              </a:ext>
            </a:extLst>
          </p:cNvPr>
          <p:cNvSpPr>
            <a:spLocks noGrp="1"/>
          </p:cNvSpPr>
          <p:nvPr/>
        </p:nvSpPr>
        <p:spPr>
          <a:xfrm>
            <a:off x="1809750" y="5010150"/>
            <a:ext cx="7410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1D3557"/>
                </a:solidFill>
              </a:defRPr>
            </a:pPr>
            <a:r>
              <a:rPr sz="1500" b="1" i="0">
                <a:solidFill>
                  <a:srgbClr val="1D3557"/>
                </a:solidFill>
              </a:rPr>
              <a:t>Conclusion: K-Means clustering completed the Age vs Spending segmentation and converted raw customer records into clear marketing groups.</a:t>
            </a:r>
          </a:p>
        </p:txBody>
      </p:sp>
    </p:spTree>
    <p:extLst>
      <p:ext uri="{BB962C8B-B14F-4D97-AF65-F5344CB8AC3E}">
        <p14:creationId xmlns:p14="http://schemas.microsoft.com/office/powerpoint/2010/main" val="888950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4CB49F-EB3D-47E7-82F2-C88769794D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C42F3-7297-4D19-B5D9-8A04EF8AFBAA}"/>
              </a:ext>
            </a:extLst>
          </p:cNvPr>
          <p:cNvSpPr>
            <a:spLocks noGrp="1"/>
          </p:cNvSpPr>
          <p:nvPr/>
        </p:nvSpPr>
        <p:spPr>
          <a:xfrm>
            <a:off x="0" y="2266950"/>
            <a:ext cx="12192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452058-B995-45A5-A958-9CE9A5174F2A}"/>
              </a:ext>
            </a:extLst>
          </p:cNvPr>
          <p:cNvSpPr>
            <a:spLocks noGrp="1"/>
          </p:cNvSpPr>
          <p:nvPr/>
        </p:nvSpPr>
        <p:spPr>
          <a:xfrm>
            <a:off x="0" y="3143250"/>
            <a:ext cx="1219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 i="0">
                <a:solidFill>
                  <a:srgbClr val="D7E3F2"/>
                </a:solidFill>
              </a:defRPr>
            </a:pPr>
            <a:r>
              <a:rPr sz="2100" b="0" i="0">
                <a:solidFill>
                  <a:srgbClr val="D7E3F2"/>
                </a:solidFill>
              </a:rPr>
              <a:t>Questions &amp; Answers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2DB2D-1DA8-4B1D-A838-3100BA6B8793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B9C9DD"/>
                </a:solidFill>
              </a:defRPr>
            </a:pPr>
            <a:r>
              <a:rPr sz="1275" b="0" i="0">
                <a:solidFill>
                  <a:srgbClr val="B9C9DD"/>
                </a:solidFill>
              </a:rPr>
              <a:t>Age vs Spending Cluster Analysis | Week 3 | GNCIPIL</a:t>
            </a:r>
          </a:p>
        </p:txBody>
      </p:sp>
    </p:spTree>
    <p:extLst>
      <p:ext uri="{BB962C8B-B14F-4D97-AF65-F5344CB8AC3E}">
        <p14:creationId xmlns:p14="http://schemas.microsoft.com/office/powerpoint/2010/main" val="1263260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</Words>
  <Application>Microsoft Office PowerPoint</Application>
  <DocSecurity>0</DocSecurity>
  <PresentationFormat>Widescreen</PresentationFormat>
  <Paragraphs>247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Prayas Palit</cp:lastModifiedBy>
  <cp:revision>1</cp:revision>
  <dcterms:created xsi:type="dcterms:W3CDTF">2026-06-23T06:10:47Z</dcterms:created>
  <dcterms:modified xsi:type="dcterms:W3CDTF">2026-06-23T17:37:16Z</dcterms:modified>
</cp:coreProperties>
</file>
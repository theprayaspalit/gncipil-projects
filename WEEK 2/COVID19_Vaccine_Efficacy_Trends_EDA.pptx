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93434210c4f98" /><Relationship Type="http://schemas.openxmlformats.org/officeDocument/2006/relationships/extended-properties" Target="/docProps/app.xml" Id="Rce2ab4792d4742d9" /><Relationship Type="http://schemas.openxmlformats.org/officeDocument/2006/relationships/officeDocument" Target="/ppt/presentation.xml" Id="R828b3fe88697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91daccb4344239"/>
  </p:sldMasterIdLst>
  <p:notesMasterIdLst>
    <p:notesMasterId xmlns:r="http://schemas.openxmlformats.org/officeDocument/2006/relationships" r:id="Rb2ae1bdf1d3949a6"/>
  </p:notesMasterIdLst>
  <p:sldIdLst>
    <p:sldId xmlns:r="http://schemas.openxmlformats.org/officeDocument/2006/relationships" id="256" r:id="R08140217892749ec"/>
    <p:sldId xmlns:r="http://schemas.openxmlformats.org/officeDocument/2006/relationships" id="257" r:id="Re85ee10fb7b74ada"/>
    <p:sldId xmlns:r="http://schemas.openxmlformats.org/officeDocument/2006/relationships" id="258" r:id="Rc7880cef70e340e1"/>
    <p:sldId xmlns:r="http://schemas.openxmlformats.org/officeDocument/2006/relationships" id="259" r:id="R685cf65ba9d54e8d"/>
    <p:sldId xmlns:r="http://schemas.openxmlformats.org/officeDocument/2006/relationships" id="260" r:id="R605030ce5c574ca0"/>
    <p:sldId xmlns:r="http://schemas.openxmlformats.org/officeDocument/2006/relationships" id="261" r:id="R08dedde2cb8b43dc"/>
    <p:sldId xmlns:r="http://schemas.openxmlformats.org/officeDocument/2006/relationships" id="262" r:id="Rba454f2607394de5"/>
    <p:sldId xmlns:r="http://schemas.openxmlformats.org/officeDocument/2006/relationships" id="263" r:id="R1fabdb4859934846"/>
    <p:sldId xmlns:r="http://schemas.openxmlformats.org/officeDocument/2006/relationships" id="264" r:id="R58d0605bb1c647da"/>
    <p:sldId xmlns:r="http://schemas.openxmlformats.org/officeDocument/2006/relationships" id="265" r:id="R633a53ccef87417b"/>
    <p:sldId xmlns:r="http://schemas.openxmlformats.org/officeDocument/2006/relationships" id="266" r:id="R6712f02ba48f4acf"/>
    <p:sldId xmlns:r="http://schemas.openxmlformats.org/officeDocument/2006/relationships" id="267" r:id="R548d67784f794ea5"/>
    <p:sldId xmlns:r="http://schemas.openxmlformats.org/officeDocument/2006/relationships" id="268" r:id="R095c738010c14612"/>
    <p:sldId xmlns:r="http://schemas.openxmlformats.org/officeDocument/2006/relationships" id="269" r:id="R8cddd8e8686a4c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033b61cb2d4ef5" /><Relationship Type="http://schemas.openxmlformats.org/officeDocument/2006/relationships/slideMaster" Target="/ppt/slideMasters/slideMaster1.xml" Id="Ra291daccb4344239" /><Relationship Type="http://schemas.openxmlformats.org/officeDocument/2006/relationships/notesMaster" Target="/ppt/notesMasters/notesMaster1.xml" Id="Rb2ae1bdf1d3949a6" /><Relationship Type="http://schemas.openxmlformats.org/officeDocument/2006/relationships/presProps" Target="/ppt/presProps.xml" Id="R8c1c5722625e4ac9" /><Relationship Type="http://schemas.openxmlformats.org/officeDocument/2006/relationships/tableStyles" Target="/ppt/tableStyles.xml" Id="Rfe13928a049f4f08" /><Relationship Type="http://schemas.openxmlformats.org/officeDocument/2006/relationships/slide" Target="/ppt/slides/slide1.xml" Id="R08140217892749ec" /><Relationship Type="http://schemas.openxmlformats.org/officeDocument/2006/relationships/slide" Target="/ppt/slides/slide2.xml" Id="Re85ee10fb7b74ada" /><Relationship Type="http://schemas.openxmlformats.org/officeDocument/2006/relationships/slide" Target="/ppt/slides/slide3.xml" Id="Rc7880cef70e340e1" /><Relationship Type="http://schemas.openxmlformats.org/officeDocument/2006/relationships/slide" Target="/ppt/slides/slide4.xml" Id="R685cf65ba9d54e8d" /><Relationship Type="http://schemas.openxmlformats.org/officeDocument/2006/relationships/slide" Target="/ppt/slides/slide5.xml" Id="R605030ce5c574ca0" /><Relationship Type="http://schemas.openxmlformats.org/officeDocument/2006/relationships/slide" Target="/ppt/slides/slide6.xml" Id="R08dedde2cb8b43dc" /><Relationship Type="http://schemas.openxmlformats.org/officeDocument/2006/relationships/slide" Target="/ppt/slides/slide7.xml" Id="Rba454f2607394de5" /><Relationship Type="http://schemas.openxmlformats.org/officeDocument/2006/relationships/slide" Target="/ppt/slides/slide8.xml" Id="R1fabdb4859934846" /><Relationship Type="http://schemas.openxmlformats.org/officeDocument/2006/relationships/slide" Target="/ppt/slides/slide9.xml" Id="R58d0605bb1c647da" /><Relationship Type="http://schemas.openxmlformats.org/officeDocument/2006/relationships/slide" Target="/ppt/slides/slide10.xml" Id="R633a53ccef87417b" /><Relationship Type="http://schemas.openxmlformats.org/officeDocument/2006/relationships/slide" Target="/ppt/slides/slide11.xml" Id="R6712f02ba48f4acf" /><Relationship Type="http://schemas.openxmlformats.org/officeDocument/2006/relationships/slide" Target="/ppt/slides/slide12.xml" Id="R548d67784f794ea5" /><Relationship Type="http://schemas.openxmlformats.org/officeDocument/2006/relationships/slide" Target="/ppt/slides/slide13.xml" Id="R095c738010c14612" /><Relationship Type="http://schemas.openxmlformats.org/officeDocument/2006/relationships/slide" Target="/ppt/slides/slide14.xml" Id="R8cddd8e8686a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e1219f49a74c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7ab55e43d34811" /><Relationship Type="http://schemas.openxmlformats.org/officeDocument/2006/relationships/notesMaster" Target="/ppt/notesMasters/notesMaster1.xml" Id="R1e641022c36f4e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cfeb02ba7d4f81" /><Relationship Type="http://schemas.openxmlformats.org/officeDocument/2006/relationships/notesMaster" Target="/ppt/notesMasters/notesMaster1.xml" Id="R38c56ff958f748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2c9e54acdf470e" /><Relationship Type="http://schemas.openxmlformats.org/officeDocument/2006/relationships/notesMaster" Target="/ppt/notesMasters/notesMaster1.xml" Id="R71d1b89360c64e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24bc57ac284cf8" /><Relationship Type="http://schemas.openxmlformats.org/officeDocument/2006/relationships/notesMaster" Target="/ppt/notesMasters/notesMaster1.xml" Id="Rff4dc1b43578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f89f44185431a" /><Relationship Type="http://schemas.openxmlformats.org/officeDocument/2006/relationships/notesMaster" Target="/ppt/notesMasters/notesMaster1.xml" Id="Rdeb0467d684349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ccb1445c904f3f" /><Relationship Type="http://schemas.openxmlformats.org/officeDocument/2006/relationships/notesMaster" Target="/ppt/notesMasters/notesMaster1.xml" Id="R922141b368c84a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762151fee44ff1" /><Relationship Type="http://schemas.openxmlformats.org/officeDocument/2006/relationships/notesMaster" Target="/ppt/notesMasters/notesMaster1.xml" Id="Rd623b11bb95a4c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c492d9883648e9" /><Relationship Type="http://schemas.openxmlformats.org/officeDocument/2006/relationships/notesMaster" Target="/ppt/notesMasters/notesMaster1.xml" Id="Rfca07426f2be45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02fcc35f65488a" /><Relationship Type="http://schemas.openxmlformats.org/officeDocument/2006/relationships/notesMaster" Target="/ppt/notesMasters/notesMaster1.xml" Id="Ra4d5f3f1b5564c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a18e163a9847f6" /><Relationship Type="http://schemas.openxmlformats.org/officeDocument/2006/relationships/notesMaster" Target="/ppt/notesMasters/notesMaster1.xml" Id="R68b920f63ecb41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b22797cb014534" /><Relationship Type="http://schemas.openxmlformats.org/officeDocument/2006/relationships/notesMaster" Target="/ppt/notesMasters/notesMaster1.xml" Id="Red1efd6865ed43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c13e43eab345cf" /><Relationship Type="http://schemas.openxmlformats.org/officeDocument/2006/relationships/notesMaster" Target="/ppt/notesMasters/notesMaster1.xml" Id="Rcdd871da323644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0f9d319d8d40ec" /><Relationship Type="http://schemas.openxmlformats.org/officeDocument/2006/relationships/notesMaster" Target="/ppt/notesMasters/notesMaster1.xml" Id="Rfd6207dcc03149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f73df2d422496a" /><Relationship Type="http://schemas.openxmlformats.org/officeDocument/2006/relationships/notesMaster" Target="/ppt/notesMasters/notesMaster1.xml" Id="Rf1708f93c4c540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98a1415734f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6f88a7e354db3" /><Relationship Type="http://schemas.openxmlformats.org/officeDocument/2006/relationships/slideLayout" Target="/ppt/slideLayouts/slideLayout1.xml" Id="R5f2d2067ed2741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d2067ed2741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7e135dc324522" /><Relationship Type="http://schemas.openxmlformats.org/officeDocument/2006/relationships/notesSlide" Target="/ppt/notesSlides/notesSlide1.xml" Id="R4d691a0b7fda4f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f90aa5e274524" /><Relationship Type="http://schemas.openxmlformats.org/officeDocument/2006/relationships/notesSlide" Target="/ppt/notesSlides/notesSlide2.xml" Id="R405d6da7a2a543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f23035e704988" /><Relationship Type="http://schemas.openxmlformats.org/officeDocument/2006/relationships/notesSlide" Target="/ppt/notesSlides/notesSlide3.xml" Id="R89856a02603044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84fb4b5574f8b" /><Relationship Type="http://schemas.openxmlformats.org/officeDocument/2006/relationships/notesSlide" Target="/ppt/notesSlides/notesSlide4.xml" Id="R3f2cea10bfa14f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03197ab18491e" /><Relationship Type="http://schemas.openxmlformats.org/officeDocument/2006/relationships/notesSlide" Target="/ppt/notesSlides/notesSlide5.xml" Id="Rcc9d2ac1cd3142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2223450334077" /><Relationship Type="http://schemas.openxmlformats.org/officeDocument/2006/relationships/image" Target="/ppt/media/image.png" Id="R17380f36b61a4ff7" /><Relationship Type="http://schemas.openxmlformats.org/officeDocument/2006/relationships/image" Target="/ppt/media/image2.png" Id="Rceee991d4dc9469b" /><Relationship Type="http://schemas.openxmlformats.org/officeDocument/2006/relationships/notesSlide" Target="/ppt/notesSlides/notesSlide6.xml" Id="Rf3a2cad78c95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ced0329b74495" /><Relationship Type="http://schemas.openxmlformats.org/officeDocument/2006/relationships/image" Target="/ppt/media/image3.png" Id="R7393ebf1b01049f2" /><Relationship Type="http://schemas.openxmlformats.org/officeDocument/2006/relationships/notesSlide" Target="/ppt/notesSlides/notesSlide7.xml" Id="Rbb66503673134f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fb3b452694b99" /><Relationship Type="http://schemas.openxmlformats.org/officeDocument/2006/relationships/image" Target="/ppt/media/image4.png" Id="Rb556134804f64b5c" /><Relationship Type="http://schemas.openxmlformats.org/officeDocument/2006/relationships/notesSlide" Target="/ppt/notesSlides/notesSlide8.xml" Id="R16ea86d0049c43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ffd02ddd84d3b" /><Relationship Type="http://schemas.openxmlformats.org/officeDocument/2006/relationships/image" Target="/ppt/media/image5.png" Id="R35cc7004c84b49cf" /><Relationship Type="http://schemas.openxmlformats.org/officeDocument/2006/relationships/image" Target="/ppt/media/image6.png" Id="R845b38705d3a4022" /><Relationship Type="http://schemas.openxmlformats.org/officeDocument/2006/relationships/notesSlide" Target="/ppt/notesSlides/notesSlide9.xml" Id="R11135d3f012747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4f578aba94a09" /><Relationship Type="http://schemas.openxmlformats.org/officeDocument/2006/relationships/image" Target="/ppt/media/image7.png" Id="R0d8df967755244e7" /><Relationship Type="http://schemas.openxmlformats.org/officeDocument/2006/relationships/notesSlide" Target="/ppt/notesSlides/notesSlide10.xml" Id="R1e48182b5d9a41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392f46e234c88" /><Relationship Type="http://schemas.openxmlformats.org/officeDocument/2006/relationships/image" Target="/ppt/media/image8.png" Id="Rf535de7e092f4ef0" /><Relationship Type="http://schemas.openxmlformats.org/officeDocument/2006/relationships/image" Target="/ppt/media/image9.png" Id="Rc28664b8c040453e" /><Relationship Type="http://schemas.openxmlformats.org/officeDocument/2006/relationships/notesSlide" Target="/ppt/notesSlides/notesSlide11.xml" Id="R52d851a1f6fd45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2d2a27143480a" /><Relationship Type="http://schemas.openxmlformats.org/officeDocument/2006/relationships/notesSlide" Target="/ppt/notesSlides/notesSlide12.xml" Id="R366f946751994e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aa50756784fba" /><Relationship Type="http://schemas.openxmlformats.org/officeDocument/2006/relationships/notesSlide" Target="/ppt/notesSlides/notesSlide13.xml" Id="R868ba51ba32e41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25ede5f6f479c" /><Relationship Type="http://schemas.openxmlformats.org/officeDocument/2006/relationships/notesSlide" Target="/ppt/notesSlides/notesSlide14.xml" Id="Rde21c6041ed642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925BD5-F475-4197-A27D-2CD44EC2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COVID-19 Vaccine Efficacy 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333AF-CB51-4660-945D-9E2408FC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622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11111"/>
                </a:solidFill>
                <a:latin typeface="Aptos"/>
                <a:ea typeface="Aptos"/>
                <a:cs typeface="Aptos"/>
              </a:rPr>
              <a:t>Exploratory Data Analysis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F5105-174F-482C-A547-D5475C0A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11111"/>
                </a:solidFill>
                <a:latin typeface="Aptos"/>
                <a:ea typeface="Aptos"/>
                <a:cs typeface="Aptos"/>
              </a:rPr>
              <a:t>Name: Praya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74936-1375-4F2F-AEF4-DCF71C8C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86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11111"/>
                </a:solidFill>
                <a:latin typeface="Aptos"/>
                <a:ea typeface="Aptos"/>
                <a:cs typeface="Aptos"/>
              </a:rPr>
              <a:t>Institute Name: GNCIPIL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4C52E-BF89-4D02-A6B9-4F4DC96E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1012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4B5563"/>
                </a:solidFill>
                <a:latin typeface="Aptos"/>
                <a:ea typeface="Aptos"/>
                <a:cs typeface="Aptos"/>
              </a:rPr>
              <a:t>Week 2: Data Visualization &amp; Preprocessing</a:t>
            </a:r>
          </a:p>
        </p:txBody>
      </p:sp>
    </p:spTree>
    <p:extLst>
      <p:ext uri="{BB962C8B-B14F-4D97-AF65-F5344CB8AC3E}">
        <p14:creationId xmlns:p14="http://schemas.microsoft.com/office/powerpoint/2010/main" val="792514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56C34-C30E-4431-865E-29C32619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Project Objective And Theory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31F16-47AA-4BD6-90EE-7561FAB5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11111"/>
                </a:solidFill>
                <a:latin typeface="Aptos"/>
                <a:ea typeface="Aptos"/>
                <a:cs typeface="Aptos"/>
              </a:rPr>
              <a:t>- Objective: analyze COVID-19 vaccination coverage trends</a:t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11111"/>
                </a:solidFill>
                <a:latin typeface="Aptos"/>
                <a:ea typeface="Aptos"/>
                <a:cs typeface="Aptos"/>
              </a:rPr>
              <a:t>- Compare India, United States, Brazil, and Japan</a:t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11111"/>
                </a:solidFill>
                <a:latin typeface="Aptos"/>
                <a:ea typeface="Aptos"/>
                <a:cs typeface="Aptos"/>
              </a:rPr>
              <a:t>- Study how fully vaccinated percentage changes over time</a:t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11111"/>
                </a:solidFill>
                <a:latin typeface="Aptos"/>
                <a:ea typeface="Aptos"/>
                <a:cs typeface="Aptos"/>
              </a:rPr>
              <a:t>- Use EDA to understand patterns before advanced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A3E8A-CB9F-4F09-AB8E-0428E0FB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000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5742E-BEE2-4896-A5F3-BF7F19EF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0497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Project theory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9E9A3-82D3-48D0-B7D0-E4A2802E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66925"/>
            <a:ext cx="3657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EDA means Exploratory Data Analysis. In this project we load public data, clean it, transform useful columns, and use graphs to understand vaccination patterns clearly.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4B994-96E1-4191-B0B4-E78DDF43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000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16DDD-159A-4D89-B7EE-E200E7AB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0047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Important note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D826E-6841-4D27-BC99-173408EB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3657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dataset shows vaccination coverage percentage. So the analysis explains coverage trends and comparisons, not a medical trial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D5850-B796-40EC-B1D4-73E3B668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1851279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F8596-D1BF-4E5A-B739-8CF58AED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Dataset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45DA8-1B5F-42EA-B971-E417B3FA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5334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11111"/>
                </a:solidFill>
                <a:latin typeface="Aptos"/>
                <a:ea typeface="Aptos"/>
                <a:cs typeface="Aptos"/>
              </a:rPr>
              <a:t>- Dataset: Our World in Data COVID-19 vaccination CSV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11111"/>
                </a:solidFill>
                <a:latin typeface="Aptos"/>
                <a:ea typeface="Aptos"/>
                <a:cs typeface="Aptos"/>
              </a:rPr>
              <a:t>- Raw dataset shape: 77011 rows and 4 columns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11111"/>
                </a:solidFill>
                <a:latin typeface="Aptos"/>
                <a:ea typeface="Aptos"/>
                <a:cs typeface="Aptos"/>
              </a:rPr>
              <a:t>- Selected dataset shape: 3604 rows and 4 columns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11111"/>
                </a:solidFill>
                <a:latin typeface="Aptos"/>
                <a:ea typeface="Aptos"/>
                <a:cs typeface="Aptos"/>
              </a:rPr>
              <a:t>- Date range used: 2020-12-13 to 2024-08-12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11111"/>
                </a:solidFill>
                <a:latin typeface="Aptos"/>
                <a:ea typeface="Aptos"/>
                <a:cs typeface="Aptos"/>
              </a:rPr>
              <a:t>- Main value: fully vaccinated percentage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715125" y="1666875"/>
          <a:ext xmlns:a="http://schemas.openxmlformats.org/drawingml/2006/main" cx="409575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47875"/>
                <a:gridCol w="2047875"/>
              </a:tblGrid>
              <a:tr h="460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country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Country name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Country code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Record date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vaccinated_pct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Fully vaccinated percentage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year/month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Transformed date columns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CEAA6-54CA-4CBA-87A9-BFEC5580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688804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6BD9D-2C61-48C8-99D1-BB9298F3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Tools &amp; Technologies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1EF6B-9C31-44CB-A256-9BC28817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000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Python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Jupyter Notebook / VS Code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Pandas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NumPy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Matplotlib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Seaborn</a:t>
            </a:r>
          </a:p>
        </p:txBody>
      </p:sp>
    </p:spTree>
    <p:extLst>
      <p:ext uri="{BB962C8B-B14F-4D97-AF65-F5344CB8AC3E}">
        <p14:creationId xmlns:p14="http://schemas.microsoft.com/office/powerpoint/2010/main" val="2062915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88932-865E-4B3C-8C71-B70DD523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Data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34945-0398-41CB-B527-01B94C25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Loaded public CSV using Pandas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Checked shape, data types, and summary statistics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Checked missing values and duplicate rows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Dropped duplicates and filled values country-wise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11111"/>
                </a:solidFill>
                <a:latin typeface="Aptos"/>
                <a:ea typeface="Aptos"/>
                <a:cs typeface="Aptos"/>
              </a:rPr>
              <a:t>- Converted date into year, month, and days since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4E57A-9D61-4D29-BBA1-809713E8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27FB1-E5AD-4459-9C77-116AD988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4419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9FAFB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df_clean = df.drop_duplicates().copy()</a:t>
            </a:r>
          </a:p>
          <a:p xmlns:a="http://schemas.openxmlformats.org/drawingml/2006/main">
            <a:pPr>
              <a:defRPr sz="1125">
                <a:solidFill>
                  <a:srgbClr val="F9FAFB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df_clean['vaccinated_pct'] = df_clean.groupby('country')['vaccinated_pct'].ffill()</a:t>
            </a:r>
          </a:p>
          <a:p xmlns:a="http://schemas.openxmlformats.org/drawingml/2006/main">
            <a:pPr>
              <a:defRPr sz="1125">
                <a:solidFill>
                  <a:srgbClr val="F9FAFB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df_clean['vaccinated_pct'] = df_clean.groupby('country')['vaccinated_pct'].bfill()</a:t>
            </a:r>
          </a:p>
          <a:p xmlns:a="http://schemas.openxmlformats.org/drawingml/2006/main">
            <a:pPr>
              <a:defRPr sz="1125">
                <a:solidFill>
                  <a:srgbClr val="F9FAFB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df_clean['vaccinated_pct'] = df_clean['vaccinated_pct'].clip(0, 100)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762750" y="3762375"/>
          <a:ext xmlns:a="http://schemas.openxmlformats.org/drawingml/2006/main" cx="3762375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81188"/>
                <a:gridCol w="1881188"/>
              </a:tblGrid>
              <a:tr h="3619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Rows before cleaning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3604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Duplicate rows before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Rows after cleaning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3604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Missing after cleaning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18F4D-D9C0-4B51-A440-A66A8333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1908369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B20EE7-CAEF-4938-9BA8-081B448E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Univariate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2F97A-C74E-406B-8B91-B1B011FC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85762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01A27-BEB2-44CE-B0BA-8B78460B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04975"/>
            <a:ext cx="3514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these graphs explain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A759D-1733-4EDC-AE63-0F22A9E9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35147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histogram shows how vaccination percentage values are distributed across all selected records. The count graph confirms how many records are available for each selected country.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F9568-AD0E-48C6-8DB0-1C6F0B4E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Distribution helps us understand spread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Record count checks data balance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Both are basic first steps in EDA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80f36b61a4ff7"/>
          <a:stretch xmlns:a="http://schemas.openxmlformats.org/drawingml/2006/main"/>
        </p:blipFill>
        <p:spPr>
          <a:xfrm xmlns:a="http://schemas.openxmlformats.org/drawingml/2006/main">
            <a:off x="6066952" y="1190625"/>
            <a:ext cx="3772846" cy="25241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e991d4dc9469b"/>
          <a:stretch xmlns:a="http://schemas.openxmlformats.org/drawingml/2006/main"/>
        </p:blipFill>
        <p:spPr>
          <a:xfrm xmlns:a="http://schemas.openxmlformats.org/drawingml/2006/main">
            <a:off x="6179462" y="3762375"/>
            <a:ext cx="3547826" cy="2524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F7B0A-6068-40D4-9E97-9A04368D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1613348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B530E4-06BA-4EDC-8520-13E3E782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Latest Vaccination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CDAD8-1385-4492-89CA-0534856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71253-D6C8-4597-B6D3-D1795F25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383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83.8%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14B3A-5E1E-46D2-92A2-FAEF4FF7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955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Highest: Brazil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71F7C-D9F7-4D36-B66C-2F00A71A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66875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E64CB-C23E-476D-82E1-176FCDF0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383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66.8%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6D24B-3FDB-4BCF-9404-EE5E9EE7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955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11111"/>
                </a:solidFill>
                <a:latin typeface="Aptos"/>
                <a:ea typeface="Aptos"/>
                <a:cs typeface="Aptos"/>
              </a:rPr>
              <a:t>Lowest: India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645CC-398A-4D05-9B97-FF0B9F6D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095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0A287-81F3-4B32-93B2-F6B641E0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813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this graph explains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D8553-FACD-44F7-BE72-3A93F131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4330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bar chart compares the latest available fully vaccinated percentage for each country. Taller bars mean a higher latest vaccination coverage value.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3ebf1b01049f2"/>
          <a:stretch xmlns:a="http://schemas.openxmlformats.org/drawingml/2006/main"/>
        </p:blipFill>
        <p:spPr>
          <a:xfrm xmlns:a="http://schemas.openxmlformats.org/drawingml/2006/main">
            <a:off x="5957054" y="1285875"/>
            <a:ext cx="4897516" cy="3524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5" name=""/>
          <p:cNvGraphicFramePr/>
          <p:nvPr/>
        </p:nvGraphicFramePr>
        <p:xfrm>
          <a:off xmlns:a="http://schemas.openxmlformats.org/drawingml/2006/main" x="1095375" y="4524375"/>
          <a:ext xmlns:a="http://schemas.openxmlformats.org/drawingml/2006/main" cx="4000500" cy="1619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</a:tblGrid>
              <a:tr h="3238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Country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Latest %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Brazil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2023-03-22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83.8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Japan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2023-12-31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82.8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United States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2023-05-09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67.5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India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2024-08-12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</a:rPr>
                        <a:t>66.8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4273E-F587-4AA6-A7CA-BD66A0A6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1997764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9D5D96-4E47-44F3-9CBE-27A7B1CF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Vaccination Trend Over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47434-7545-4EA3-AC00-C191F5B3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619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B9C74-B77C-42CD-A3D1-E74DFD06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this graph explains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7790D-BAE6-4919-9D77-B7F1271E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3276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line graph shows how vaccination coverage increased over time. Each line is one country. A steeper line means vaccination coverage increased faster during that period.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1DF31-6C9C-4C14-B2B1-EC1B6FB8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X-axis: date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Y-axis: fully vaccinated percentage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Lines show country-wise trend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6134804f64b5c"/>
          <a:stretch xmlns:a="http://schemas.openxmlformats.org/drawingml/2006/main"/>
        </p:blipFill>
        <p:spPr>
          <a:xfrm xmlns:a="http://schemas.openxmlformats.org/drawingml/2006/main">
            <a:off x="4619625" y="1337314"/>
            <a:ext cx="6715125" cy="41357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8347F-0B10-42A9-9C14-0A0F4C91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1436198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263A2-DC00-4C92-9480-25914DBB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Yearly And Average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6C18-1A9E-4D8C-BDBC-5779B7F6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3571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D47ED-594C-409D-9A9B-67CBB77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57350"/>
            <a:ext cx="3228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these graphs explain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284E7-4697-4904-B0FE-60E796F3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19300"/>
            <a:ext cx="32289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yearly graph shows average vaccination coverage by year. The average bar chart summarizes the overall mean vaccination percentage for each country across the full dataset.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27835-2757-42DA-B373-E7D07222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Year comes from date transformation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Yearly values simplify long timelines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Average values give one overall summary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c7004c84b49cf"/>
          <a:stretch xmlns:a="http://schemas.openxmlformats.org/drawingml/2006/main"/>
        </p:blipFill>
        <p:spPr>
          <a:xfrm xmlns:a="http://schemas.openxmlformats.org/drawingml/2006/main">
            <a:off x="5982324" y="1190625"/>
            <a:ext cx="3751601" cy="25717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b38705d3a4022"/>
          <a:stretch xmlns:a="http://schemas.openxmlformats.org/drawingml/2006/main"/>
        </p:blipFill>
        <p:spPr>
          <a:xfrm xmlns:a="http://schemas.openxmlformats.org/drawingml/2006/main">
            <a:off x="6370483" y="3905250"/>
            <a:ext cx="3070534" cy="2238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D0933-D892-4D14-A026-89C020FF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373822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7EC95D-C28B-4CF6-AABE-74DE7705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Outlier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D0297-6DF0-493F-BF38-6AD5EC0F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619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1D96C-152D-4852-8D03-65C7F317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04975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this graph explains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58131-6F94-498A-B824-AF796E24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327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boxplot helps check the spread of vaccinated percentage values for each country. Points far away from the box can indicate unusual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10996-D1BE-40C0-BC54-B31F9EB5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286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Values are clipped between 0 and 100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This avoids impossible percentage values</a:t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Boxplots are useful for outlier checking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df967755244e7"/>
          <a:stretch xmlns:a="http://schemas.openxmlformats.org/drawingml/2006/main"/>
        </p:blipFill>
        <p:spPr>
          <a:xfrm xmlns:a="http://schemas.openxmlformats.org/drawingml/2006/main">
            <a:off x="4957024" y="1238250"/>
            <a:ext cx="5945077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C51A2-1C8F-4FDE-BA56-D2485881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1361658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BA142-AF16-40E7-B004-3DDADF6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Encoding, Scaling And Correlation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4E01C-BBCD-41E6-8C11-D0454A80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762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159C3-A39E-4DE0-85D1-0A29EF1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3419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these graphs explain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C5BB5-E835-4771-8666-570ECA3C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34194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scaled bar chart shows the latest values after converting 0-100 into 0-1. The heatmap shows relationships between numeric columns. Darker red means stronger positive relation, while blue means negative relation.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637B8-F05A-48D2-888C-62240576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11111"/>
                </a:solidFill>
                <a:latin typeface="Aptos"/>
                <a:ea typeface="Aptos"/>
                <a:cs typeface="Aptos"/>
              </a:rPr>
              <a:t>- Encoding changes country text to numbers</a:t>
            </a:r>
          </a:p>
          <a:p xmlns:a="http://schemas.openxmlformats.org/drawingml/2006/main">
            <a:pPr>
              <a:defRPr sz="12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11111"/>
                </a:solidFill>
                <a:latin typeface="Aptos"/>
                <a:ea typeface="Aptos"/>
                <a:cs typeface="Aptos"/>
              </a:rPr>
              <a:t>- Scaling converts 0-100 into 0-1</a:t>
            </a:r>
          </a:p>
          <a:p xmlns:a="http://schemas.openxmlformats.org/drawingml/2006/main">
            <a:pPr>
              <a:defRPr sz="12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11111"/>
                </a:solidFill>
                <a:latin typeface="Aptos"/>
                <a:ea typeface="Aptos"/>
                <a:cs typeface="Aptos"/>
              </a:rPr>
              <a:t>- Scaled output is easier to read in ML steps</a:t>
            </a:r>
          </a:p>
          <a:p xmlns:a="http://schemas.openxmlformats.org/drawingml/2006/main">
            <a:pPr>
              <a:defRPr sz="12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11111"/>
                </a:solidFill>
                <a:latin typeface="Aptos"/>
                <a:ea typeface="Aptos"/>
                <a:cs typeface="Aptos"/>
              </a:rPr>
              <a:t>- Heatmap summarizes numeric relationships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8DBB6-3B57-4228-9C50-9EE976A9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667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24659-407E-437B-97DC-F3C492F7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33242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9FAFB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vaccinated_scaled = vaccinated_pct / 100</a:t>
            </a:r>
          </a:p>
          <a:p xmlns:a="http://schemas.openxmlformats.org/drawingml/2006/main">
            <a:pPr>
              <a:defRPr sz="1125">
                <a:solidFill>
                  <a:srgbClr val="F9FAFB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country_encoded = factorize(country)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5de7e092f4ef0"/>
          <a:stretch xmlns:a="http://schemas.openxmlformats.org/drawingml/2006/main"/>
        </p:blipFill>
        <p:spPr>
          <a:xfrm xmlns:a="http://schemas.openxmlformats.org/drawingml/2006/main">
            <a:off x="6577126" y="1143000"/>
            <a:ext cx="2895373" cy="2095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664b8c040453e"/>
          <a:stretch xmlns:a="http://schemas.openxmlformats.org/drawingml/2006/main"/>
        </p:blipFill>
        <p:spPr>
          <a:xfrm xmlns:a="http://schemas.openxmlformats.org/drawingml/2006/main">
            <a:off x="6122264" y="3333750"/>
            <a:ext cx="3805096" cy="2762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9A4CC-5E6E-4CA9-99B0-BFCCF7AD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4598936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CE1D9D-F926-44BC-AAD1-136F188E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Key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D8495-8062-4731-9B83-E4143A4C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14500"/>
            <a:ext cx="819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Brazil has the highest latest value: 83.8%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India has the lowest latest value: 66.8%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Japan has the highest average vaccination percentage in selected records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Missing values and duplicates were handled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11111"/>
                </a:solidFill>
                <a:latin typeface="Aptos"/>
                <a:ea typeface="Aptos"/>
                <a:cs typeface="Aptos"/>
              </a:rPr>
              <a:t>- EDA gives clear country-wise and time-wise vaccination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26BC8-2A7C-4F30-8F6E-4553059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1906442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855FF-BD4A-4E22-B4D6-81FBE34A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F9A83-34E1-4545-AEC3-F4C659F5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0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11111"/>
                </a:solidFill>
                <a:latin typeface="Aptos"/>
                <a:ea typeface="Aptos"/>
                <a:cs typeface="Aptos"/>
              </a:rPr>
              <a:t>Exploratory Data Analysis helped us understand COVID-19 vaccination coverage trends for selected countries. The project completed dataset loading, preprocessing, transformation, encoding, scaling, visual analysis, and final insight generation.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E2C39-6EAA-4D18-AED5-50D6024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4B5563"/>
                </a:solidFill>
                <a:latin typeface="Aptos"/>
                <a:ea typeface="Aptos"/>
                <a:cs typeface="Aptos"/>
              </a:rPr>
              <a:t>Source: Our World in Data public COVID-19 vaccination CSV</a:t>
            </a:r>
          </a:p>
        </p:txBody>
      </p:sp>
    </p:spTree>
    <p:extLst>
      <p:ext uri="{BB962C8B-B14F-4D97-AF65-F5344CB8AC3E}">
        <p14:creationId xmlns:p14="http://schemas.microsoft.com/office/powerpoint/2010/main" val="719628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B0E76B-91F6-420A-91A6-F433415A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01EC7-975F-45D7-8E38-48A08AC0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111"/>
                </a:solidFill>
                <a:latin typeface="Aptos"/>
                <a:ea typeface="Aptos"/>
                <a:cs typeface="Aptos"/>
              </a:rPr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036320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2026-06-16T11:40:35.7220000Z</dcterms:created>
  <dcterms:modified xsi:type="dcterms:W3CDTF">2026-06-16T11:40:35.7220000Z</dcterms:modified>
</coreProperties>
</file>